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80" r:id="rId2"/>
    <p:sldId id="287" r:id="rId3"/>
    <p:sldId id="288" r:id="rId4"/>
    <p:sldId id="289" r:id="rId5"/>
    <p:sldId id="276" r:id="rId6"/>
    <p:sldId id="279" r:id="rId7"/>
    <p:sldId id="281" r:id="rId8"/>
    <p:sldId id="286" r:id="rId9"/>
    <p:sldId id="278" r:id="rId10"/>
    <p:sldId id="285" r:id="rId11"/>
    <p:sldId id="282" r:id="rId12"/>
    <p:sldId id="283" r:id="rId13"/>
    <p:sldId id="284" r:id="rId14"/>
    <p:sldId id="293" r:id="rId15"/>
    <p:sldId id="277" r:id="rId16"/>
    <p:sldId id="259" r:id="rId17"/>
    <p:sldId id="261" r:id="rId18"/>
    <p:sldId id="271" r:id="rId19"/>
    <p:sldId id="257" r:id="rId20"/>
    <p:sldId id="256" r:id="rId21"/>
    <p:sldId id="258" r:id="rId22"/>
    <p:sldId id="260" r:id="rId23"/>
    <p:sldId id="263" r:id="rId24"/>
    <p:sldId id="264" r:id="rId25"/>
    <p:sldId id="290" r:id="rId26"/>
    <p:sldId id="262" r:id="rId27"/>
    <p:sldId id="275" r:id="rId28"/>
    <p:sldId id="272" r:id="rId29"/>
    <p:sldId id="273" r:id="rId30"/>
    <p:sldId id="274" r:id="rId31"/>
    <p:sldId id="265" r:id="rId32"/>
    <p:sldId id="266" r:id="rId33"/>
    <p:sldId id="270" r:id="rId34"/>
    <p:sldId id="294" r:id="rId35"/>
    <p:sldId id="291" r:id="rId36"/>
    <p:sldId id="269" r:id="rId37"/>
    <p:sldId id="267" r:id="rId38"/>
    <p:sldId id="268" r:id="rId39"/>
    <p:sldId id="292" r:id="rId40"/>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1"/>
    <p:restoredTop sz="77019"/>
  </p:normalViewPr>
  <p:slideViewPr>
    <p:cSldViewPr snapToGrid="0">
      <p:cViewPr varScale="1">
        <p:scale>
          <a:sx n="113" d="100"/>
          <a:sy n="113" d="100"/>
        </p:scale>
        <p:origin x="112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D1B00A-F24B-6F41-8769-4A4D20B2B927}" type="datetimeFigureOut">
              <a:rPr lang="en-NL" smtClean="0"/>
              <a:t>05/03/2024</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BBAB9-21D1-D64C-B7EF-500754663A07}" type="slidenum">
              <a:rPr lang="en-NL" smtClean="0"/>
              <a:t>‹#›</a:t>
            </a:fld>
            <a:endParaRPr lang="en-NL"/>
          </a:p>
        </p:txBody>
      </p:sp>
    </p:spTree>
    <p:extLst>
      <p:ext uri="{BB962C8B-B14F-4D97-AF65-F5344CB8AC3E}">
        <p14:creationId xmlns:p14="http://schemas.microsoft.com/office/powerpoint/2010/main" val="3715383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B4BBAB9-21D1-D64C-B7EF-500754663A07}" type="slidenum">
              <a:rPr lang="en-NL" smtClean="0"/>
              <a:t>3</a:t>
            </a:fld>
            <a:endParaRPr lang="en-NL"/>
          </a:p>
        </p:txBody>
      </p:sp>
    </p:spTree>
    <p:extLst>
      <p:ext uri="{BB962C8B-B14F-4D97-AF65-F5344CB8AC3E}">
        <p14:creationId xmlns:p14="http://schemas.microsoft.com/office/powerpoint/2010/main" val="148841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D0D0D"/>
                </a:solidFill>
                <a:effectLst/>
                <a:latin typeface="Söhne"/>
              </a:rPr>
              <a:t>The factorial complexity (</a:t>
            </a:r>
            <a:r>
              <a:rPr lang="en-GB" b="0" i="0" dirty="0">
                <a:solidFill>
                  <a:srgbClr val="0D0D0D"/>
                </a:solidFill>
                <a:effectLst/>
                <a:latin typeface="KaTeX_Main"/>
              </a:rPr>
              <a:t>�!</a:t>
            </a:r>
            <a:r>
              <a:rPr lang="en-GB" b="0" i="1" dirty="0">
                <a:solidFill>
                  <a:srgbClr val="0D0D0D"/>
                </a:solidFill>
                <a:effectLst/>
                <a:latin typeface="KaTeX_Math"/>
              </a:rPr>
              <a:t>n</a:t>
            </a:r>
            <a:r>
              <a:rPr lang="en-GB" b="0" i="0" dirty="0">
                <a:solidFill>
                  <a:srgbClr val="0D0D0D"/>
                </a:solidFill>
                <a:effectLst/>
                <a:latin typeface="KaTeX_Main"/>
              </a:rPr>
              <a:t>!</a:t>
            </a:r>
            <a:r>
              <a:rPr lang="en-GB" b="0" i="0" dirty="0">
                <a:solidFill>
                  <a:srgbClr val="0D0D0D"/>
                </a:solidFill>
                <a:effectLst/>
                <a:latin typeface="Söhne"/>
              </a:rPr>
              <a:t>) arises from considering every possible permutation of </a:t>
            </a:r>
            <a:r>
              <a:rPr lang="en-GB" b="0" i="0" dirty="0">
                <a:solidFill>
                  <a:srgbClr val="0D0D0D"/>
                </a:solidFill>
                <a:effectLst/>
                <a:latin typeface="KaTeX_Main"/>
              </a:rPr>
              <a:t>�</a:t>
            </a:r>
            <a:r>
              <a:rPr lang="en-GB" b="0" i="1" dirty="0">
                <a:solidFill>
                  <a:srgbClr val="0D0D0D"/>
                </a:solidFill>
                <a:effectLst/>
                <a:latin typeface="KaTeX_Math"/>
              </a:rPr>
              <a:t>n</a:t>
            </a:r>
            <a:r>
              <a:rPr lang="en-GB" b="0" i="0" dirty="0">
                <a:solidFill>
                  <a:srgbClr val="0D0D0D"/>
                </a:solidFill>
                <a:effectLst/>
                <a:latin typeface="Söhne"/>
              </a:rPr>
              <a:t> items to find the one that is correctly sorted. For even modest values of </a:t>
            </a:r>
            <a:r>
              <a:rPr lang="en-GB" b="0" i="0" dirty="0">
                <a:solidFill>
                  <a:srgbClr val="0D0D0D"/>
                </a:solidFill>
                <a:effectLst/>
                <a:latin typeface="KaTeX_Main"/>
              </a:rPr>
              <a:t>�</a:t>
            </a:r>
            <a:r>
              <a:rPr lang="en-GB" b="0" i="1" dirty="0">
                <a:solidFill>
                  <a:srgbClr val="0D0D0D"/>
                </a:solidFill>
                <a:effectLst/>
                <a:latin typeface="KaTeX_Math"/>
              </a:rPr>
              <a:t>n</a:t>
            </a:r>
            <a:r>
              <a:rPr lang="en-GB" b="0" i="0" dirty="0">
                <a:solidFill>
                  <a:srgbClr val="0D0D0D"/>
                </a:solidFill>
                <a:effectLst/>
                <a:latin typeface="Söhne"/>
              </a:rPr>
              <a:t>, </a:t>
            </a:r>
            <a:r>
              <a:rPr lang="en-GB" b="0" i="0" dirty="0">
                <a:solidFill>
                  <a:srgbClr val="0D0D0D"/>
                </a:solidFill>
                <a:effectLst/>
                <a:latin typeface="KaTeX_Main"/>
              </a:rPr>
              <a:t>�!</a:t>
            </a:r>
            <a:r>
              <a:rPr lang="en-GB" b="0" i="1" dirty="0">
                <a:solidFill>
                  <a:srgbClr val="0D0D0D"/>
                </a:solidFill>
                <a:effectLst/>
                <a:latin typeface="KaTeX_Math"/>
              </a:rPr>
              <a:t>n</a:t>
            </a:r>
            <a:r>
              <a:rPr lang="en-GB" b="0" i="0" dirty="0">
                <a:solidFill>
                  <a:srgbClr val="0D0D0D"/>
                </a:solidFill>
                <a:effectLst/>
                <a:latin typeface="KaTeX_Main"/>
              </a:rPr>
              <a:t>!</a:t>
            </a:r>
            <a:r>
              <a:rPr lang="en-GB" b="0" i="0" dirty="0">
                <a:solidFill>
                  <a:srgbClr val="0D0D0D"/>
                </a:solidFill>
                <a:effectLst/>
                <a:latin typeface="Söhne"/>
              </a:rPr>
              <a:t> becomes impractically large. For instance, sorting just 10 items would require considering 3,628,800 permutations, a number that grows exponentially with each additional item.</a:t>
            </a:r>
            <a:endParaRPr lang="en-NL" dirty="0"/>
          </a:p>
        </p:txBody>
      </p:sp>
      <p:sp>
        <p:nvSpPr>
          <p:cNvPr id="4" name="Slide Number Placeholder 3"/>
          <p:cNvSpPr>
            <a:spLocks noGrp="1"/>
          </p:cNvSpPr>
          <p:nvPr>
            <p:ph type="sldNum" sz="quarter" idx="5"/>
          </p:nvPr>
        </p:nvSpPr>
        <p:spPr/>
        <p:txBody>
          <a:bodyPr/>
          <a:lstStyle/>
          <a:p>
            <a:fld id="{AB4BBAB9-21D1-D64C-B7EF-500754663A07}" type="slidenum">
              <a:rPr lang="en-NL" smtClean="0"/>
              <a:t>5</a:t>
            </a:fld>
            <a:endParaRPr lang="en-NL"/>
          </a:p>
        </p:txBody>
      </p:sp>
    </p:spTree>
    <p:extLst>
      <p:ext uri="{BB962C8B-B14F-4D97-AF65-F5344CB8AC3E}">
        <p14:creationId xmlns:p14="http://schemas.microsoft.com/office/powerpoint/2010/main" val="1921523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B4BBAB9-21D1-D64C-B7EF-500754663A07}" type="slidenum">
              <a:rPr lang="en-NL" smtClean="0"/>
              <a:t>11</a:t>
            </a:fld>
            <a:endParaRPr lang="en-NL"/>
          </a:p>
        </p:txBody>
      </p:sp>
    </p:spTree>
    <p:extLst>
      <p:ext uri="{BB962C8B-B14F-4D97-AF65-F5344CB8AC3E}">
        <p14:creationId xmlns:p14="http://schemas.microsoft.com/office/powerpoint/2010/main" val="3925719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B4BBAB9-21D1-D64C-B7EF-500754663A07}" type="slidenum">
              <a:rPr lang="en-NL" smtClean="0"/>
              <a:t>13</a:t>
            </a:fld>
            <a:endParaRPr lang="en-NL"/>
          </a:p>
        </p:txBody>
      </p:sp>
    </p:spTree>
    <p:extLst>
      <p:ext uri="{BB962C8B-B14F-4D97-AF65-F5344CB8AC3E}">
        <p14:creationId xmlns:p14="http://schemas.microsoft.com/office/powerpoint/2010/main" val="3474666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Complexity!</a:t>
            </a:r>
          </a:p>
        </p:txBody>
      </p:sp>
      <p:sp>
        <p:nvSpPr>
          <p:cNvPr id="4" name="Slide Number Placeholder 3"/>
          <p:cNvSpPr>
            <a:spLocks noGrp="1"/>
          </p:cNvSpPr>
          <p:nvPr>
            <p:ph type="sldNum" sz="quarter" idx="5"/>
          </p:nvPr>
        </p:nvSpPr>
        <p:spPr/>
        <p:txBody>
          <a:bodyPr/>
          <a:lstStyle/>
          <a:p>
            <a:fld id="{AB4BBAB9-21D1-D64C-B7EF-500754663A07}" type="slidenum">
              <a:rPr lang="en-NL" smtClean="0"/>
              <a:t>24</a:t>
            </a:fld>
            <a:endParaRPr lang="en-NL"/>
          </a:p>
        </p:txBody>
      </p:sp>
    </p:spTree>
    <p:extLst>
      <p:ext uri="{BB962C8B-B14F-4D97-AF65-F5344CB8AC3E}">
        <p14:creationId xmlns:p14="http://schemas.microsoft.com/office/powerpoint/2010/main" val="34537685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Complexity O(n)</a:t>
            </a:r>
          </a:p>
          <a:p>
            <a:r>
              <a:rPr lang="en-NL" dirty="0"/>
              <a:t>Space O(n)</a:t>
            </a:r>
          </a:p>
        </p:txBody>
      </p:sp>
      <p:sp>
        <p:nvSpPr>
          <p:cNvPr id="4" name="Slide Number Placeholder 3"/>
          <p:cNvSpPr>
            <a:spLocks noGrp="1"/>
          </p:cNvSpPr>
          <p:nvPr>
            <p:ph type="sldNum" sz="quarter" idx="5"/>
          </p:nvPr>
        </p:nvSpPr>
        <p:spPr/>
        <p:txBody>
          <a:bodyPr/>
          <a:lstStyle/>
          <a:p>
            <a:fld id="{AB4BBAB9-21D1-D64C-B7EF-500754663A07}" type="slidenum">
              <a:rPr lang="en-NL" smtClean="0"/>
              <a:t>25</a:t>
            </a:fld>
            <a:endParaRPr lang="en-NL"/>
          </a:p>
        </p:txBody>
      </p:sp>
    </p:spTree>
    <p:extLst>
      <p:ext uri="{BB962C8B-B14F-4D97-AF65-F5344CB8AC3E}">
        <p14:creationId xmlns:p14="http://schemas.microsoft.com/office/powerpoint/2010/main" val="27383249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0D0D0D"/>
                </a:solidFill>
                <a:effectLst/>
                <a:latin typeface="Söhne"/>
              </a:rPr>
              <a:t>The number of nodes, </a:t>
            </a:r>
            <a:r>
              <a:rPr lang="en-GB" b="0" i="0" dirty="0">
                <a:solidFill>
                  <a:srgbClr val="0D0D0D"/>
                </a:solidFill>
                <a:effectLst/>
                <a:latin typeface="KaTeX_Main"/>
              </a:rPr>
              <a:t>�</a:t>
            </a:r>
            <a:r>
              <a:rPr lang="en-GB" b="0" i="1" dirty="0">
                <a:solidFill>
                  <a:srgbClr val="0D0D0D"/>
                </a:solidFill>
                <a:effectLst/>
                <a:latin typeface="KaTeX_Math"/>
              </a:rPr>
              <a:t>N</a:t>
            </a:r>
            <a:r>
              <a:rPr lang="en-GB" b="0" i="0" dirty="0">
                <a:solidFill>
                  <a:srgbClr val="0D0D0D"/>
                </a:solidFill>
                <a:effectLst/>
                <a:latin typeface="Söhne"/>
              </a:rPr>
              <a:t>, in a perfectly complete binary tree (one that is completely filled, including the last level) of height </a:t>
            </a:r>
            <a:r>
              <a:rPr lang="en-GB" b="0" i="0" dirty="0" err="1">
                <a:solidFill>
                  <a:srgbClr val="0D0D0D"/>
                </a:solidFill>
                <a:effectLst/>
                <a:latin typeface="KaTeX_Main"/>
              </a:rPr>
              <a:t>ℎ</a:t>
            </a:r>
            <a:r>
              <a:rPr lang="en-GB" b="0" i="1" dirty="0" err="1">
                <a:solidFill>
                  <a:srgbClr val="0D0D0D"/>
                </a:solidFill>
                <a:effectLst/>
                <a:latin typeface="KaTeX_Math"/>
              </a:rPr>
              <a:t>h</a:t>
            </a:r>
            <a:r>
              <a:rPr lang="en-GB" b="0" i="0" dirty="0">
                <a:solidFill>
                  <a:srgbClr val="0D0D0D"/>
                </a:solidFill>
                <a:effectLst/>
                <a:latin typeface="Söhne"/>
              </a:rPr>
              <a:t> can be calculated using the formula: </a:t>
            </a:r>
            <a:r>
              <a:rPr lang="en-GB" b="0" i="0" dirty="0">
                <a:solidFill>
                  <a:srgbClr val="0D0D0D"/>
                </a:solidFill>
                <a:effectLst/>
                <a:latin typeface="KaTeX_Main"/>
              </a:rPr>
              <a:t>�=20+21+22+...+2ℎ=2ℎ+1−1</a:t>
            </a:r>
            <a:r>
              <a:rPr lang="en-GB" b="0" i="1" dirty="0">
                <a:solidFill>
                  <a:srgbClr val="0D0D0D"/>
                </a:solidFill>
                <a:effectLst/>
                <a:latin typeface="KaTeX_Math"/>
              </a:rPr>
              <a:t>N</a:t>
            </a:r>
            <a:r>
              <a:rPr lang="en-GB" b="0" i="0" dirty="0">
                <a:solidFill>
                  <a:srgbClr val="0D0D0D"/>
                </a:solidFill>
                <a:effectLst/>
                <a:latin typeface="KaTeX_Main"/>
              </a:rPr>
              <a:t>=20+21+22+...+2</a:t>
            </a:r>
            <a:r>
              <a:rPr lang="en-GB" b="0" i="1" dirty="0">
                <a:solidFill>
                  <a:srgbClr val="0D0D0D"/>
                </a:solidFill>
                <a:effectLst/>
                <a:latin typeface="KaTeX_Math"/>
              </a:rPr>
              <a:t>h</a:t>
            </a:r>
            <a:r>
              <a:rPr lang="en-GB" b="0" i="0" dirty="0">
                <a:solidFill>
                  <a:srgbClr val="0D0D0D"/>
                </a:solidFill>
                <a:effectLst/>
                <a:latin typeface="KaTeX_Main"/>
              </a:rPr>
              <a:t>=2</a:t>
            </a:r>
            <a:r>
              <a:rPr lang="en-GB" b="0" i="1" dirty="0">
                <a:solidFill>
                  <a:srgbClr val="0D0D0D"/>
                </a:solidFill>
                <a:effectLst/>
                <a:latin typeface="KaTeX_Math"/>
              </a:rPr>
              <a:t>h</a:t>
            </a:r>
            <a:r>
              <a:rPr lang="en-GB" b="0" i="0" dirty="0">
                <a:solidFill>
                  <a:srgbClr val="0D0D0D"/>
                </a:solidFill>
                <a:effectLst/>
                <a:latin typeface="KaTeX_Main"/>
              </a:rPr>
              <a:t>+1−1</a:t>
            </a:r>
            <a:endParaRPr lang="en-GB" b="0" i="0" dirty="0">
              <a:solidFill>
                <a:srgbClr val="0D0D0D"/>
              </a:solidFill>
              <a:effectLst/>
              <a:latin typeface="Söhne"/>
            </a:endParaRPr>
          </a:p>
          <a:p>
            <a:pPr algn="l"/>
            <a:r>
              <a:rPr lang="en-GB" b="0" i="0" dirty="0">
                <a:solidFill>
                  <a:srgbClr val="0D0D0D"/>
                </a:solidFill>
                <a:effectLst/>
                <a:latin typeface="Söhne"/>
              </a:rPr>
              <a:t>This formula sums the number of nodes at each level. For a heap that is not perfectly complete (i.e., the last level is not fully filled), the minimum number of nodes it could have is </a:t>
            </a:r>
            <a:r>
              <a:rPr lang="en-GB" b="0" i="0" dirty="0">
                <a:solidFill>
                  <a:srgbClr val="0D0D0D"/>
                </a:solidFill>
                <a:effectLst/>
                <a:latin typeface="KaTeX_Main"/>
              </a:rPr>
              <a:t>2ℎ2</a:t>
            </a:r>
            <a:r>
              <a:rPr lang="en-GB" b="0" i="1" dirty="0">
                <a:solidFill>
                  <a:srgbClr val="0D0D0D"/>
                </a:solidFill>
                <a:effectLst/>
                <a:latin typeface="KaTeX_Math"/>
              </a:rPr>
              <a:t>h</a:t>
            </a:r>
            <a:r>
              <a:rPr lang="en-GB" b="0" i="0" dirty="0">
                <a:solidFill>
                  <a:srgbClr val="0D0D0D"/>
                </a:solidFill>
                <a:effectLst/>
                <a:latin typeface="Söhne"/>
              </a:rPr>
              <a:t> (since it has at least one node at the height </a:t>
            </a:r>
            <a:r>
              <a:rPr lang="en-GB" b="0" i="0" dirty="0" err="1">
                <a:solidFill>
                  <a:srgbClr val="0D0D0D"/>
                </a:solidFill>
                <a:effectLst/>
                <a:latin typeface="KaTeX_Main"/>
              </a:rPr>
              <a:t>ℎ</a:t>
            </a:r>
            <a:r>
              <a:rPr lang="en-GB" b="0" i="1" dirty="0" err="1">
                <a:solidFill>
                  <a:srgbClr val="0D0D0D"/>
                </a:solidFill>
                <a:effectLst/>
                <a:latin typeface="KaTeX_Math"/>
              </a:rPr>
              <a:t>h</a:t>
            </a:r>
            <a:r>
              <a:rPr lang="en-GB" b="0" i="0" dirty="0">
                <a:solidFill>
                  <a:srgbClr val="0D0D0D"/>
                </a:solidFill>
                <a:effectLst/>
                <a:latin typeface="Söhne"/>
              </a:rPr>
              <a:t>), and the maximum number of nodes is </a:t>
            </a:r>
            <a:r>
              <a:rPr lang="en-GB" b="0" i="0" dirty="0">
                <a:solidFill>
                  <a:srgbClr val="0D0D0D"/>
                </a:solidFill>
                <a:effectLst/>
                <a:latin typeface="KaTeX_Main"/>
              </a:rPr>
              <a:t>2ℎ+1−12</a:t>
            </a:r>
            <a:r>
              <a:rPr lang="en-GB" b="0" i="1" dirty="0">
                <a:solidFill>
                  <a:srgbClr val="0D0D0D"/>
                </a:solidFill>
                <a:effectLst/>
                <a:latin typeface="KaTeX_Math"/>
              </a:rPr>
              <a:t>h</a:t>
            </a:r>
            <a:r>
              <a:rPr lang="en-GB" b="0" i="0" dirty="0">
                <a:solidFill>
                  <a:srgbClr val="0D0D0D"/>
                </a:solidFill>
                <a:effectLst/>
                <a:latin typeface="KaTeX_Main"/>
              </a:rPr>
              <a:t>+1−1</a:t>
            </a:r>
            <a:r>
              <a:rPr lang="en-GB" b="0" i="0" dirty="0">
                <a:solidFill>
                  <a:srgbClr val="0D0D0D"/>
                </a:solidFill>
                <a:effectLst/>
                <a:latin typeface="Söhne"/>
              </a:rPr>
              <a:t> (if it were perfectly complete).</a:t>
            </a:r>
          </a:p>
          <a:p>
            <a:endParaRPr lang="en-NL" dirty="0"/>
          </a:p>
        </p:txBody>
      </p:sp>
      <p:sp>
        <p:nvSpPr>
          <p:cNvPr id="4" name="Slide Number Placeholder 3"/>
          <p:cNvSpPr>
            <a:spLocks noGrp="1"/>
          </p:cNvSpPr>
          <p:nvPr>
            <p:ph type="sldNum" sz="quarter" idx="5"/>
          </p:nvPr>
        </p:nvSpPr>
        <p:spPr/>
        <p:txBody>
          <a:bodyPr/>
          <a:lstStyle/>
          <a:p>
            <a:fld id="{AB4BBAB9-21D1-D64C-B7EF-500754663A07}" type="slidenum">
              <a:rPr lang="en-NL" smtClean="0"/>
              <a:t>29</a:t>
            </a:fld>
            <a:endParaRPr lang="en-NL"/>
          </a:p>
        </p:txBody>
      </p:sp>
    </p:spTree>
    <p:extLst>
      <p:ext uri="{BB962C8B-B14F-4D97-AF65-F5344CB8AC3E}">
        <p14:creationId xmlns:p14="http://schemas.microsoft.com/office/powerpoint/2010/main" val="219266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D0D0D"/>
                </a:solidFill>
                <a:effectLst/>
                <a:latin typeface="Söhne"/>
              </a:rPr>
              <a:t>This equation sums the nodes at each level of the tree. Here, "-1" adjusts for the fact that the sum of a geometric series (in this case, the sum of nodes at each level of the tree) is actually calculated using the formula </a:t>
            </a:r>
            <a:r>
              <a:rPr lang="en-GB" b="0" i="0" dirty="0">
                <a:solidFill>
                  <a:srgbClr val="0D0D0D"/>
                </a:solidFill>
                <a:effectLst/>
                <a:latin typeface="KaTeX_Main"/>
              </a:rPr>
              <a:t>�=�(��−1)�−1</a:t>
            </a:r>
            <a:r>
              <a:rPr lang="en-GB" b="0" i="1" dirty="0">
                <a:solidFill>
                  <a:srgbClr val="0D0D0D"/>
                </a:solidFill>
                <a:effectLst/>
                <a:latin typeface="KaTeX_Math"/>
              </a:rPr>
              <a:t>S</a:t>
            </a:r>
            <a:r>
              <a:rPr lang="en-GB" b="0" i="0" dirty="0">
                <a:solidFill>
                  <a:srgbClr val="0D0D0D"/>
                </a:solidFill>
                <a:effectLst/>
                <a:latin typeface="KaTeX_Main"/>
              </a:rPr>
              <a:t>=</a:t>
            </a:r>
            <a:r>
              <a:rPr lang="en-GB" b="0" i="1" dirty="0">
                <a:solidFill>
                  <a:srgbClr val="0D0D0D"/>
                </a:solidFill>
                <a:effectLst/>
                <a:latin typeface="KaTeX_Math"/>
              </a:rPr>
              <a:t>r</a:t>
            </a:r>
            <a:r>
              <a:rPr lang="en-GB" b="0" i="0" dirty="0">
                <a:solidFill>
                  <a:srgbClr val="0D0D0D"/>
                </a:solidFill>
                <a:effectLst/>
                <a:latin typeface="KaTeX_Main"/>
              </a:rPr>
              <a:t>−1</a:t>
            </a:r>
            <a:r>
              <a:rPr lang="en-GB" b="0" i="1" dirty="0">
                <a:solidFill>
                  <a:srgbClr val="0D0D0D"/>
                </a:solidFill>
                <a:effectLst/>
                <a:latin typeface="KaTeX_Math"/>
              </a:rPr>
              <a:t>a</a:t>
            </a:r>
            <a:r>
              <a:rPr lang="en-GB" b="0" i="0" dirty="0">
                <a:solidFill>
                  <a:srgbClr val="0D0D0D"/>
                </a:solidFill>
                <a:effectLst/>
                <a:latin typeface="KaTeX_Main"/>
              </a:rPr>
              <a:t>(</a:t>
            </a:r>
            <a:r>
              <a:rPr lang="en-GB" b="0" i="1" dirty="0">
                <a:solidFill>
                  <a:srgbClr val="0D0D0D"/>
                </a:solidFill>
                <a:effectLst/>
                <a:latin typeface="KaTeX_Math"/>
              </a:rPr>
              <a:t>rn</a:t>
            </a:r>
            <a:r>
              <a:rPr lang="en-GB" b="0" i="0" dirty="0">
                <a:solidFill>
                  <a:srgbClr val="0D0D0D"/>
                </a:solidFill>
                <a:effectLst/>
                <a:latin typeface="KaTeX_Main"/>
              </a:rPr>
              <a:t>−1)​</a:t>
            </a:r>
            <a:r>
              <a:rPr lang="en-GB" b="0" i="0" dirty="0">
                <a:solidFill>
                  <a:srgbClr val="0D0D0D"/>
                </a:solidFill>
                <a:effectLst/>
                <a:latin typeface="Söhne"/>
              </a:rPr>
              <a:t>, where </a:t>
            </a:r>
            <a:r>
              <a:rPr lang="en-GB" b="0" i="0" dirty="0">
                <a:solidFill>
                  <a:srgbClr val="0D0D0D"/>
                </a:solidFill>
                <a:effectLst/>
                <a:latin typeface="KaTeX_Main"/>
              </a:rPr>
              <a:t>�=1</a:t>
            </a:r>
            <a:r>
              <a:rPr lang="en-GB" b="0" i="1" dirty="0">
                <a:solidFill>
                  <a:srgbClr val="0D0D0D"/>
                </a:solidFill>
                <a:effectLst/>
                <a:latin typeface="KaTeX_Math"/>
              </a:rPr>
              <a:t>a</a:t>
            </a:r>
            <a:r>
              <a:rPr lang="en-GB" b="0" i="0" dirty="0">
                <a:solidFill>
                  <a:srgbClr val="0D0D0D"/>
                </a:solidFill>
                <a:effectLst/>
                <a:latin typeface="KaTeX_Main"/>
              </a:rPr>
              <a:t>=1</a:t>
            </a:r>
            <a:r>
              <a:rPr lang="en-GB" b="0" i="0" dirty="0">
                <a:solidFill>
                  <a:srgbClr val="0D0D0D"/>
                </a:solidFill>
                <a:effectLst/>
                <a:latin typeface="Söhne"/>
              </a:rPr>
              <a:t> (the first term), </a:t>
            </a:r>
            <a:r>
              <a:rPr lang="en-GB" b="0" i="0" dirty="0">
                <a:solidFill>
                  <a:srgbClr val="0D0D0D"/>
                </a:solidFill>
                <a:effectLst/>
                <a:latin typeface="KaTeX_Main"/>
              </a:rPr>
              <a:t>�=2</a:t>
            </a:r>
            <a:r>
              <a:rPr lang="en-GB" b="0" i="1" dirty="0">
                <a:solidFill>
                  <a:srgbClr val="0D0D0D"/>
                </a:solidFill>
                <a:effectLst/>
                <a:latin typeface="KaTeX_Math"/>
              </a:rPr>
              <a:t>r</a:t>
            </a:r>
            <a:r>
              <a:rPr lang="en-GB" b="0" i="0" dirty="0">
                <a:solidFill>
                  <a:srgbClr val="0D0D0D"/>
                </a:solidFill>
                <a:effectLst/>
                <a:latin typeface="KaTeX_Main"/>
              </a:rPr>
              <a:t>=2</a:t>
            </a:r>
            <a:r>
              <a:rPr lang="en-GB" b="0" i="0" dirty="0">
                <a:solidFill>
                  <a:srgbClr val="0D0D0D"/>
                </a:solidFill>
                <a:effectLst/>
                <a:latin typeface="Söhne"/>
              </a:rPr>
              <a:t> (the common ratio), and </a:t>
            </a:r>
            <a:r>
              <a:rPr lang="en-GB" b="0" i="0" dirty="0">
                <a:solidFill>
                  <a:srgbClr val="0D0D0D"/>
                </a:solidFill>
                <a:effectLst/>
                <a:latin typeface="KaTeX_Main"/>
              </a:rPr>
              <a:t>�=ℎ+1</a:t>
            </a:r>
            <a:r>
              <a:rPr lang="en-GB" b="0" i="1" dirty="0">
                <a:solidFill>
                  <a:srgbClr val="0D0D0D"/>
                </a:solidFill>
                <a:effectLst/>
                <a:latin typeface="KaTeX_Math"/>
              </a:rPr>
              <a:t>n</a:t>
            </a:r>
            <a:r>
              <a:rPr lang="en-GB" b="0" i="0" dirty="0">
                <a:solidFill>
                  <a:srgbClr val="0D0D0D"/>
                </a:solidFill>
                <a:effectLst/>
                <a:latin typeface="KaTeX_Main"/>
              </a:rPr>
              <a:t>=</a:t>
            </a:r>
            <a:r>
              <a:rPr lang="en-GB" b="0" i="1" dirty="0">
                <a:solidFill>
                  <a:srgbClr val="0D0D0D"/>
                </a:solidFill>
                <a:effectLst/>
                <a:latin typeface="KaTeX_Math"/>
              </a:rPr>
              <a:t>h</a:t>
            </a:r>
            <a:r>
              <a:rPr lang="en-GB" b="0" i="0" dirty="0">
                <a:solidFill>
                  <a:srgbClr val="0D0D0D"/>
                </a:solidFill>
                <a:effectLst/>
                <a:latin typeface="KaTeX_Main"/>
              </a:rPr>
              <a:t>+1</a:t>
            </a:r>
            <a:r>
              <a:rPr lang="en-GB" b="0" i="0" dirty="0">
                <a:solidFill>
                  <a:srgbClr val="0D0D0D"/>
                </a:solidFill>
                <a:effectLst/>
                <a:latin typeface="Söhne"/>
              </a:rPr>
              <a:t> (the number of terms, because we start counting levels from 0 to </a:t>
            </a:r>
            <a:r>
              <a:rPr lang="en-GB" b="0" i="0" dirty="0" err="1">
                <a:solidFill>
                  <a:srgbClr val="0D0D0D"/>
                </a:solidFill>
                <a:effectLst/>
                <a:latin typeface="KaTeX_Main"/>
              </a:rPr>
              <a:t>ℎ</a:t>
            </a:r>
            <a:r>
              <a:rPr lang="en-GB" b="0" i="1" dirty="0" err="1">
                <a:solidFill>
                  <a:srgbClr val="0D0D0D"/>
                </a:solidFill>
                <a:effectLst/>
                <a:latin typeface="KaTeX_Math"/>
              </a:rPr>
              <a:t>h</a:t>
            </a:r>
            <a:r>
              <a:rPr lang="en-GB" b="0" i="0" dirty="0">
                <a:solidFill>
                  <a:srgbClr val="0D0D0D"/>
                </a:solidFill>
                <a:effectLst/>
                <a:latin typeface="Söhne"/>
              </a:rPr>
              <a:t>). Simplifying this gives us </a:t>
            </a:r>
            <a:r>
              <a:rPr lang="en-GB" b="0" i="0" dirty="0">
                <a:solidFill>
                  <a:srgbClr val="0D0D0D"/>
                </a:solidFill>
                <a:effectLst/>
                <a:latin typeface="KaTeX_Main"/>
              </a:rPr>
              <a:t>2ℎ+1−12</a:t>
            </a:r>
            <a:r>
              <a:rPr lang="en-GB" b="0" i="1" dirty="0">
                <a:solidFill>
                  <a:srgbClr val="0D0D0D"/>
                </a:solidFill>
                <a:effectLst/>
                <a:latin typeface="KaTeX_Math"/>
              </a:rPr>
              <a:t>h</a:t>
            </a:r>
            <a:r>
              <a:rPr lang="en-GB" b="0" i="0" dirty="0">
                <a:solidFill>
                  <a:srgbClr val="0D0D0D"/>
                </a:solidFill>
                <a:effectLst/>
                <a:latin typeface="KaTeX_Main"/>
              </a:rPr>
              <a:t>+1−1</a:t>
            </a:r>
            <a:r>
              <a:rPr lang="en-GB" b="0" i="0" dirty="0">
                <a:solidFill>
                  <a:srgbClr val="0D0D0D"/>
                </a:solidFill>
                <a:effectLst/>
                <a:latin typeface="Söhne"/>
              </a:rPr>
              <a:t>.</a:t>
            </a:r>
          </a:p>
          <a:p>
            <a:endParaRPr lang="en-GB" b="0" i="0" dirty="0">
              <a:solidFill>
                <a:srgbClr val="0D0D0D"/>
              </a:solidFill>
              <a:effectLst/>
              <a:latin typeface="Söhne"/>
            </a:endParaRPr>
          </a:p>
          <a:p>
            <a:r>
              <a:rPr lang="en-GB" b="0" i="0" dirty="0">
                <a:solidFill>
                  <a:srgbClr val="0D0D0D"/>
                </a:solidFill>
                <a:effectLst/>
                <a:latin typeface="Söhne"/>
              </a:rPr>
              <a:t>Here we can even say that the heap is THETA(log(n)) as it is logarithmically bound from below and above.</a:t>
            </a:r>
            <a:endParaRPr lang="en-NL" dirty="0"/>
          </a:p>
        </p:txBody>
      </p:sp>
      <p:sp>
        <p:nvSpPr>
          <p:cNvPr id="4" name="Slide Number Placeholder 3"/>
          <p:cNvSpPr>
            <a:spLocks noGrp="1"/>
          </p:cNvSpPr>
          <p:nvPr>
            <p:ph type="sldNum" sz="quarter" idx="5"/>
          </p:nvPr>
        </p:nvSpPr>
        <p:spPr/>
        <p:txBody>
          <a:bodyPr/>
          <a:lstStyle/>
          <a:p>
            <a:fld id="{AB4BBAB9-21D1-D64C-B7EF-500754663A07}" type="slidenum">
              <a:rPr lang="en-NL" smtClean="0"/>
              <a:t>30</a:t>
            </a:fld>
            <a:endParaRPr lang="en-NL"/>
          </a:p>
        </p:txBody>
      </p:sp>
    </p:spTree>
    <p:extLst>
      <p:ext uri="{BB962C8B-B14F-4D97-AF65-F5344CB8AC3E}">
        <p14:creationId xmlns:p14="http://schemas.microsoft.com/office/powerpoint/2010/main" val="739623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B4BBAB9-21D1-D64C-B7EF-500754663A07}" type="slidenum">
              <a:rPr lang="en-NL" smtClean="0"/>
              <a:t>33</a:t>
            </a:fld>
            <a:endParaRPr lang="en-NL"/>
          </a:p>
        </p:txBody>
      </p:sp>
    </p:spTree>
    <p:extLst>
      <p:ext uri="{BB962C8B-B14F-4D97-AF65-F5344CB8AC3E}">
        <p14:creationId xmlns:p14="http://schemas.microsoft.com/office/powerpoint/2010/main" val="301949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B4BBAB9-21D1-D64C-B7EF-500754663A07}" type="slidenum">
              <a:rPr lang="en-NL" smtClean="0"/>
              <a:t>35</a:t>
            </a:fld>
            <a:endParaRPr lang="en-NL"/>
          </a:p>
        </p:txBody>
      </p:sp>
    </p:spTree>
    <p:extLst>
      <p:ext uri="{BB962C8B-B14F-4D97-AF65-F5344CB8AC3E}">
        <p14:creationId xmlns:p14="http://schemas.microsoft.com/office/powerpoint/2010/main" val="1218975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1" i="0" dirty="0">
                <a:solidFill>
                  <a:srgbClr val="0D0D0D"/>
                </a:solidFill>
                <a:effectLst/>
                <a:latin typeface="Söhne"/>
              </a:rPr>
              <a:t>Best and Average Case</a:t>
            </a:r>
            <a:r>
              <a:rPr lang="en-GB" b="0" i="0" dirty="0">
                <a:solidFill>
                  <a:srgbClr val="0D0D0D"/>
                </a:solidFill>
                <a:effectLst/>
                <a:latin typeface="Söhne"/>
              </a:rPr>
              <a:t>: </a:t>
            </a:r>
            <a:r>
              <a:rPr lang="en-GB" b="0" i="1" dirty="0">
                <a:solidFill>
                  <a:srgbClr val="0D0D0D"/>
                </a:solidFill>
                <a:effectLst/>
                <a:latin typeface="KaTeX_Math"/>
              </a:rPr>
              <a:t>O</a:t>
            </a:r>
            <a:r>
              <a:rPr lang="en-GB" b="0" i="0" dirty="0">
                <a:solidFill>
                  <a:srgbClr val="0D0D0D"/>
                </a:solidFill>
                <a:effectLst/>
                <a:latin typeface="KaTeX_Main"/>
              </a:rPr>
              <a:t>(</a:t>
            </a:r>
            <a:r>
              <a:rPr lang="en-GB" b="0" i="1" dirty="0" err="1">
                <a:solidFill>
                  <a:srgbClr val="0D0D0D"/>
                </a:solidFill>
                <a:effectLst/>
                <a:latin typeface="KaTeX_Math"/>
              </a:rPr>
              <a:t>n</a:t>
            </a:r>
            <a:r>
              <a:rPr lang="en-GB" b="0" i="0" dirty="0" err="1">
                <a:solidFill>
                  <a:srgbClr val="0D0D0D"/>
                </a:solidFill>
                <a:effectLst/>
                <a:latin typeface="KaTeX_Main"/>
              </a:rPr>
              <a:t>+</a:t>
            </a:r>
            <a:r>
              <a:rPr lang="en-GB" b="0" i="1" dirty="0" err="1">
                <a:solidFill>
                  <a:srgbClr val="0D0D0D"/>
                </a:solidFill>
                <a:effectLst/>
                <a:latin typeface="KaTeX_Math"/>
              </a:rPr>
              <a:t>k</a:t>
            </a:r>
            <a:r>
              <a:rPr lang="en-GB" b="0" i="0" dirty="0">
                <a:solidFill>
                  <a:srgbClr val="0D0D0D"/>
                </a:solidFill>
                <a:effectLst/>
                <a:latin typeface="KaTeX_Main"/>
              </a:rPr>
              <a:t>)</a:t>
            </a:r>
            <a:endParaRPr lang="en-GB" b="0" i="0" dirty="0">
              <a:solidFill>
                <a:srgbClr val="0D0D0D"/>
              </a:solidFill>
              <a:effectLst/>
              <a:latin typeface="Söhne"/>
            </a:endParaRPr>
          </a:p>
          <a:p>
            <a:pPr algn="l">
              <a:buFont typeface="Arial" panose="020B0604020202020204" pitchFamily="34" charset="0"/>
              <a:buChar char="•"/>
            </a:pPr>
            <a:r>
              <a:rPr lang="en-GB" b="1" i="0" dirty="0">
                <a:solidFill>
                  <a:srgbClr val="0D0D0D"/>
                </a:solidFill>
                <a:effectLst/>
                <a:latin typeface="Söhne"/>
              </a:rPr>
              <a:t>Worst Case</a:t>
            </a:r>
            <a:r>
              <a:rPr lang="en-GB" b="0" i="0" dirty="0">
                <a:solidFill>
                  <a:srgbClr val="0D0D0D"/>
                </a:solidFill>
                <a:effectLst/>
                <a:latin typeface="Söhne"/>
              </a:rPr>
              <a:t>: </a:t>
            </a:r>
            <a:r>
              <a:rPr lang="en-GB" b="0" i="1" dirty="0">
                <a:solidFill>
                  <a:srgbClr val="0D0D0D"/>
                </a:solidFill>
                <a:effectLst/>
                <a:latin typeface="KaTeX_Math"/>
              </a:rPr>
              <a:t>O</a:t>
            </a:r>
            <a:r>
              <a:rPr lang="en-GB" b="0" i="0" dirty="0">
                <a:solidFill>
                  <a:srgbClr val="0D0D0D"/>
                </a:solidFill>
                <a:effectLst/>
                <a:latin typeface="KaTeX_Main"/>
              </a:rPr>
              <a:t>(</a:t>
            </a:r>
            <a:r>
              <a:rPr lang="en-GB" b="0" i="1" dirty="0">
                <a:solidFill>
                  <a:srgbClr val="0D0D0D"/>
                </a:solidFill>
                <a:effectLst/>
                <a:latin typeface="KaTeX_Math"/>
              </a:rPr>
              <a:t>n</a:t>
            </a:r>
            <a:r>
              <a:rPr lang="en-GB" b="0" i="0" dirty="0">
                <a:solidFill>
                  <a:srgbClr val="0D0D0D"/>
                </a:solidFill>
                <a:effectLst/>
                <a:latin typeface="KaTeX_Main"/>
              </a:rPr>
              <a:t>2^)</a:t>
            </a:r>
            <a:endParaRPr lang="en-GB" b="0" i="0" dirty="0">
              <a:solidFill>
                <a:srgbClr val="0D0D0D"/>
              </a:solidFill>
              <a:effectLst/>
              <a:latin typeface="Söhne"/>
            </a:endParaRPr>
          </a:p>
          <a:p>
            <a:pPr algn="l"/>
            <a:endParaRPr lang="en-GB" b="1" i="0" dirty="0">
              <a:solidFill>
                <a:srgbClr val="0D0D0D"/>
              </a:solidFill>
              <a:effectLst/>
              <a:latin typeface="Söhne"/>
            </a:endParaRPr>
          </a:p>
          <a:p>
            <a:pPr algn="l">
              <a:buFont typeface="Arial" panose="020B0604020202020204" pitchFamily="34" charset="0"/>
              <a:buChar char="•"/>
            </a:pPr>
            <a:r>
              <a:rPr lang="en-GB" b="0" i="1" dirty="0">
                <a:solidFill>
                  <a:srgbClr val="0D0D0D"/>
                </a:solidFill>
                <a:effectLst/>
                <a:latin typeface="KaTeX_Math"/>
              </a:rPr>
              <a:t>n</a:t>
            </a:r>
            <a:r>
              <a:rPr lang="en-GB" b="0" i="0" dirty="0">
                <a:solidFill>
                  <a:srgbClr val="0D0D0D"/>
                </a:solidFill>
                <a:effectLst/>
                <a:latin typeface="Söhne"/>
              </a:rPr>
              <a:t>: The number of elements in the input array.</a:t>
            </a:r>
          </a:p>
          <a:p>
            <a:pPr algn="l">
              <a:buFont typeface="Arial" panose="020B0604020202020204" pitchFamily="34" charset="0"/>
              <a:buChar char="•"/>
            </a:pPr>
            <a:r>
              <a:rPr lang="en-GB" b="0" i="1">
                <a:solidFill>
                  <a:srgbClr val="0D0D0D"/>
                </a:solidFill>
                <a:effectLst/>
                <a:latin typeface="KaTeX_Math"/>
              </a:rPr>
              <a:t>k</a:t>
            </a:r>
            <a:r>
              <a:rPr lang="en-GB" b="0" i="0" dirty="0">
                <a:solidFill>
                  <a:srgbClr val="0D0D0D"/>
                </a:solidFill>
                <a:effectLst/>
                <a:latin typeface="Söhne"/>
              </a:rPr>
              <a:t>: The number of buckets.</a:t>
            </a:r>
          </a:p>
          <a:p>
            <a:pPr algn="l"/>
            <a:endParaRPr lang="en-GB" b="1" i="0" dirty="0">
              <a:solidFill>
                <a:srgbClr val="0D0D0D"/>
              </a:solidFill>
              <a:effectLst/>
              <a:latin typeface="Söhne"/>
            </a:endParaRPr>
          </a:p>
          <a:p>
            <a:pPr algn="l"/>
            <a:r>
              <a:rPr lang="en-GB" b="1" i="0" dirty="0">
                <a:solidFill>
                  <a:srgbClr val="0D0D0D"/>
                </a:solidFill>
                <a:effectLst/>
                <a:latin typeface="Söhne"/>
              </a:rPr>
              <a:t>Why </a:t>
            </a:r>
            <a:r>
              <a:rPr lang="en-GB" b="1" i="1" dirty="0">
                <a:solidFill>
                  <a:srgbClr val="0D0D0D"/>
                </a:solidFill>
                <a:effectLst/>
                <a:latin typeface="KaTeX_Math"/>
              </a:rPr>
              <a:t>O</a:t>
            </a:r>
            <a:r>
              <a:rPr lang="en-GB" b="1" i="0" dirty="0">
                <a:solidFill>
                  <a:srgbClr val="0D0D0D"/>
                </a:solidFill>
                <a:effectLst/>
                <a:latin typeface="KaTeX_Main"/>
              </a:rPr>
              <a:t>(</a:t>
            </a:r>
            <a:r>
              <a:rPr lang="en-GB" b="1" i="1" dirty="0" err="1">
                <a:solidFill>
                  <a:srgbClr val="0D0D0D"/>
                </a:solidFill>
                <a:effectLst/>
                <a:latin typeface="KaTeX_Math"/>
              </a:rPr>
              <a:t>n</a:t>
            </a:r>
            <a:r>
              <a:rPr lang="en-GB" b="1" i="0" dirty="0" err="1">
                <a:solidFill>
                  <a:srgbClr val="0D0D0D"/>
                </a:solidFill>
                <a:effectLst/>
                <a:latin typeface="KaTeX_Main"/>
              </a:rPr>
              <a:t>+</a:t>
            </a:r>
            <a:r>
              <a:rPr lang="en-GB" b="1" i="1" dirty="0" err="1">
                <a:solidFill>
                  <a:srgbClr val="0D0D0D"/>
                </a:solidFill>
                <a:effectLst/>
                <a:latin typeface="KaTeX_Math"/>
              </a:rPr>
              <a:t>k</a:t>
            </a:r>
            <a:r>
              <a:rPr lang="en-GB" b="1" i="0" dirty="0">
                <a:solidFill>
                  <a:srgbClr val="0D0D0D"/>
                </a:solidFill>
                <a:effectLst/>
                <a:latin typeface="KaTeX_Main"/>
              </a:rPr>
              <a:t>)</a:t>
            </a:r>
            <a:r>
              <a:rPr lang="en-GB" b="1" i="0" dirty="0">
                <a:solidFill>
                  <a:srgbClr val="0D0D0D"/>
                </a:solidFill>
                <a:effectLst/>
                <a:latin typeface="Söhne"/>
              </a:rPr>
              <a:t> and </a:t>
            </a:r>
            <a:r>
              <a:rPr lang="en-GB" b="1" i="1" dirty="0">
                <a:solidFill>
                  <a:srgbClr val="0D0D0D"/>
                </a:solidFill>
                <a:effectLst/>
                <a:latin typeface="KaTeX_Math"/>
              </a:rPr>
              <a:t>O</a:t>
            </a:r>
            <a:r>
              <a:rPr lang="en-GB" b="1" i="0" dirty="0">
                <a:solidFill>
                  <a:srgbClr val="0D0D0D"/>
                </a:solidFill>
                <a:effectLst/>
                <a:latin typeface="KaTeX_Main"/>
              </a:rPr>
              <a:t>(</a:t>
            </a:r>
            <a:r>
              <a:rPr lang="en-GB" b="1" i="1" dirty="0">
                <a:solidFill>
                  <a:srgbClr val="0D0D0D"/>
                </a:solidFill>
                <a:effectLst/>
                <a:latin typeface="KaTeX_Math"/>
              </a:rPr>
              <a:t>n^</a:t>
            </a:r>
            <a:r>
              <a:rPr lang="en-GB" b="1" i="0" dirty="0">
                <a:solidFill>
                  <a:srgbClr val="0D0D0D"/>
                </a:solidFill>
                <a:effectLst/>
                <a:latin typeface="KaTeX_Main"/>
              </a:rPr>
              <a:t>2)</a:t>
            </a:r>
            <a:r>
              <a:rPr lang="en-GB" b="1" i="0" dirty="0">
                <a:solidFill>
                  <a:srgbClr val="0D0D0D"/>
                </a:solidFill>
                <a:effectLst/>
                <a:latin typeface="Söhne"/>
              </a:rPr>
              <a:t>?</a:t>
            </a:r>
          </a:p>
          <a:p>
            <a:pPr algn="l">
              <a:buFont typeface="Arial" panose="020B0604020202020204" pitchFamily="34" charset="0"/>
              <a:buChar char="•"/>
            </a:pPr>
            <a:r>
              <a:rPr lang="en-GB" b="0" i="0" dirty="0">
                <a:solidFill>
                  <a:srgbClr val="0D0D0D"/>
                </a:solidFill>
                <a:effectLst/>
                <a:latin typeface="Söhne"/>
              </a:rPr>
              <a:t>In the best and average cases, assuming the elements are uniformly distributed, each bucket gets a small portion of the input array elements. If these buckets are then sorted using an efficient algorithm (or further bucket sort with a good distribution), the overall time can be linear with respect to the number of elements.</a:t>
            </a:r>
          </a:p>
          <a:p>
            <a:pPr algn="l">
              <a:buFont typeface="Arial" panose="020B0604020202020204" pitchFamily="34" charset="0"/>
              <a:buChar char="•"/>
            </a:pPr>
            <a:r>
              <a:rPr lang="en-GB" b="0" i="0" dirty="0">
                <a:solidFill>
                  <a:srgbClr val="0D0D0D"/>
                </a:solidFill>
                <a:effectLst/>
                <a:latin typeface="Söhne"/>
              </a:rPr>
              <a:t>The worst-case scenario </a:t>
            </a:r>
            <a:r>
              <a:rPr lang="en-GB" b="0" i="1" dirty="0">
                <a:solidFill>
                  <a:srgbClr val="0D0D0D"/>
                </a:solidFill>
                <a:effectLst/>
                <a:latin typeface="KaTeX_Math"/>
              </a:rPr>
              <a:t>O</a:t>
            </a:r>
            <a:r>
              <a:rPr lang="en-GB" b="0" i="0" dirty="0">
                <a:solidFill>
                  <a:srgbClr val="0D0D0D"/>
                </a:solidFill>
                <a:effectLst/>
                <a:latin typeface="KaTeX_Main"/>
              </a:rPr>
              <a:t>(</a:t>
            </a:r>
            <a:r>
              <a:rPr lang="en-GB" b="0" i="1" dirty="0">
                <a:solidFill>
                  <a:srgbClr val="0D0D0D"/>
                </a:solidFill>
                <a:effectLst/>
                <a:latin typeface="KaTeX_Math"/>
              </a:rPr>
              <a:t>n^</a:t>
            </a:r>
            <a:r>
              <a:rPr lang="en-GB" b="0" i="0" dirty="0">
                <a:solidFill>
                  <a:srgbClr val="0D0D0D"/>
                </a:solidFill>
                <a:effectLst/>
                <a:latin typeface="KaTeX_Main"/>
              </a:rPr>
              <a:t>2)</a:t>
            </a:r>
            <a:r>
              <a:rPr lang="en-GB" b="0" i="0" dirty="0">
                <a:solidFill>
                  <a:srgbClr val="0D0D0D"/>
                </a:solidFill>
                <a:effectLst/>
                <a:latin typeface="Söhne"/>
              </a:rPr>
              <a:t>) occurs when all elements are placed into a single bucket. The efficiency of bucket sort then depends on the sorting algorithm used for sorting individual buckets. If using a quadratic sorting algorithm (like Insertion Sort) for the buckets, and all elements end up in a single bucket, the worst-case time complexity becomes </a:t>
            </a:r>
            <a:r>
              <a:rPr lang="en-GB" b="0" i="1" dirty="0">
                <a:solidFill>
                  <a:srgbClr val="0D0D0D"/>
                </a:solidFill>
                <a:effectLst/>
                <a:latin typeface="KaTeX_Math"/>
              </a:rPr>
              <a:t>O</a:t>
            </a:r>
            <a:r>
              <a:rPr lang="en-GB" b="0" i="0" dirty="0">
                <a:solidFill>
                  <a:srgbClr val="0D0D0D"/>
                </a:solidFill>
                <a:effectLst/>
                <a:latin typeface="KaTeX_Main"/>
              </a:rPr>
              <a:t>(</a:t>
            </a:r>
            <a:r>
              <a:rPr lang="en-GB" b="0" i="1" dirty="0">
                <a:solidFill>
                  <a:srgbClr val="0D0D0D"/>
                </a:solidFill>
                <a:effectLst/>
                <a:latin typeface="KaTeX_Math"/>
              </a:rPr>
              <a:t>n^</a:t>
            </a:r>
            <a:r>
              <a:rPr lang="en-GB" b="0" i="0" dirty="0">
                <a:solidFill>
                  <a:srgbClr val="0D0D0D"/>
                </a:solidFill>
                <a:effectLst/>
                <a:latin typeface="KaTeX_Main"/>
              </a:rPr>
              <a:t>2)</a:t>
            </a:r>
            <a:r>
              <a:rPr lang="en-GB" b="0" i="0" dirty="0">
                <a:solidFill>
                  <a:srgbClr val="0D0D0D"/>
                </a:solidFill>
                <a:effectLst/>
                <a:latin typeface="Söhne"/>
              </a:rPr>
              <a:t>.</a:t>
            </a:r>
          </a:p>
          <a:p>
            <a:endParaRPr lang="en-NL" dirty="0"/>
          </a:p>
        </p:txBody>
      </p:sp>
      <p:sp>
        <p:nvSpPr>
          <p:cNvPr id="4" name="Slide Number Placeholder 3"/>
          <p:cNvSpPr>
            <a:spLocks noGrp="1"/>
          </p:cNvSpPr>
          <p:nvPr>
            <p:ph type="sldNum" sz="quarter" idx="5"/>
          </p:nvPr>
        </p:nvSpPr>
        <p:spPr/>
        <p:txBody>
          <a:bodyPr/>
          <a:lstStyle/>
          <a:p>
            <a:fld id="{AB4BBAB9-21D1-D64C-B7EF-500754663A07}" type="slidenum">
              <a:rPr lang="en-NL" smtClean="0"/>
              <a:t>36</a:t>
            </a:fld>
            <a:endParaRPr lang="en-NL"/>
          </a:p>
        </p:txBody>
      </p:sp>
    </p:spTree>
    <p:extLst>
      <p:ext uri="{BB962C8B-B14F-4D97-AF65-F5344CB8AC3E}">
        <p14:creationId xmlns:p14="http://schemas.microsoft.com/office/powerpoint/2010/main" val="27286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1" i="0" dirty="0">
                <a:solidFill>
                  <a:srgbClr val="0D0D0D"/>
                </a:solidFill>
                <a:effectLst/>
                <a:latin typeface="Söhne"/>
              </a:rPr>
              <a:t>Best, Average, and Worst Case</a:t>
            </a:r>
            <a:r>
              <a:rPr lang="en-GB" b="0" i="0" dirty="0">
                <a:solidFill>
                  <a:srgbClr val="0D0D0D"/>
                </a:solidFill>
                <a:effectLst/>
                <a:latin typeface="Söhne"/>
              </a:rPr>
              <a:t>: </a:t>
            </a:r>
            <a:r>
              <a:rPr lang="en-GB" b="0" i="1" dirty="0">
                <a:solidFill>
                  <a:srgbClr val="0D0D0D"/>
                </a:solidFill>
                <a:effectLst/>
                <a:latin typeface="KaTeX_Math"/>
              </a:rPr>
              <a:t>O</a:t>
            </a:r>
            <a:r>
              <a:rPr lang="en-GB" b="0" i="0" dirty="0">
                <a:solidFill>
                  <a:srgbClr val="0D0D0D"/>
                </a:solidFill>
                <a:effectLst/>
                <a:latin typeface="KaTeX_Main"/>
              </a:rPr>
              <a:t>(</a:t>
            </a:r>
            <a:r>
              <a:rPr lang="en-GB" b="0" i="1" dirty="0" err="1">
                <a:solidFill>
                  <a:srgbClr val="0D0D0D"/>
                </a:solidFill>
                <a:effectLst/>
                <a:latin typeface="KaTeX_Math"/>
              </a:rPr>
              <a:t>n</a:t>
            </a:r>
            <a:r>
              <a:rPr lang="en-GB" b="0" i="0" dirty="0" err="1">
                <a:solidFill>
                  <a:srgbClr val="0D0D0D"/>
                </a:solidFill>
                <a:effectLst/>
                <a:latin typeface="KaTeX_Main"/>
              </a:rPr>
              <a:t>+</a:t>
            </a:r>
            <a:r>
              <a:rPr lang="en-GB" b="0" i="1" dirty="0" err="1">
                <a:solidFill>
                  <a:srgbClr val="0D0D0D"/>
                </a:solidFill>
                <a:effectLst/>
                <a:latin typeface="KaTeX_Math"/>
              </a:rPr>
              <a:t>k</a:t>
            </a:r>
            <a:r>
              <a:rPr lang="en-GB" b="0" i="0" dirty="0">
                <a:solidFill>
                  <a:srgbClr val="0D0D0D"/>
                </a:solidFill>
                <a:effectLst/>
                <a:latin typeface="KaTeX_Main"/>
              </a:rPr>
              <a:t>)</a:t>
            </a:r>
            <a:endParaRPr lang="en-GB" b="0" i="0" dirty="0">
              <a:solidFill>
                <a:srgbClr val="0D0D0D"/>
              </a:solidFill>
              <a:effectLst/>
              <a:latin typeface="Söhne"/>
            </a:endParaRPr>
          </a:p>
          <a:p>
            <a:pPr algn="l"/>
            <a:r>
              <a:rPr lang="en-GB" b="0" i="0" dirty="0">
                <a:solidFill>
                  <a:srgbClr val="0D0D0D"/>
                </a:solidFill>
                <a:effectLst/>
                <a:latin typeface="Söhne"/>
              </a:rPr>
              <a:t>The time complexity of Counting Sort depends on:</a:t>
            </a:r>
          </a:p>
          <a:p>
            <a:pPr algn="l">
              <a:buFont typeface="Arial" panose="020B0604020202020204" pitchFamily="34" charset="0"/>
              <a:buChar char="•"/>
            </a:pPr>
            <a:r>
              <a:rPr lang="en-GB" b="0" i="1" dirty="0">
                <a:solidFill>
                  <a:srgbClr val="0D0D0D"/>
                </a:solidFill>
                <a:effectLst/>
                <a:latin typeface="KaTeX_Math"/>
              </a:rPr>
              <a:t>n</a:t>
            </a:r>
            <a:r>
              <a:rPr lang="en-GB" b="0" i="0" dirty="0">
                <a:solidFill>
                  <a:srgbClr val="0D0D0D"/>
                </a:solidFill>
                <a:effectLst/>
                <a:latin typeface="Söhne"/>
              </a:rPr>
              <a:t>: The number of elements in the input array.</a:t>
            </a:r>
          </a:p>
          <a:p>
            <a:pPr algn="l">
              <a:buFont typeface="Arial" panose="020B0604020202020204" pitchFamily="34" charset="0"/>
              <a:buChar char="•"/>
            </a:pPr>
            <a:r>
              <a:rPr lang="en-GB" b="0" i="1" dirty="0">
                <a:solidFill>
                  <a:srgbClr val="0D0D0D"/>
                </a:solidFill>
                <a:effectLst/>
                <a:latin typeface="KaTeX_Math"/>
              </a:rPr>
              <a:t>k</a:t>
            </a:r>
            <a:r>
              <a:rPr lang="en-GB" b="0" i="0" dirty="0">
                <a:solidFill>
                  <a:srgbClr val="0D0D0D"/>
                </a:solidFill>
                <a:effectLst/>
                <a:latin typeface="Söhne"/>
              </a:rPr>
              <a:t>: The range of the input values (i.e., the difference between the maximum and minimum values).</a:t>
            </a:r>
          </a:p>
          <a:p>
            <a:endParaRPr lang="en-NL" dirty="0"/>
          </a:p>
          <a:p>
            <a:r>
              <a:rPr lang="en-NL" dirty="0"/>
              <a:t>Same for space complexity</a:t>
            </a:r>
          </a:p>
        </p:txBody>
      </p:sp>
      <p:sp>
        <p:nvSpPr>
          <p:cNvPr id="4" name="Slide Number Placeholder 3"/>
          <p:cNvSpPr>
            <a:spLocks noGrp="1"/>
          </p:cNvSpPr>
          <p:nvPr>
            <p:ph type="sldNum" sz="quarter" idx="5"/>
          </p:nvPr>
        </p:nvSpPr>
        <p:spPr/>
        <p:txBody>
          <a:bodyPr/>
          <a:lstStyle/>
          <a:p>
            <a:fld id="{AB4BBAB9-21D1-D64C-B7EF-500754663A07}" type="slidenum">
              <a:rPr lang="en-NL" smtClean="0"/>
              <a:t>37</a:t>
            </a:fld>
            <a:endParaRPr lang="en-NL"/>
          </a:p>
        </p:txBody>
      </p:sp>
    </p:spTree>
    <p:extLst>
      <p:ext uri="{BB962C8B-B14F-4D97-AF65-F5344CB8AC3E}">
        <p14:creationId xmlns:p14="http://schemas.microsoft.com/office/powerpoint/2010/main" val="33058807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B4BBAB9-21D1-D64C-B7EF-500754663A07}" type="slidenum">
              <a:rPr lang="en-NL" smtClean="0"/>
              <a:t>38</a:t>
            </a:fld>
            <a:endParaRPr lang="en-NL"/>
          </a:p>
        </p:txBody>
      </p:sp>
    </p:spTree>
    <p:extLst>
      <p:ext uri="{BB962C8B-B14F-4D97-AF65-F5344CB8AC3E}">
        <p14:creationId xmlns:p14="http://schemas.microsoft.com/office/powerpoint/2010/main" val="646381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dirty="0">
                <a:solidFill>
                  <a:srgbClr val="0D0D0D"/>
                </a:solidFill>
                <a:effectLst/>
                <a:latin typeface="Söhne"/>
              </a:rPr>
              <a:t> Each of the </a:t>
            </a:r>
            <a:r>
              <a:rPr lang="en-GB" b="0" i="1" dirty="0">
                <a:solidFill>
                  <a:srgbClr val="0D0D0D"/>
                </a:solidFill>
                <a:effectLst/>
                <a:latin typeface="KaTeX_Math"/>
              </a:rPr>
              <a:t>d</a:t>
            </a:r>
            <a:r>
              <a:rPr lang="en-GB" b="0" i="0" dirty="0">
                <a:solidFill>
                  <a:srgbClr val="0D0D0D"/>
                </a:solidFill>
                <a:effectLst/>
                <a:latin typeface="Söhne"/>
              </a:rPr>
              <a:t> passes sorts the array based on a particular digit, from the least significant digit to the most significant digit.</a:t>
            </a:r>
          </a:p>
          <a:p>
            <a:pPr algn="l">
              <a:buFont typeface="Arial" panose="020B0604020202020204" pitchFamily="34" charset="0"/>
              <a:buChar char="•"/>
            </a:pPr>
            <a:r>
              <a:rPr lang="en-GB" b="0" i="0" dirty="0">
                <a:solidFill>
                  <a:srgbClr val="0D0D0D"/>
                </a:solidFill>
                <a:effectLst/>
                <a:latin typeface="Söhne"/>
              </a:rPr>
              <a:t> Counting Sort is used for each pass, which has a complexity of </a:t>
            </a:r>
            <a:r>
              <a:rPr lang="en-GB" b="0" i="1" dirty="0">
                <a:solidFill>
                  <a:srgbClr val="0D0D0D"/>
                </a:solidFill>
                <a:effectLst/>
                <a:latin typeface="KaTeX_Math"/>
              </a:rPr>
              <a:t>O</a:t>
            </a:r>
            <a:r>
              <a:rPr lang="en-GB" b="0" i="0" dirty="0">
                <a:solidFill>
                  <a:srgbClr val="0D0D0D"/>
                </a:solidFill>
                <a:effectLst/>
                <a:latin typeface="KaTeX_Main"/>
              </a:rPr>
              <a:t>(</a:t>
            </a:r>
            <a:r>
              <a:rPr lang="en-GB" b="0" i="1" dirty="0" err="1">
                <a:solidFill>
                  <a:srgbClr val="0D0D0D"/>
                </a:solidFill>
                <a:effectLst/>
                <a:latin typeface="KaTeX_Math"/>
              </a:rPr>
              <a:t>n</a:t>
            </a:r>
            <a:r>
              <a:rPr lang="en-GB" b="0" i="0" dirty="0" err="1">
                <a:solidFill>
                  <a:srgbClr val="0D0D0D"/>
                </a:solidFill>
                <a:effectLst/>
                <a:latin typeface="KaTeX_Main"/>
              </a:rPr>
              <a:t>+</a:t>
            </a:r>
            <a:r>
              <a:rPr lang="en-GB" b="0" i="1" dirty="0" err="1">
                <a:solidFill>
                  <a:srgbClr val="0D0D0D"/>
                </a:solidFill>
                <a:effectLst/>
                <a:latin typeface="KaTeX_Math"/>
              </a:rPr>
              <a:t>b</a:t>
            </a:r>
            <a:r>
              <a:rPr lang="en-GB" b="0" i="0" dirty="0">
                <a:solidFill>
                  <a:srgbClr val="0D0D0D"/>
                </a:solidFill>
                <a:effectLst/>
                <a:latin typeface="KaTeX_Main"/>
              </a:rPr>
              <a:t>)</a:t>
            </a:r>
            <a:r>
              <a:rPr lang="en-GB" b="0" i="0" dirty="0">
                <a:solidFill>
                  <a:srgbClr val="0D0D0D"/>
                </a:solidFill>
                <a:effectLst/>
                <a:latin typeface="Söhne"/>
              </a:rPr>
              <a:t> because it needs to consider each of the </a:t>
            </a:r>
            <a:r>
              <a:rPr lang="en-GB" b="0" i="1" dirty="0">
                <a:solidFill>
                  <a:srgbClr val="0D0D0D"/>
                </a:solidFill>
                <a:effectLst/>
                <a:latin typeface="KaTeX_Math"/>
              </a:rPr>
              <a:t>n</a:t>
            </a:r>
            <a:r>
              <a:rPr lang="en-GB" b="0" i="0" dirty="0">
                <a:solidFill>
                  <a:srgbClr val="0D0D0D"/>
                </a:solidFill>
                <a:effectLst/>
                <a:latin typeface="Söhne"/>
              </a:rPr>
              <a:t> elements and uses temporary count/storage arrays of size </a:t>
            </a:r>
            <a:r>
              <a:rPr lang="en-GB" b="0" i="1" dirty="0">
                <a:solidFill>
                  <a:srgbClr val="0D0D0D"/>
                </a:solidFill>
                <a:effectLst/>
                <a:latin typeface="KaTeX_Math"/>
              </a:rPr>
              <a:t>b</a:t>
            </a:r>
            <a:r>
              <a:rPr lang="en-GB" b="0" i="0" dirty="0">
                <a:solidFill>
                  <a:srgbClr val="0D0D0D"/>
                </a:solidFill>
                <a:effectLst/>
                <a:latin typeface="Söhne"/>
              </a:rPr>
              <a:t>.</a:t>
            </a:r>
          </a:p>
          <a:p>
            <a:pPr algn="l">
              <a:buFont typeface="Arial" panose="020B0604020202020204" pitchFamily="34" charset="0"/>
              <a:buChar char="•"/>
            </a:pPr>
            <a:r>
              <a:rPr lang="en-GB" b="0" i="0" dirty="0">
                <a:solidFill>
                  <a:srgbClr val="0D0D0D"/>
                </a:solidFill>
                <a:effectLst/>
                <a:latin typeface="Söhne"/>
              </a:rPr>
              <a:t> Since you perform </a:t>
            </a:r>
            <a:r>
              <a:rPr lang="en-GB" b="0" i="1" dirty="0">
                <a:solidFill>
                  <a:srgbClr val="0D0D0D"/>
                </a:solidFill>
                <a:effectLst/>
                <a:latin typeface="KaTeX_Math"/>
              </a:rPr>
              <a:t>d</a:t>
            </a:r>
            <a:r>
              <a:rPr lang="en-GB" b="0" i="0" dirty="0">
                <a:solidFill>
                  <a:srgbClr val="0D0D0D"/>
                </a:solidFill>
                <a:effectLst/>
                <a:latin typeface="Söhne"/>
              </a:rPr>
              <a:t> such sorts, the total time complexity is </a:t>
            </a:r>
            <a:r>
              <a:rPr lang="en-GB" b="0" i="1" dirty="0">
                <a:solidFill>
                  <a:srgbClr val="0D0D0D"/>
                </a:solidFill>
                <a:effectLst/>
                <a:latin typeface="KaTeX_Math"/>
              </a:rPr>
              <a:t>O</a:t>
            </a:r>
            <a:r>
              <a:rPr lang="en-GB" b="0" i="0" dirty="0">
                <a:solidFill>
                  <a:srgbClr val="0D0D0D"/>
                </a:solidFill>
                <a:effectLst/>
                <a:latin typeface="KaTeX_Main"/>
              </a:rPr>
              <a:t>(</a:t>
            </a:r>
            <a:r>
              <a:rPr lang="en-GB" b="0" i="1" dirty="0">
                <a:solidFill>
                  <a:srgbClr val="0D0D0D"/>
                </a:solidFill>
                <a:effectLst/>
                <a:latin typeface="KaTeX_Math"/>
              </a:rPr>
              <a:t>d</a:t>
            </a:r>
            <a:r>
              <a:rPr lang="en-GB" b="0" i="0" dirty="0">
                <a:solidFill>
                  <a:srgbClr val="0D0D0D"/>
                </a:solidFill>
                <a:effectLst/>
                <a:latin typeface="KaTeX_Main"/>
              </a:rPr>
              <a:t>(</a:t>
            </a:r>
            <a:r>
              <a:rPr lang="en-GB" b="0" i="1" dirty="0" err="1">
                <a:solidFill>
                  <a:srgbClr val="0D0D0D"/>
                </a:solidFill>
                <a:effectLst/>
                <a:latin typeface="KaTeX_Math"/>
              </a:rPr>
              <a:t>n</a:t>
            </a:r>
            <a:r>
              <a:rPr lang="en-GB" b="0" i="0" dirty="0" err="1">
                <a:solidFill>
                  <a:srgbClr val="0D0D0D"/>
                </a:solidFill>
                <a:effectLst/>
                <a:latin typeface="KaTeX_Main"/>
              </a:rPr>
              <a:t>+</a:t>
            </a:r>
            <a:r>
              <a:rPr lang="en-GB" b="0" i="1" dirty="0" err="1">
                <a:solidFill>
                  <a:srgbClr val="0D0D0D"/>
                </a:solidFill>
                <a:effectLst/>
                <a:latin typeface="KaTeX_Math"/>
              </a:rPr>
              <a:t>b</a:t>
            </a:r>
            <a:r>
              <a:rPr lang="en-GB" b="0" i="0" dirty="0">
                <a:solidFill>
                  <a:srgbClr val="0D0D0D"/>
                </a:solidFill>
                <a:effectLst/>
                <a:latin typeface="KaTeX_Main"/>
              </a:rPr>
              <a:t>))</a:t>
            </a:r>
            <a:r>
              <a:rPr lang="en-GB" b="0" i="0" dirty="0">
                <a:solidFill>
                  <a:srgbClr val="0D0D0D"/>
                </a:solidFill>
                <a:effectLst/>
                <a:latin typeface="Söhne"/>
              </a:rPr>
              <a:t>.</a:t>
            </a:r>
          </a:p>
          <a:p>
            <a:endParaRPr lang="en-NL" dirty="0"/>
          </a:p>
          <a:p>
            <a:r>
              <a:rPr lang="en-NL" dirty="0"/>
              <a:t>Space O(n + k)</a:t>
            </a:r>
          </a:p>
          <a:p>
            <a:r>
              <a:rPr lang="en-GB" b="0" i="0" dirty="0">
                <a:solidFill>
                  <a:srgbClr val="0D0D0D"/>
                </a:solidFill>
                <a:effectLst/>
                <a:latin typeface="Söhne"/>
              </a:rPr>
              <a:t>This accounts for the storage needed for the output array (size </a:t>
            </a:r>
            <a:r>
              <a:rPr lang="en-GB" b="0" i="1" dirty="0">
                <a:solidFill>
                  <a:srgbClr val="0D0D0D"/>
                </a:solidFill>
                <a:effectLst/>
                <a:latin typeface="KaTeX_Math"/>
              </a:rPr>
              <a:t>n</a:t>
            </a:r>
            <a:r>
              <a:rPr lang="en-GB" b="0" i="0" dirty="0">
                <a:solidFill>
                  <a:srgbClr val="0D0D0D"/>
                </a:solidFill>
                <a:effectLst/>
                <a:latin typeface="Söhne"/>
              </a:rPr>
              <a:t>) and the count array (size </a:t>
            </a:r>
            <a:r>
              <a:rPr lang="en-GB" b="0" i="1" dirty="0">
                <a:solidFill>
                  <a:srgbClr val="0D0D0D"/>
                </a:solidFill>
                <a:effectLst/>
                <a:latin typeface="KaTeX_Math"/>
              </a:rPr>
              <a:t>k</a:t>
            </a:r>
            <a:r>
              <a:rPr lang="en-GB" b="0" i="0" dirty="0">
                <a:solidFill>
                  <a:srgbClr val="0D0D0D"/>
                </a:solidFill>
                <a:effectLst/>
                <a:latin typeface="Söhne"/>
              </a:rPr>
              <a:t>).</a:t>
            </a:r>
            <a:endParaRPr lang="en-NL" dirty="0"/>
          </a:p>
        </p:txBody>
      </p:sp>
      <p:sp>
        <p:nvSpPr>
          <p:cNvPr id="4" name="Slide Number Placeholder 3"/>
          <p:cNvSpPr>
            <a:spLocks noGrp="1"/>
          </p:cNvSpPr>
          <p:nvPr>
            <p:ph type="sldNum" sz="quarter" idx="5"/>
          </p:nvPr>
        </p:nvSpPr>
        <p:spPr/>
        <p:txBody>
          <a:bodyPr/>
          <a:lstStyle/>
          <a:p>
            <a:fld id="{AB4BBAB9-21D1-D64C-B7EF-500754663A07}" type="slidenum">
              <a:rPr lang="en-NL" smtClean="0"/>
              <a:t>39</a:t>
            </a:fld>
            <a:endParaRPr lang="en-NL"/>
          </a:p>
        </p:txBody>
      </p:sp>
    </p:spTree>
    <p:extLst>
      <p:ext uri="{BB962C8B-B14F-4D97-AF65-F5344CB8AC3E}">
        <p14:creationId xmlns:p14="http://schemas.microsoft.com/office/powerpoint/2010/main" val="2925891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9E16F-20B0-ED4D-D53B-A2D4FDEC740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NL"/>
          </a:p>
        </p:txBody>
      </p:sp>
      <p:sp>
        <p:nvSpPr>
          <p:cNvPr id="3" name="Subtitle 2">
            <a:extLst>
              <a:ext uri="{FF2B5EF4-FFF2-40B4-BE49-F238E27FC236}">
                <a16:creationId xmlns:a16="http://schemas.microsoft.com/office/drawing/2014/main" id="{A6555585-1FDB-A891-67E8-B50F0D9DCB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NL"/>
          </a:p>
        </p:txBody>
      </p:sp>
      <p:sp>
        <p:nvSpPr>
          <p:cNvPr id="4" name="Date Placeholder 3">
            <a:extLst>
              <a:ext uri="{FF2B5EF4-FFF2-40B4-BE49-F238E27FC236}">
                <a16:creationId xmlns:a16="http://schemas.microsoft.com/office/drawing/2014/main" id="{CD3C28B0-C062-DF03-3AB3-FBDE7B177481}"/>
              </a:ext>
            </a:extLst>
          </p:cNvPr>
          <p:cNvSpPr>
            <a:spLocks noGrp="1"/>
          </p:cNvSpPr>
          <p:nvPr>
            <p:ph type="dt" sz="half" idx="10"/>
          </p:nvPr>
        </p:nvSpPr>
        <p:spPr/>
        <p:txBody>
          <a:bodyPr/>
          <a:lstStyle/>
          <a:p>
            <a:fld id="{01FBF23C-1004-3B48-AF2D-2F370F991641}" type="datetimeFigureOut">
              <a:rPr lang="en-NL" smtClean="0"/>
              <a:t>05/03/2024</a:t>
            </a:fld>
            <a:endParaRPr lang="en-NL"/>
          </a:p>
        </p:txBody>
      </p:sp>
      <p:sp>
        <p:nvSpPr>
          <p:cNvPr id="5" name="Footer Placeholder 4">
            <a:extLst>
              <a:ext uri="{FF2B5EF4-FFF2-40B4-BE49-F238E27FC236}">
                <a16:creationId xmlns:a16="http://schemas.microsoft.com/office/drawing/2014/main" id="{36063049-5E70-E53D-2976-73D77D143F0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CFE09C24-7837-284E-5FD8-07666124B9FE}"/>
              </a:ext>
            </a:extLst>
          </p:cNvPr>
          <p:cNvSpPr>
            <a:spLocks noGrp="1"/>
          </p:cNvSpPr>
          <p:nvPr>
            <p:ph type="sldNum" sz="quarter" idx="12"/>
          </p:nvPr>
        </p:nvSpPr>
        <p:spPr/>
        <p:txBody>
          <a:bodyPr/>
          <a:lstStyle/>
          <a:p>
            <a:fld id="{175A89B5-C718-C840-A7A1-7B110CE065BF}" type="slidenum">
              <a:rPr lang="en-NL" smtClean="0"/>
              <a:t>‹#›</a:t>
            </a:fld>
            <a:endParaRPr lang="en-NL"/>
          </a:p>
        </p:txBody>
      </p:sp>
    </p:spTree>
    <p:extLst>
      <p:ext uri="{BB962C8B-B14F-4D97-AF65-F5344CB8AC3E}">
        <p14:creationId xmlns:p14="http://schemas.microsoft.com/office/powerpoint/2010/main" val="4198641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C21A3-7978-843E-46BF-6AEBF247D7A6}"/>
              </a:ext>
            </a:extLst>
          </p:cNvPr>
          <p:cNvSpPr>
            <a:spLocks noGrp="1"/>
          </p:cNvSpPr>
          <p:nvPr>
            <p:ph type="title"/>
          </p:nvPr>
        </p:nvSpPr>
        <p:spPr/>
        <p:txBody>
          <a:bodyPr/>
          <a:lstStyle/>
          <a:p>
            <a:r>
              <a:rPr lang="en-GB"/>
              <a:t>Click to edit Master title style</a:t>
            </a:r>
            <a:endParaRPr lang="en-NL"/>
          </a:p>
        </p:txBody>
      </p:sp>
      <p:sp>
        <p:nvSpPr>
          <p:cNvPr id="3" name="Content Placeholder 2">
            <a:extLst>
              <a:ext uri="{FF2B5EF4-FFF2-40B4-BE49-F238E27FC236}">
                <a16:creationId xmlns:a16="http://schemas.microsoft.com/office/drawing/2014/main" id="{80803A0A-B902-A391-1183-E1DCFCE0CEF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E7F58BFF-B8F4-D072-00A0-0E1110796E7A}"/>
              </a:ext>
            </a:extLst>
          </p:cNvPr>
          <p:cNvSpPr>
            <a:spLocks noGrp="1"/>
          </p:cNvSpPr>
          <p:nvPr>
            <p:ph type="dt" sz="half" idx="10"/>
          </p:nvPr>
        </p:nvSpPr>
        <p:spPr/>
        <p:txBody>
          <a:bodyPr/>
          <a:lstStyle/>
          <a:p>
            <a:fld id="{01FBF23C-1004-3B48-AF2D-2F370F991641}" type="datetimeFigureOut">
              <a:rPr lang="en-NL" smtClean="0"/>
              <a:t>05/03/2024</a:t>
            </a:fld>
            <a:endParaRPr lang="en-NL"/>
          </a:p>
        </p:txBody>
      </p:sp>
      <p:sp>
        <p:nvSpPr>
          <p:cNvPr id="5" name="Footer Placeholder 4">
            <a:extLst>
              <a:ext uri="{FF2B5EF4-FFF2-40B4-BE49-F238E27FC236}">
                <a16:creationId xmlns:a16="http://schemas.microsoft.com/office/drawing/2014/main" id="{21ECA2AD-51BA-3B6B-43E8-8B892FE8EF4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F1130CC7-9C88-7820-A709-495B0FE293D7}"/>
              </a:ext>
            </a:extLst>
          </p:cNvPr>
          <p:cNvSpPr>
            <a:spLocks noGrp="1"/>
          </p:cNvSpPr>
          <p:nvPr>
            <p:ph type="sldNum" sz="quarter" idx="12"/>
          </p:nvPr>
        </p:nvSpPr>
        <p:spPr/>
        <p:txBody>
          <a:bodyPr/>
          <a:lstStyle/>
          <a:p>
            <a:fld id="{175A89B5-C718-C840-A7A1-7B110CE065BF}" type="slidenum">
              <a:rPr lang="en-NL" smtClean="0"/>
              <a:t>‹#›</a:t>
            </a:fld>
            <a:endParaRPr lang="en-NL"/>
          </a:p>
        </p:txBody>
      </p:sp>
    </p:spTree>
    <p:extLst>
      <p:ext uri="{BB962C8B-B14F-4D97-AF65-F5344CB8AC3E}">
        <p14:creationId xmlns:p14="http://schemas.microsoft.com/office/powerpoint/2010/main" val="52910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26202-6B69-FFB9-32CE-0833BDDC112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NL"/>
          </a:p>
        </p:txBody>
      </p:sp>
      <p:sp>
        <p:nvSpPr>
          <p:cNvPr id="3" name="Text Placeholder 2">
            <a:extLst>
              <a:ext uri="{FF2B5EF4-FFF2-40B4-BE49-F238E27FC236}">
                <a16:creationId xmlns:a16="http://schemas.microsoft.com/office/drawing/2014/main" id="{4F4DF988-AE93-F865-8778-A16DE1EA8C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283226B-7B1A-7040-F0B3-C9022CA40265}"/>
              </a:ext>
            </a:extLst>
          </p:cNvPr>
          <p:cNvSpPr>
            <a:spLocks noGrp="1"/>
          </p:cNvSpPr>
          <p:nvPr>
            <p:ph type="dt" sz="half" idx="10"/>
          </p:nvPr>
        </p:nvSpPr>
        <p:spPr/>
        <p:txBody>
          <a:bodyPr/>
          <a:lstStyle/>
          <a:p>
            <a:fld id="{01FBF23C-1004-3B48-AF2D-2F370F991641}" type="datetimeFigureOut">
              <a:rPr lang="en-NL" smtClean="0"/>
              <a:t>05/03/2024</a:t>
            </a:fld>
            <a:endParaRPr lang="en-NL"/>
          </a:p>
        </p:txBody>
      </p:sp>
      <p:sp>
        <p:nvSpPr>
          <p:cNvPr id="5" name="Footer Placeholder 4">
            <a:extLst>
              <a:ext uri="{FF2B5EF4-FFF2-40B4-BE49-F238E27FC236}">
                <a16:creationId xmlns:a16="http://schemas.microsoft.com/office/drawing/2014/main" id="{1E378148-0C2B-20F5-399B-D06F4FA57D6A}"/>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F140A719-0289-B9F4-B8C5-E30C52A4ABA8}"/>
              </a:ext>
            </a:extLst>
          </p:cNvPr>
          <p:cNvSpPr>
            <a:spLocks noGrp="1"/>
          </p:cNvSpPr>
          <p:nvPr>
            <p:ph type="sldNum" sz="quarter" idx="12"/>
          </p:nvPr>
        </p:nvSpPr>
        <p:spPr/>
        <p:txBody>
          <a:bodyPr/>
          <a:lstStyle/>
          <a:p>
            <a:fld id="{175A89B5-C718-C840-A7A1-7B110CE065BF}" type="slidenum">
              <a:rPr lang="en-NL" smtClean="0"/>
              <a:t>‹#›</a:t>
            </a:fld>
            <a:endParaRPr lang="en-NL"/>
          </a:p>
        </p:txBody>
      </p:sp>
    </p:spTree>
    <p:extLst>
      <p:ext uri="{BB962C8B-B14F-4D97-AF65-F5344CB8AC3E}">
        <p14:creationId xmlns:p14="http://schemas.microsoft.com/office/powerpoint/2010/main" val="460083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76DE3-00C9-8481-4410-449A3F75E8A3}"/>
              </a:ext>
            </a:extLst>
          </p:cNvPr>
          <p:cNvSpPr>
            <a:spLocks noGrp="1"/>
          </p:cNvSpPr>
          <p:nvPr>
            <p:ph type="title"/>
          </p:nvPr>
        </p:nvSpPr>
        <p:spPr/>
        <p:txBody>
          <a:bodyPr/>
          <a:lstStyle/>
          <a:p>
            <a:r>
              <a:rPr lang="en-GB"/>
              <a:t>Click to edit Master title style</a:t>
            </a:r>
            <a:endParaRPr lang="en-NL"/>
          </a:p>
        </p:txBody>
      </p:sp>
      <p:sp>
        <p:nvSpPr>
          <p:cNvPr id="3" name="Content Placeholder 2">
            <a:extLst>
              <a:ext uri="{FF2B5EF4-FFF2-40B4-BE49-F238E27FC236}">
                <a16:creationId xmlns:a16="http://schemas.microsoft.com/office/drawing/2014/main" id="{98737A73-4F55-21BA-AD44-1CEBA1ECC99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Content Placeholder 3">
            <a:extLst>
              <a:ext uri="{FF2B5EF4-FFF2-40B4-BE49-F238E27FC236}">
                <a16:creationId xmlns:a16="http://schemas.microsoft.com/office/drawing/2014/main" id="{19C2A63B-14A5-4D84-A4DF-251172F57AA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5" name="Date Placeholder 4">
            <a:extLst>
              <a:ext uri="{FF2B5EF4-FFF2-40B4-BE49-F238E27FC236}">
                <a16:creationId xmlns:a16="http://schemas.microsoft.com/office/drawing/2014/main" id="{BD7E9C72-C1DB-B734-AEE9-5CAE96E9D2B9}"/>
              </a:ext>
            </a:extLst>
          </p:cNvPr>
          <p:cNvSpPr>
            <a:spLocks noGrp="1"/>
          </p:cNvSpPr>
          <p:nvPr>
            <p:ph type="dt" sz="half" idx="10"/>
          </p:nvPr>
        </p:nvSpPr>
        <p:spPr/>
        <p:txBody>
          <a:bodyPr/>
          <a:lstStyle/>
          <a:p>
            <a:fld id="{01FBF23C-1004-3B48-AF2D-2F370F991641}" type="datetimeFigureOut">
              <a:rPr lang="en-NL" smtClean="0"/>
              <a:t>05/03/2024</a:t>
            </a:fld>
            <a:endParaRPr lang="en-NL"/>
          </a:p>
        </p:txBody>
      </p:sp>
      <p:sp>
        <p:nvSpPr>
          <p:cNvPr id="6" name="Footer Placeholder 5">
            <a:extLst>
              <a:ext uri="{FF2B5EF4-FFF2-40B4-BE49-F238E27FC236}">
                <a16:creationId xmlns:a16="http://schemas.microsoft.com/office/drawing/2014/main" id="{B62BFDC4-6B54-67A6-73D4-C0791A646C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71F080DE-490B-0DB2-5235-BFE768259CA9}"/>
              </a:ext>
            </a:extLst>
          </p:cNvPr>
          <p:cNvSpPr>
            <a:spLocks noGrp="1"/>
          </p:cNvSpPr>
          <p:nvPr>
            <p:ph type="sldNum" sz="quarter" idx="12"/>
          </p:nvPr>
        </p:nvSpPr>
        <p:spPr/>
        <p:txBody>
          <a:bodyPr/>
          <a:lstStyle/>
          <a:p>
            <a:fld id="{175A89B5-C718-C840-A7A1-7B110CE065BF}" type="slidenum">
              <a:rPr lang="en-NL" smtClean="0"/>
              <a:t>‹#›</a:t>
            </a:fld>
            <a:endParaRPr lang="en-NL"/>
          </a:p>
        </p:txBody>
      </p:sp>
    </p:spTree>
    <p:extLst>
      <p:ext uri="{BB962C8B-B14F-4D97-AF65-F5344CB8AC3E}">
        <p14:creationId xmlns:p14="http://schemas.microsoft.com/office/powerpoint/2010/main" val="2317052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21B5B-6693-ABED-DD2A-0DB5D70128FF}"/>
              </a:ext>
            </a:extLst>
          </p:cNvPr>
          <p:cNvSpPr>
            <a:spLocks noGrp="1"/>
          </p:cNvSpPr>
          <p:nvPr>
            <p:ph type="title"/>
          </p:nvPr>
        </p:nvSpPr>
        <p:spPr>
          <a:xfrm>
            <a:off x="839788" y="365125"/>
            <a:ext cx="10515600" cy="1325563"/>
          </a:xfrm>
        </p:spPr>
        <p:txBody>
          <a:bodyPr/>
          <a:lstStyle/>
          <a:p>
            <a:r>
              <a:rPr lang="en-GB"/>
              <a:t>Click to edit Master title style</a:t>
            </a:r>
            <a:endParaRPr lang="en-NL"/>
          </a:p>
        </p:txBody>
      </p:sp>
      <p:sp>
        <p:nvSpPr>
          <p:cNvPr id="3" name="Text Placeholder 2">
            <a:extLst>
              <a:ext uri="{FF2B5EF4-FFF2-40B4-BE49-F238E27FC236}">
                <a16:creationId xmlns:a16="http://schemas.microsoft.com/office/drawing/2014/main" id="{2EDDB379-E76F-496B-E6AB-31BCC6C583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491253D-2D19-A894-8FBE-CF10A49B21B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5" name="Text Placeholder 4">
            <a:extLst>
              <a:ext uri="{FF2B5EF4-FFF2-40B4-BE49-F238E27FC236}">
                <a16:creationId xmlns:a16="http://schemas.microsoft.com/office/drawing/2014/main" id="{B941992D-6B67-0FDD-7810-A8289E8739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202D9AB-B923-8DEE-B956-422B3F70303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7" name="Date Placeholder 6">
            <a:extLst>
              <a:ext uri="{FF2B5EF4-FFF2-40B4-BE49-F238E27FC236}">
                <a16:creationId xmlns:a16="http://schemas.microsoft.com/office/drawing/2014/main" id="{F7440080-84F9-C5CB-9803-68C63B75707A}"/>
              </a:ext>
            </a:extLst>
          </p:cNvPr>
          <p:cNvSpPr>
            <a:spLocks noGrp="1"/>
          </p:cNvSpPr>
          <p:nvPr>
            <p:ph type="dt" sz="half" idx="10"/>
          </p:nvPr>
        </p:nvSpPr>
        <p:spPr/>
        <p:txBody>
          <a:bodyPr/>
          <a:lstStyle/>
          <a:p>
            <a:fld id="{01FBF23C-1004-3B48-AF2D-2F370F991641}" type="datetimeFigureOut">
              <a:rPr lang="en-NL" smtClean="0"/>
              <a:t>05/03/2024</a:t>
            </a:fld>
            <a:endParaRPr lang="en-NL"/>
          </a:p>
        </p:txBody>
      </p:sp>
      <p:sp>
        <p:nvSpPr>
          <p:cNvPr id="8" name="Footer Placeholder 7">
            <a:extLst>
              <a:ext uri="{FF2B5EF4-FFF2-40B4-BE49-F238E27FC236}">
                <a16:creationId xmlns:a16="http://schemas.microsoft.com/office/drawing/2014/main" id="{BB8BDC06-E83B-D56B-8A6F-169680A04039}"/>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8F78D1C3-956B-E10A-EA3E-34D00553D247}"/>
              </a:ext>
            </a:extLst>
          </p:cNvPr>
          <p:cNvSpPr>
            <a:spLocks noGrp="1"/>
          </p:cNvSpPr>
          <p:nvPr>
            <p:ph type="sldNum" sz="quarter" idx="12"/>
          </p:nvPr>
        </p:nvSpPr>
        <p:spPr/>
        <p:txBody>
          <a:bodyPr/>
          <a:lstStyle/>
          <a:p>
            <a:fld id="{175A89B5-C718-C840-A7A1-7B110CE065BF}" type="slidenum">
              <a:rPr lang="en-NL" smtClean="0"/>
              <a:t>‹#›</a:t>
            </a:fld>
            <a:endParaRPr lang="en-NL"/>
          </a:p>
        </p:txBody>
      </p:sp>
    </p:spTree>
    <p:extLst>
      <p:ext uri="{BB962C8B-B14F-4D97-AF65-F5344CB8AC3E}">
        <p14:creationId xmlns:p14="http://schemas.microsoft.com/office/powerpoint/2010/main" val="3310941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4FD6F-48D4-C0F4-18A3-BF82D66E3AD4}"/>
              </a:ext>
            </a:extLst>
          </p:cNvPr>
          <p:cNvSpPr>
            <a:spLocks noGrp="1"/>
          </p:cNvSpPr>
          <p:nvPr>
            <p:ph type="title"/>
          </p:nvPr>
        </p:nvSpPr>
        <p:spPr/>
        <p:txBody>
          <a:bodyPr/>
          <a:lstStyle/>
          <a:p>
            <a:r>
              <a:rPr lang="en-GB"/>
              <a:t>Click to edit Master title style</a:t>
            </a:r>
            <a:endParaRPr lang="en-NL"/>
          </a:p>
        </p:txBody>
      </p:sp>
      <p:sp>
        <p:nvSpPr>
          <p:cNvPr id="3" name="Date Placeholder 2">
            <a:extLst>
              <a:ext uri="{FF2B5EF4-FFF2-40B4-BE49-F238E27FC236}">
                <a16:creationId xmlns:a16="http://schemas.microsoft.com/office/drawing/2014/main" id="{A4C10059-4317-FCF5-66EC-AA2EC21898EB}"/>
              </a:ext>
            </a:extLst>
          </p:cNvPr>
          <p:cNvSpPr>
            <a:spLocks noGrp="1"/>
          </p:cNvSpPr>
          <p:nvPr>
            <p:ph type="dt" sz="half" idx="10"/>
          </p:nvPr>
        </p:nvSpPr>
        <p:spPr/>
        <p:txBody>
          <a:bodyPr/>
          <a:lstStyle/>
          <a:p>
            <a:fld id="{01FBF23C-1004-3B48-AF2D-2F370F991641}" type="datetimeFigureOut">
              <a:rPr lang="en-NL" smtClean="0"/>
              <a:t>05/03/2024</a:t>
            </a:fld>
            <a:endParaRPr lang="en-NL"/>
          </a:p>
        </p:txBody>
      </p:sp>
      <p:sp>
        <p:nvSpPr>
          <p:cNvPr id="4" name="Footer Placeholder 3">
            <a:extLst>
              <a:ext uri="{FF2B5EF4-FFF2-40B4-BE49-F238E27FC236}">
                <a16:creationId xmlns:a16="http://schemas.microsoft.com/office/drawing/2014/main" id="{24568E57-DC65-9F64-E609-4C5A5C56A21C}"/>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1C196EE1-8BB9-AFE6-C194-D9D9125329BA}"/>
              </a:ext>
            </a:extLst>
          </p:cNvPr>
          <p:cNvSpPr>
            <a:spLocks noGrp="1"/>
          </p:cNvSpPr>
          <p:nvPr>
            <p:ph type="sldNum" sz="quarter" idx="12"/>
          </p:nvPr>
        </p:nvSpPr>
        <p:spPr/>
        <p:txBody>
          <a:bodyPr/>
          <a:lstStyle/>
          <a:p>
            <a:fld id="{175A89B5-C718-C840-A7A1-7B110CE065BF}" type="slidenum">
              <a:rPr lang="en-NL" smtClean="0"/>
              <a:t>‹#›</a:t>
            </a:fld>
            <a:endParaRPr lang="en-NL"/>
          </a:p>
        </p:txBody>
      </p:sp>
    </p:spTree>
    <p:extLst>
      <p:ext uri="{BB962C8B-B14F-4D97-AF65-F5344CB8AC3E}">
        <p14:creationId xmlns:p14="http://schemas.microsoft.com/office/powerpoint/2010/main" val="3447872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05D7CA-75FE-EDF0-20F2-16EFF16F716B}"/>
              </a:ext>
            </a:extLst>
          </p:cNvPr>
          <p:cNvSpPr>
            <a:spLocks noGrp="1"/>
          </p:cNvSpPr>
          <p:nvPr>
            <p:ph type="dt" sz="half" idx="10"/>
          </p:nvPr>
        </p:nvSpPr>
        <p:spPr/>
        <p:txBody>
          <a:bodyPr/>
          <a:lstStyle/>
          <a:p>
            <a:fld id="{01FBF23C-1004-3B48-AF2D-2F370F991641}" type="datetimeFigureOut">
              <a:rPr lang="en-NL" smtClean="0"/>
              <a:t>05/03/2024</a:t>
            </a:fld>
            <a:endParaRPr lang="en-NL"/>
          </a:p>
        </p:txBody>
      </p:sp>
      <p:sp>
        <p:nvSpPr>
          <p:cNvPr id="3" name="Footer Placeholder 2">
            <a:extLst>
              <a:ext uri="{FF2B5EF4-FFF2-40B4-BE49-F238E27FC236}">
                <a16:creationId xmlns:a16="http://schemas.microsoft.com/office/drawing/2014/main" id="{648E92EB-600F-D395-C611-C64413BF9388}"/>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03861C63-04A8-27F5-D2A3-67E8ED2D172A}"/>
              </a:ext>
            </a:extLst>
          </p:cNvPr>
          <p:cNvSpPr>
            <a:spLocks noGrp="1"/>
          </p:cNvSpPr>
          <p:nvPr>
            <p:ph type="sldNum" sz="quarter" idx="12"/>
          </p:nvPr>
        </p:nvSpPr>
        <p:spPr/>
        <p:txBody>
          <a:bodyPr/>
          <a:lstStyle/>
          <a:p>
            <a:fld id="{175A89B5-C718-C840-A7A1-7B110CE065BF}" type="slidenum">
              <a:rPr lang="en-NL" smtClean="0"/>
              <a:t>‹#›</a:t>
            </a:fld>
            <a:endParaRPr lang="en-NL"/>
          </a:p>
        </p:txBody>
      </p:sp>
    </p:spTree>
    <p:extLst>
      <p:ext uri="{BB962C8B-B14F-4D97-AF65-F5344CB8AC3E}">
        <p14:creationId xmlns:p14="http://schemas.microsoft.com/office/powerpoint/2010/main" val="4143312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C90BA-EE2B-E4AC-7949-A58F8AC0F24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L"/>
          </a:p>
        </p:txBody>
      </p:sp>
      <p:sp>
        <p:nvSpPr>
          <p:cNvPr id="3" name="Content Placeholder 2">
            <a:extLst>
              <a:ext uri="{FF2B5EF4-FFF2-40B4-BE49-F238E27FC236}">
                <a16:creationId xmlns:a16="http://schemas.microsoft.com/office/drawing/2014/main" id="{C80AF893-762A-8649-35A9-27C8E40A9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Text Placeholder 3">
            <a:extLst>
              <a:ext uri="{FF2B5EF4-FFF2-40B4-BE49-F238E27FC236}">
                <a16:creationId xmlns:a16="http://schemas.microsoft.com/office/drawing/2014/main" id="{E84108B2-B4AC-3DC9-50F2-77ECC4E973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6F35F76-54E0-63D1-F259-12326C7D4D64}"/>
              </a:ext>
            </a:extLst>
          </p:cNvPr>
          <p:cNvSpPr>
            <a:spLocks noGrp="1"/>
          </p:cNvSpPr>
          <p:nvPr>
            <p:ph type="dt" sz="half" idx="10"/>
          </p:nvPr>
        </p:nvSpPr>
        <p:spPr/>
        <p:txBody>
          <a:bodyPr/>
          <a:lstStyle/>
          <a:p>
            <a:fld id="{01FBF23C-1004-3B48-AF2D-2F370F991641}" type="datetimeFigureOut">
              <a:rPr lang="en-NL" smtClean="0"/>
              <a:t>05/03/2024</a:t>
            </a:fld>
            <a:endParaRPr lang="en-NL"/>
          </a:p>
        </p:txBody>
      </p:sp>
      <p:sp>
        <p:nvSpPr>
          <p:cNvPr id="6" name="Footer Placeholder 5">
            <a:extLst>
              <a:ext uri="{FF2B5EF4-FFF2-40B4-BE49-F238E27FC236}">
                <a16:creationId xmlns:a16="http://schemas.microsoft.com/office/drawing/2014/main" id="{AB8D7254-0EE9-5FB9-8AA9-EA5F9E5DD77F}"/>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D8F7823A-CCF3-93B2-3E05-59FC462275E1}"/>
              </a:ext>
            </a:extLst>
          </p:cNvPr>
          <p:cNvSpPr>
            <a:spLocks noGrp="1"/>
          </p:cNvSpPr>
          <p:nvPr>
            <p:ph type="sldNum" sz="quarter" idx="12"/>
          </p:nvPr>
        </p:nvSpPr>
        <p:spPr/>
        <p:txBody>
          <a:bodyPr/>
          <a:lstStyle/>
          <a:p>
            <a:fld id="{175A89B5-C718-C840-A7A1-7B110CE065BF}" type="slidenum">
              <a:rPr lang="en-NL" smtClean="0"/>
              <a:t>‹#›</a:t>
            </a:fld>
            <a:endParaRPr lang="en-NL"/>
          </a:p>
        </p:txBody>
      </p:sp>
    </p:spTree>
    <p:extLst>
      <p:ext uri="{BB962C8B-B14F-4D97-AF65-F5344CB8AC3E}">
        <p14:creationId xmlns:p14="http://schemas.microsoft.com/office/powerpoint/2010/main" val="2868628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4635-0440-5EB3-BEB8-11DA5703352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L"/>
          </a:p>
        </p:txBody>
      </p:sp>
      <p:sp>
        <p:nvSpPr>
          <p:cNvPr id="3" name="Picture Placeholder 2">
            <a:extLst>
              <a:ext uri="{FF2B5EF4-FFF2-40B4-BE49-F238E27FC236}">
                <a16:creationId xmlns:a16="http://schemas.microsoft.com/office/drawing/2014/main" id="{F08E57EC-6CE4-E60A-39B0-D41EF5436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B6A7F9B6-67BB-0A97-FC4E-5C0B9B4904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19E3243-9F6D-A027-9E14-E15E6D2AE867}"/>
              </a:ext>
            </a:extLst>
          </p:cNvPr>
          <p:cNvSpPr>
            <a:spLocks noGrp="1"/>
          </p:cNvSpPr>
          <p:nvPr>
            <p:ph type="dt" sz="half" idx="10"/>
          </p:nvPr>
        </p:nvSpPr>
        <p:spPr/>
        <p:txBody>
          <a:bodyPr/>
          <a:lstStyle/>
          <a:p>
            <a:fld id="{01FBF23C-1004-3B48-AF2D-2F370F991641}" type="datetimeFigureOut">
              <a:rPr lang="en-NL" smtClean="0"/>
              <a:t>05/03/2024</a:t>
            </a:fld>
            <a:endParaRPr lang="en-NL"/>
          </a:p>
        </p:txBody>
      </p:sp>
      <p:sp>
        <p:nvSpPr>
          <p:cNvPr id="6" name="Footer Placeholder 5">
            <a:extLst>
              <a:ext uri="{FF2B5EF4-FFF2-40B4-BE49-F238E27FC236}">
                <a16:creationId xmlns:a16="http://schemas.microsoft.com/office/drawing/2014/main" id="{F10FC0A9-673D-EA29-99F5-5B990F082C8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0B1E12F0-7CE0-6965-BBBE-F9FF0758E337}"/>
              </a:ext>
            </a:extLst>
          </p:cNvPr>
          <p:cNvSpPr>
            <a:spLocks noGrp="1"/>
          </p:cNvSpPr>
          <p:nvPr>
            <p:ph type="sldNum" sz="quarter" idx="12"/>
          </p:nvPr>
        </p:nvSpPr>
        <p:spPr/>
        <p:txBody>
          <a:bodyPr/>
          <a:lstStyle/>
          <a:p>
            <a:fld id="{175A89B5-C718-C840-A7A1-7B110CE065BF}" type="slidenum">
              <a:rPr lang="en-NL" smtClean="0"/>
              <a:t>‹#›</a:t>
            </a:fld>
            <a:endParaRPr lang="en-NL"/>
          </a:p>
        </p:txBody>
      </p:sp>
    </p:spTree>
    <p:extLst>
      <p:ext uri="{BB962C8B-B14F-4D97-AF65-F5344CB8AC3E}">
        <p14:creationId xmlns:p14="http://schemas.microsoft.com/office/powerpoint/2010/main" val="3862184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C42FE-48E3-FDB4-78A2-51469F8296B0}"/>
              </a:ext>
            </a:extLst>
          </p:cNvPr>
          <p:cNvSpPr>
            <a:spLocks noGrp="1"/>
          </p:cNvSpPr>
          <p:nvPr>
            <p:ph type="title"/>
          </p:nvPr>
        </p:nvSpPr>
        <p:spPr/>
        <p:txBody>
          <a:bodyPr/>
          <a:lstStyle/>
          <a:p>
            <a:r>
              <a:rPr lang="en-GB"/>
              <a:t>Click to edit Master title style</a:t>
            </a:r>
            <a:endParaRPr lang="en-NL"/>
          </a:p>
        </p:txBody>
      </p:sp>
      <p:sp>
        <p:nvSpPr>
          <p:cNvPr id="3" name="Vertical Text Placeholder 2">
            <a:extLst>
              <a:ext uri="{FF2B5EF4-FFF2-40B4-BE49-F238E27FC236}">
                <a16:creationId xmlns:a16="http://schemas.microsoft.com/office/drawing/2014/main" id="{AFE9A468-A822-B25A-4C49-71679E3BDCC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9A66D362-F98F-0B36-1BA8-47907A2BEFDE}"/>
              </a:ext>
            </a:extLst>
          </p:cNvPr>
          <p:cNvSpPr>
            <a:spLocks noGrp="1"/>
          </p:cNvSpPr>
          <p:nvPr>
            <p:ph type="dt" sz="half" idx="10"/>
          </p:nvPr>
        </p:nvSpPr>
        <p:spPr/>
        <p:txBody>
          <a:bodyPr/>
          <a:lstStyle/>
          <a:p>
            <a:fld id="{01FBF23C-1004-3B48-AF2D-2F370F991641}" type="datetimeFigureOut">
              <a:rPr lang="en-NL" smtClean="0"/>
              <a:t>05/03/2024</a:t>
            </a:fld>
            <a:endParaRPr lang="en-NL"/>
          </a:p>
        </p:txBody>
      </p:sp>
      <p:sp>
        <p:nvSpPr>
          <p:cNvPr id="5" name="Footer Placeholder 4">
            <a:extLst>
              <a:ext uri="{FF2B5EF4-FFF2-40B4-BE49-F238E27FC236}">
                <a16:creationId xmlns:a16="http://schemas.microsoft.com/office/drawing/2014/main" id="{E4E4C143-3B88-8BC9-0292-063E39711EFF}"/>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ECE9A0E-198B-B774-C343-C9CE3FDC809A}"/>
              </a:ext>
            </a:extLst>
          </p:cNvPr>
          <p:cNvSpPr>
            <a:spLocks noGrp="1"/>
          </p:cNvSpPr>
          <p:nvPr>
            <p:ph type="sldNum" sz="quarter" idx="12"/>
          </p:nvPr>
        </p:nvSpPr>
        <p:spPr/>
        <p:txBody>
          <a:bodyPr/>
          <a:lstStyle/>
          <a:p>
            <a:fld id="{175A89B5-C718-C840-A7A1-7B110CE065BF}" type="slidenum">
              <a:rPr lang="en-NL" smtClean="0"/>
              <a:t>‹#›</a:t>
            </a:fld>
            <a:endParaRPr lang="en-NL"/>
          </a:p>
        </p:txBody>
      </p:sp>
    </p:spTree>
    <p:extLst>
      <p:ext uri="{BB962C8B-B14F-4D97-AF65-F5344CB8AC3E}">
        <p14:creationId xmlns:p14="http://schemas.microsoft.com/office/powerpoint/2010/main" val="1410652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767B2F-8FB1-4DD9-C3DE-F524ED3ECD4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NL"/>
          </a:p>
        </p:txBody>
      </p:sp>
      <p:sp>
        <p:nvSpPr>
          <p:cNvPr id="3" name="Vertical Text Placeholder 2">
            <a:extLst>
              <a:ext uri="{FF2B5EF4-FFF2-40B4-BE49-F238E27FC236}">
                <a16:creationId xmlns:a16="http://schemas.microsoft.com/office/drawing/2014/main" id="{4CD59331-56ED-18D8-0B3D-E894A1501DF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2EE256F9-615D-561D-C6CC-AF1D5F41B112}"/>
              </a:ext>
            </a:extLst>
          </p:cNvPr>
          <p:cNvSpPr>
            <a:spLocks noGrp="1"/>
          </p:cNvSpPr>
          <p:nvPr>
            <p:ph type="dt" sz="half" idx="10"/>
          </p:nvPr>
        </p:nvSpPr>
        <p:spPr/>
        <p:txBody>
          <a:bodyPr/>
          <a:lstStyle/>
          <a:p>
            <a:fld id="{01FBF23C-1004-3B48-AF2D-2F370F991641}" type="datetimeFigureOut">
              <a:rPr lang="en-NL" smtClean="0"/>
              <a:t>05/03/2024</a:t>
            </a:fld>
            <a:endParaRPr lang="en-NL"/>
          </a:p>
        </p:txBody>
      </p:sp>
      <p:sp>
        <p:nvSpPr>
          <p:cNvPr id="5" name="Footer Placeholder 4">
            <a:extLst>
              <a:ext uri="{FF2B5EF4-FFF2-40B4-BE49-F238E27FC236}">
                <a16:creationId xmlns:a16="http://schemas.microsoft.com/office/drawing/2014/main" id="{C33D586E-F7B1-98E1-C7F9-5D67076AF92A}"/>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01224DE-CDCE-61B7-62FE-9F5F680BF214}"/>
              </a:ext>
            </a:extLst>
          </p:cNvPr>
          <p:cNvSpPr>
            <a:spLocks noGrp="1"/>
          </p:cNvSpPr>
          <p:nvPr>
            <p:ph type="sldNum" sz="quarter" idx="12"/>
          </p:nvPr>
        </p:nvSpPr>
        <p:spPr/>
        <p:txBody>
          <a:bodyPr/>
          <a:lstStyle/>
          <a:p>
            <a:fld id="{175A89B5-C718-C840-A7A1-7B110CE065BF}" type="slidenum">
              <a:rPr lang="en-NL" smtClean="0"/>
              <a:t>‹#›</a:t>
            </a:fld>
            <a:endParaRPr lang="en-NL"/>
          </a:p>
        </p:txBody>
      </p:sp>
    </p:spTree>
    <p:extLst>
      <p:ext uri="{BB962C8B-B14F-4D97-AF65-F5344CB8AC3E}">
        <p14:creationId xmlns:p14="http://schemas.microsoft.com/office/powerpoint/2010/main" val="911249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D03360-199A-A017-9973-65B57BECD7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NL"/>
          </a:p>
        </p:txBody>
      </p:sp>
      <p:sp>
        <p:nvSpPr>
          <p:cNvPr id="3" name="Text Placeholder 2">
            <a:extLst>
              <a:ext uri="{FF2B5EF4-FFF2-40B4-BE49-F238E27FC236}">
                <a16:creationId xmlns:a16="http://schemas.microsoft.com/office/drawing/2014/main" id="{809B98AC-6472-7F67-50BA-F6C04F1973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A0ECB6AF-8A13-BC42-0F0E-C8D638E031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BF23C-1004-3B48-AF2D-2F370F991641}" type="datetimeFigureOut">
              <a:rPr lang="en-NL" smtClean="0"/>
              <a:t>05/03/2024</a:t>
            </a:fld>
            <a:endParaRPr lang="en-NL"/>
          </a:p>
        </p:txBody>
      </p:sp>
      <p:sp>
        <p:nvSpPr>
          <p:cNvPr id="5" name="Footer Placeholder 4">
            <a:extLst>
              <a:ext uri="{FF2B5EF4-FFF2-40B4-BE49-F238E27FC236}">
                <a16:creationId xmlns:a16="http://schemas.microsoft.com/office/drawing/2014/main" id="{24F4AAA3-FDCA-5405-B149-61733F8FCF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L"/>
          </a:p>
        </p:txBody>
      </p:sp>
      <p:sp>
        <p:nvSpPr>
          <p:cNvPr id="6" name="Slide Number Placeholder 5">
            <a:extLst>
              <a:ext uri="{FF2B5EF4-FFF2-40B4-BE49-F238E27FC236}">
                <a16:creationId xmlns:a16="http://schemas.microsoft.com/office/drawing/2014/main" id="{024458F0-695E-2CA7-13BE-3B4615CB5A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5A89B5-C718-C840-A7A1-7B110CE065BF}" type="slidenum">
              <a:rPr lang="en-NL" smtClean="0"/>
              <a:t>‹#›</a:t>
            </a:fld>
            <a:endParaRPr lang="en-NL"/>
          </a:p>
        </p:txBody>
      </p:sp>
    </p:spTree>
    <p:extLst>
      <p:ext uri="{BB962C8B-B14F-4D97-AF65-F5344CB8AC3E}">
        <p14:creationId xmlns:p14="http://schemas.microsoft.com/office/powerpoint/2010/main" val="4092700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visualgo.net/en/sortin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3San3uKKHgg" TargetMode="External"/><Relationship Id="rId2" Type="http://schemas.openxmlformats.org/officeDocument/2006/relationships/hyperlink" Target="https://www.youtube.com/watch?v=dENca26N6V4"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3B30E7-F8EC-5B17-8ED5-0C2898CED8E2}"/>
              </a:ext>
            </a:extLst>
          </p:cNvPr>
          <p:cNvSpPr>
            <a:spLocks noGrp="1"/>
          </p:cNvSpPr>
          <p:nvPr>
            <p:ph idx="1"/>
          </p:nvPr>
        </p:nvSpPr>
        <p:spPr>
          <a:xfrm>
            <a:off x="897622" y="637563"/>
            <a:ext cx="10456178" cy="5539400"/>
          </a:xfrm>
        </p:spPr>
        <p:txBody>
          <a:bodyPr/>
          <a:lstStyle/>
          <a:p>
            <a:pPr marL="0" indent="0">
              <a:buNone/>
            </a:pPr>
            <a:r>
              <a:rPr lang="en-GB" i="1" dirty="0">
                <a:solidFill>
                  <a:srgbClr val="0D0D0D"/>
                </a:solidFill>
                <a:latin typeface="Times New Roman" panose="02020603050405020304" pitchFamily="18" charset="0"/>
                <a:cs typeface="Times New Roman" panose="02020603050405020304" pitchFamily="18" charset="0"/>
              </a:rPr>
              <a:t>late</a:t>
            </a:r>
            <a:r>
              <a:rPr lang="en-GB" b="0" i="1" dirty="0">
                <a:solidFill>
                  <a:srgbClr val="0D0D0D"/>
                </a:solidFill>
                <a:effectLst/>
                <a:latin typeface="Times New Roman" panose="02020603050405020304" pitchFamily="18" charset="0"/>
                <a:cs typeface="Times New Roman" panose="02020603050405020304" pitchFamily="18" charset="0"/>
              </a:rPr>
              <a:t> winter blossoms</a:t>
            </a:r>
            <a:br>
              <a:rPr lang="en-GB" i="1" dirty="0">
                <a:latin typeface="Times New Roman" panose="02020603050405020304" pitchFamily="18" charset="0"/>
                <a:cs typeface="Times New Roman" panose="02020603050405020304" pitchFamily="18" charset="0"/>
              </a:rPr>
            </a:br>
            <a:r>
              <a:rPr lang="en-GB" b="0" i="1" dirty="0">
                <a:solidFill>
                  <a:srgbClr val="0D0D0D"/>
                </a:solidFill>
                <a:effectLst/>
                <a:latin typeface="Times New Roman" panose="02020603050405020304" pitchFamily="18" charset="0"/>
                <a:cs typeface="Times New Roman" panose="02020603050405020304" pitchFamily="18" charset="0"/>
              </a:rPr>
              <a:t>crow perches on a bare branch</a:t>
            </a:r>
            <a:br>
              <a:rPr lang="en-GB" i="1" dirty="0">
                <a:latin typeface="Times New Roman" panose="02020603050405020304" pitchFamily="18" charset="0"/>
                <a:cs typeface="Times New Roman" panose="02020603050405020304" pitchFamily="18" charset="0"/>
              </a:rPr>
            </a:br>
            <a:r>
              <a:rPr lang="en-GB" b="0" i="1" dirty="0">
                <a:solidFill>
                  <a:srgbClr val="0D0D0D"/>
                </a:solidFill>
                <a:effectLst/>
                <a:latin typeface="Times New Roman" panose="02020603050405020304" pitchFamily="18" charset="0"/>
                <a:cs typeface="Times New Roman" panose="02020603050405020304" pitchFamily="18" charset="0"/>
              </a:rPr>
              <a:t>nature's calm order</a:t>
            </a:r>
            <a:endParaRPr lang="en-NL"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7168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7553D6A-8DF4-BD95-13C5-21502B8DF962}"/>
              </a:ext>
            </a:extLst>
          </p:cNvPr>
          <p:cNvGraphicFramePr>
            <a:graphicFrameLocks noGrp="1"/>
          </p:cNvGraphicFramePr>
          <p:nvPr>
            <p:extLst>
              <p:ext uri="{D42A27DB-BD31-4B8C-83A1-F6EECF244321}">
                <p14:modId xmlns:p14="http://schemas.microsoft.com/office/powerpoint/2010/main" val="506203199"/>
              </p:ext>
            </p:extLst>
          </p:nvPr>
        </p:nvGraphicFramePr>
        <p:xfrm>
          <a:off x="2323750" y="637563"/>
          <a:ext cx="7550092" cy="5670958"/>
        </p:xfrm>
        <a:graphic>
          <a:graphicData uri="http://schemas.openxmlformats.org/drawingml/2006/table">
            <a:tbl>
              <a:tblPr firstRow="1" firstCol="1">
                <a:tableStyleId>{69012ECD-51FC-41F1-AA8D-1B2483CD663E}</a:tableStyleId>
              </a:tblPr>
              <a:tblGrid>
                <a:gridCol w="2533476">
                  <a:extLst>
                    <a:ext uri="{9D8B030D-6E8A-4147-A177-3AD203B41FA5}">
                      <a16:colId xmlns:a16="http://schemas.microsoft.com/office/drawing/2014/main" val="1845519857"/>
                    </a:ext>
                  </a:extLst>
                </a:gridCol>
                <a:gridCol w="5016616">
                  <a:extLst>
                    <a:ext uri="{9D8B030D-6E8A-4147-A177-3AD203B41FA5}">
                      <a16:colId xmlns:a16="http://schemas.microsoft.com/office/drawing/2014/main" val="1849562371"/>
                    </a:ext>
                  </a:extLst>
                </a:gridCol>
              </a:tblGrid>
              <a:tr h="286629">
                <a:tc>
                  <a:txBody>
                    <a:bodyPr/>
                    <a:lstStyle/>
                    <a:p>
                      <a:pPr fontAlgn="b"/>
                      <a:r>
                        <a:rPr lang="en-GB" sz="1100" b="1">
                          <a:effectLst/>
                        </a:rPr>
                        <a:t>Application Area</a:t>
                      </a:r>
                    </a:p>
                  </a:txBody>
                  <a:tcPr marL="55080" marR="55080" marT="27540" marB="27540" anchor="b"/>
                </a:tc>
                <a:tc>
                  <a:txBody>
                    <a:bodyPr/>
                    <a:lstStyle/>
                    <a:p>
                      <a:pPr fontAlgn="b"/>
                      <a:r>
                        <a:rPr lang="en-GB" sz="1100" b="1">
                          <a:effectLst/>
                        </a:rPr>
                        <a:t>Description</a:t>
                      </a:r>
                    </a:p>
                  </a:txBody>
                  <a:tcPr marL="55080" marR="55080" marT="27540" marB="27540" anchor="b"/>
                </a:tc>
                <a:extLst>
                  <a:ext uri="{0D108BD9-81ED-4DB2-BD59-A6C34878D82A}">
                    <a16:rowId xmlns:a16="http://schemas.microsoft.com/office/drawing/2014/main" val="2234755315"/>
                  </a:ext>
                </a:extLst>
              </a:tr>
              <a:tr h="502373">
                <a:tc>
                  <a:txBody>
                    <a:bodyPr/>
                    <a:lstStyle/>
                    <a:p>
                      <a:pPr fontAlgn="base"/>
                      <a:r>
                        <a:rPr lang="en-GB" sz="1100" b="1">
                          <a:effectLst/>
                        </a:rPr>
                        <a:t>Search Optimization</a:t>
                      </a:r>
                      <a:endParaRPr lang="en-GB" sz="1100">
                        <a:effectLst/>
                      </a:endParaRPr>
                    </a:p>
                  </a:txBody>
                  <a:tcPr marL="55080" marR="55080" marT="27540" marB="27540" anchor="ctr"/>
                </a:tc>
                <a:tc>
                  <a:txBody>
                    <a:bodyPr/>
                    <a:lstStyle/>
                    <a:p>
                      <a:pPr fontAlgn="base"/>
                      <a:r>
                        <a:rPr lang="en-GB" sz="1100">
                          <a:effectLst/>
                        </a:rPr>
                        <a:t>Enables efficient algorithms like binary search.</a:t>
                      </a:r>
                    </a:p>
                  </a:txBody>
                  <a:tcPr marL="55080" marR="55080" marT="27540" marB="27540" anchor="ctr"/>
                </a:tc>
                <a:extLst>
                  <a:ext uri="{0D108BD9-81ED-4DB2-BD59-A6C34878D82A}">
                    <a16:rowId xmlns:a16="http://schemas.microsoft.com/office/drawing/2014/main" val="2161278808"/>
                  </a:ext>
                </a:extLst>
              </a:tr>
              <a:tr h="718116">
                <a:tc>
                  <a:txBody>
                    <a:bodyPr/>
                    <a:lstStyle/>
                    <a:p>
                      <a:pPr fontAlgn="base"/>
                      <a:r>
                        <a:rPr lang="en-GB" sz="1100" b="1" dirty="0">
                          <a:effectLst/>
                        </a:rPr>
                        <a:t>Data Organization</a:t>
                      </a:r>
                      <a:endParaRPr lang="en-GB" sz="1100" dirty="0">
                        <a:effectLst/>
                      </a:endParaRPr>
                    </a:p>
                  </a:txBody>
                  <a:tcPr marL="55080" marR="55080" marT="27540" marB="27540" anchor="ctr"/>
                </a:tc>
                <a:tc>
                  <a:txBody>
                    <a:bodyPr/>
                    <a:lstStyle/>
                    <a:p>
                      <a:pPr fontAlgn="base"/>
                      <a:r>
                        <a:rPr lang="en-GB" sz="1100">
                          <a:effectLst/>
                        </a:rPr>
                        <a:t>Critical for databases and file systems, facilitating quick data retrieval.</a:t>
                      </a:r>
                    </a:p>
                  </a:txBody>
                  <a:tcPr marL="55080" marR="55080" marT="27540" marB="27540" anchor="ctr"/>
                </a:tc>
                <a:extLst>
                  <a:ext uri="{0D108BD9-81ED-4DB2-BD59-A6C34878D82A}">
                    <a16:rowId xmlns:a16="http://schemas.microsoft.com/office/drawing/2014/main" val="3610294375"/>
                  </a:ext>
                </a:extLst>
              </a:tr>
              <a:tr h="718116">
                <a:tc>
                  <a:txBody>
                    <a:bodyPr/>
                    <a:lstStyle/>
                    <a:p>
                      <a:pPr fontAlgn="base"/>
                      <a:r>
                        <a:rPr lang="en-GB" sz="1100" b="1">
                          <a:effectLst/>
                        </a:rPr>
                        <a:t>Algorithm Efficiency</a:t>
                      </a:r>
                      <a:endParaRPr lang="en-GB" sz="1100">
                        <a:effectLst/>
                      </a:endParaRPr>
                    </a:p>
                  </a:txBody>
                  <a:tcPr marL="55080" marR="55080" marT="27540" marB="27540" anchor="ctr"/>
                </a:tc>
                <a:tc>
                  <a:txBody>
                    <a:bodyPr/>
                    <a:lstStyle/>
                    <a:p>
                      <a:pPr fontAlgn="base"/>
                      <a:r>
                        <a:rPr lang="en-GB" sz="1100">
                          <a:effectLst/>
                        </a:rPr>
                        <a:t>Enhances strategies in divide and conquer algorithms and graph algorithms.</a:t>
                      </a:r>
                    </a:p>
                  </a:txBody>
                  <a:tcPr marL="55080" marR="55080" marT="27540" marB="27540" anchor="ctr"/>
                </a:tc>
                <a:extLst>
                  <a:ext uri="{0D108BD9-81ED-4DB2-BD59-A6C34878D82A}">
                    <a16:rowId xmlns:a16="http://schemas.microsoft.com/office/drawing/2014/main" val="2128352039"/>
                  </a:ext>
                </a:extLst>
              </a:tr>
              <a:tr h="718116">
                <a:tc>
                  <a:txBody>
                    <a:bodyPr/>
                    <a:lstStyle/>
                    <a:p>
                      <a:pPr fontAlgn="base"/>
                      <a:r>
                        <a:rPr lang="en-GB" sz="1100" b="1">
                          <a:effectLst/>
                        </a:rPr>
                        <a:t>Data Compression</a:t>
                      </a:r>
                      <a:endParaRPr lang="en-GB" sz="1100">
                        <a:effectLst/>
                      </a:endParaRPr>
                    </a:p>
                  </a:txBody>
                  <a:tcPr marL="55080" marR="55080" marT="27540" marB="27540" anchor="ctr"/>
                </a:tc>
                <a:tc>
                  <a:txBody>
                    <a:bodyPr/>
                    <a:lstStyle/>
                    <a:p>
                      <a:pPr fontAlgn="base"/>
                      <a:r>
                        <a:rPr lang="en-GB" sz="1100">
                          <a:effectLst/>
                        </a:rPr>
                        <a:t>Groups similar data for more effective compression techniques.</a:t>
                      </a:r>
                    </a:p>
                  </a:txBody>
                  <a:tcPr marL="55080" marR="55080" marT="27540" marB="27540" anchor="ctr"/>
                </a:tc>
                <a:extLst>
                  <a:ext uri="{0D108BD9-81ED-4DB2-BD59-A6C34878D82A}">
                    <a16:rowId xmlns:a16="http://schemas.microsoft.com/office/drawing/2014/main" val="4227245409"/>
                  </a:ext>
                </a:extLst>
              </a:tr>
              <a:tr h="718116">
                <a:tc>
                  <a:txBody>
                    <a:bodyPr/>
                    <a:lstStyle/>
                    <a:p>
                      <a:pPr fontAlgn="base"/>
                      <a:r>
                        <a:rPr lang="en-GB" sz="1100" b="1">
                          <a:effectLst/>
                        </a:rPr>
                        <a:t>Statistical Analysis</a:t>
                      </a:r>
                      <a:endParaRPr lang="en-GB" sz="1100">
                        <a:effectLst/>
                      </a:endParaRPr>
                    </a:p>
                  </a:txBody>
                  <a:tcPr marL="55080" marR="55080" marT="27540" marB="27540" anchor="ctr"/>
                </a:tc>
                <a:tc>
                  <a:txBody>
                    <a:bodyPr/>
                    <a:lstStyle/>
                    <a:p>
                      <a:pPr fontAlgn="base"/>
                      <a:r>
                        <a:rPr lang="en-GB" sz="1100">
                          <a:effectLst/>
                        </a:rPr>
                        <a:t>Facilitates the calculation of statistics such as medians and quartiles.</a:t>
                      </a:r>
                    </a:p>
                  </a:txBody>
                  <a:tcPr marL="55080" marR="55080" marT="27540" marB="27540" anchor="ctr"/>
                </a:tc>
                <a:extLst>
                  <a:ext uri="{0D108BD9-81ED-4DB2-BD59-A6C34878D82A}">
                    <a16:rowId xmlns:a16="http://schemas.microsoft.com/office/drawing/2014/main" val="2567837821"/>
                  </a:ext>
                </a:extLst>
              </a:tr>
              <a:tr h="502373">
                <a:tc>
                  <a:txBody>
                    <a:bodyPr/>
                    <a:lstStyle/>
                    <a:p>
                      <a:pPr fontAlgn="base"/>
                      <a:r>
                        <a:rPr lang="en-GB" sz="1100" b="1">
                          <a:effectLst/>
                        </a:rPr>
                        <a:t>Machine Learning</a:t>
                      </a:r>
                      <a:endParaRPr lang="en-GB" sz="1100">
                        <a:effectLst/>
                      </a:endParaRPr>
                    </a:p>
                  </a:txBody>
                  <a:tcPr marL="55080" marR="55080" marT="27540" marB="27540" anchor="ctr"/>
                </a:tc>
                <a:tc>
                  <a:txBody>
                    <a:bodyPr/>
                    <a:lstStyle/>
                    <a:p>
                      <a:pPr fontAlgn="base"/>
                      <a:r>
                        <a:rPr lang="en-GB" sz="1100">
                          <a:effectLst/>
                        </a:rPr>
                        <a:t>Used in feature scaling and preprocessing for algorithms.</a:t>
                      </a:r>
                    </a:p>
                  </a:txBody>
                  <a:tcPr marL="55080" marR="55080" marT="27540" marB="27540" anchor="ctr"/>
                </a:tc>
                <a:extLst>
                  <a:ext uri="{0D108BD9-81ED-4DB2-BD59-A6C34878D82A}">
                    <a16:rowId xmlns:a16="http://schemas.microsoft.com/office/drawing/2014/main" val="95141951"/>
                  </a:ext>
                </a:extLst>
              </a:tr>
              <a:tr h="502373">
                <a:tc>
                  <a:txBody>
                    <a:bodyPr/>
                    <a:lstStyle/>
                    <a:p>
                      <a:pPr fontAlgn="base"/>
                      <a:r>
                        <a:rPr lang="en-GB" sz="1100" b="1">
                          <a:effectLst/>
                        </a:rPr>
                        <a:t>Rendering and Visualization</a:t>
                      </a:r>
                      <a:endParaRPr lang="en-GB" sz="1100">
                        <a:effectLst/>
                      </a:endParaRPr>
                    </a:p>
                  </a:txBody>
                  <a:tcPr marL="55080" marR="55080" marT="27540" marB="27540" anchor="ctr"/>
                </a:tc>
                <a:tc>
                  <a:txBody>
                    <a:bodyPr/>
                    <a:lstStyle/>
                    <a:p>
                      <a:pPr fontAlgn="base"/>
                      <a:r>
                        <a:rPr lang="en-GB" sz="1100">
                          <a:effectLst/>
                        </a:rPr>
                        <a:t>Essential for graphics rendering and coherent data visualizations.</a:t>
                      </a:r>
                    </a:p>
                  </a:txBody>
                  <a:tcPr marL="55080" marR="55080" marT="27540" marB="27540" anchor="ctr"/>
                </a:tc>
                <a:extLst>
                  <a:ext uri="{0D108BD9-81ED-4DB2-BD59-A6C34878D82A}">
                    <a16:rowId xmlns:a16="http://schemas.microsoft.com/office/drawing/2014/main" val="493887042"/>
                  </a:ext>
                </a:extLst>
              </a:tr>
              <a:tr h="502373">
                <a:tc>
                  <a:txBody>
                    <a:bodyPr/>
                    <a:lstStyle/>
                    <a:p>
                      <a:pPr fontAlgn="base"/>
                      <a:r>
                        <a:rPr lang="en-GB" sz="1100" b="1">
                          <a:effectLst/>
                        </a:rPr>
                        <a:t>Scheduling and Resource Allocation</a:t>
                      </a:r>
                      <a:endParaRPr lang="en-GB" sz="1100">
                        <a:effectLst/>
                      </a:endParaRPr>
                    </a:p>
                  </a:txBody>
                  <a:tcPr marL="55080" marR="55080" marT="27540" marB="27540" anchor="ctr"/>
                </a:tc>
                <a:tc>
                  <a:txBody>
                    <a:bodyPr/>
                    <a:lstStyle/>
                    <a:p>
                      <a:pPr fontAlgn="base"/>
                      <a:r>
                        <a:rPr lang="en-GB" sz="1100">
                          <a:effectLst/>
                        </a:rPr>
                        <a:t>Optimizes job scheduling and task prioritization.</a:t>
                      </a:r>
                    </a:p>
                  </a:txBody>
                  <a:tcPr marL="55080" marR="55080" marT="27540" marB="27540" anchor="ctr"/>
                </a:tc>
                <a:extLst>
                  <a:ext uri="{0D108BD9-81ED-4DB2-BD59-A6C34878D82A}">
                    <a16:rowId xmlns:a16="http://schemas.microsoft.com/office/drawing/2014/main" val="241938685"/>
                  </a:ext>
                </a:extLst>
              </a:tr>
              <a:tr h="502373">
                <a:tc>
                  <a:txBody>
                    <a:bodyPr/>
                    <a:lstStyle/>
                    <a:p>
                      <a:pPr fontAlgn="base"/>
                      <a:r>
                        <a:rPr lang="en-GB" sz="1100" b="1">
                          <a:effectLst/>
                        </a:rPr>
                        <a:t>Network Routing</a:t>
                      </a:r>
                      <a:endParaRPr lang="en-GB" sz="1100">
                        <a:effectLst/>
                      </a:endParaRPr>
                    </a:p>
                  </a:txBody>
                  <a:tcPr marL="55080" marR="55080" marT="27540" marB="27540" anchor="ctr"/>
                </a:tc>
                <a:tc>
                  <a:txBody>
                    <a:bodyPr/>
                    <a:lstStyle/>
                    <a:p>
                      <a:pPr fontAlgn="base"/>
                      <a:r>
                        <a:rPr lang="en-GB" sz="1100" dirty="0">
                          <a:effectLst/>
                        </a:rPr>
                        <a:t>Ensures correct packet sequencing in data transmission.</a:t>
                      </a:r>
                    </a:p>
                  </a:txBody>
                  <a:tcPr marL="55080" marR="55080" marT="27540" marB="27540" anchor="ctr"/>
                </a:tc>
                <a:extLst>
                  <a:ext uri="{0D108BD9-81ED-4DB2-BD59-A6C34878D82A}">
                    <a16:rowId xmlns:a16="http://schemas.microsoft.com/office/drawing/2014/main" val="800403787"/>
                  </a:ext>
                </a:extLst>
              </a:tr>
            </a:tbl>
          </a:graphicData>
        </a:graphic>
      </p:graphicFrame>
    </p:spTree>
    <p:extLst>
      <p:ext uri="{BB962C8B-B14F-4D97-AF65-F5344CB8AC3E}">
        <p14:creationId xmlns:p14="http://schemas.microsoft.com/office/powerpoint/2010/main" val="3746945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9BB29B-C1EE-9025-B277-FAC1CF2F50FC}"/>
              </a:ext>
            </a:extLst>
          </p:cNvPr>
          <p:cNvSpPr>
            <a:spLocks noGrp="1"/>
          </p:cNvSpPr>
          <p:nvPr>
            <p:ph idx="1"/>
          </p:nvPr>
        </p:nvSpPr>
        <p:spPr>
          <a:xfrm>
            <a:off x="838200" y="578840"/>
            <a:ext cx="10515600" cy="5598123"/>
          </a:xfrm>
        </p:spPr>
        <p:txBody>
          <a:bodyPr/>
          <a:lstStyle/>
          <a:p>
            <a:pPr marL="0" indent="0">
              <a:buNone/>
            </a:pPr>
            <a:r>
              <a:rPr lang="en-GB" b="0" i="0" dirty="0">
                <a:solidFill>
                  <a:srgbClr val="0D0D0D"/>
                </a:solidFill>
                <a:effectLst/>
                <a:latin typeface="Söhne"/>
              </a:rPr>
              <a:t>Problem: Find common elements between two sets of numbers</a:t>
            </a:r>
            <a:endParaRPr lang="en-NL" dirty="0"/>
          </a:p>
        </p:txBody>
      </p:sp>
      <p:pic>
        <p:nvPicPr>
          <p:cNvPr id="6" name="Picture 5">
            <a:extLst>
              <a:ext uri="{FF2B5EF4-FFF2-40B4-BE49-F238E27FC236}">
                <a16:creationId xmlns:a16="http://schemas.microsoft.com/office/drawing/2014/main" id="{A787881C-4AD5-4596-0F5F-A2CA6F8958B5}"/>
              </a:ext>
            </a:extLst>
          </p:cNvPr>
          <p:cNvPicPr>
            <a:picLocks noChangeAspect="1"/>
          </p:cNvPicPr>
          <p:nvPr/>
        </p:nvPicPr>
        <p:blipFill>
          <a:blip r:embed="rId3"/>
          <a:stretch>
            <a:fillRect/>
          </a:stretch>
        </p:blipFill>
        <p:spPr>
          <a:xfrm>
            <a:off x="2209800" y="1511909"/>
            <a:ext cx="7772400" cy="2512406"/>
          </a:xfrm>
          <a:prstGeom prst="rect">
            <a:avLst/>
          </a:prstGeom>
        </p:spPr>
      </p:pic>
      <p:sp>
        <p:nvSpPr>
          <p:cNvPr id="15" name="TextBox 14">
            <a:extLst>
              <a:ext uri="{FF2B5EF4-FFF2-40B4-BE49-F238E27FC236}">
                <a16:creationId xmlns:a16="http://schemas.microsoft.com/office/drawing/2014/main" id="{A25F1BD7-4992-A6A5-65AF-A5D3C39F9E05}"/>
              </a:ext>
            </a:extLst>
          </p:cNvPr>
          <p:cNvSpPr txBox="1"/>
          <p:nvPr/>
        </p:nvSpPr>
        <p:spPr>
          <a:xfrm>
            <a:off x="746620" y="4395831"/>
            <a:ext cx="4597167" cy="2031325"/>
          </a:xfrm>
          <a:prstGeom prst="rect">
            <a:avLst/>
          </a:prstGeom>
          <a:noFill/>
        </p:spPr>
        <p:txBody>
          <a:bodyPr wrap="square" rtlCol="0">
            <a:spAutoFit/>
          </a:bodyPr>
          <a:lstStyle/>
          <a:p>
            <a:r>
              <a:rPr lang="en-GB" b="1" dirty="0"/>
              <a:t>Example Input</a:t>
            </a:r>
          </a:p>
          <a:p>
            <a:endParaRPr lang="en-GB" b="1" dirty="0"/>
          </a:p>
          <a:p>
            <a:r>
              <a:rPr lang="en-GB" b="1" dirty="0"/>
              <a:t>set1</a:t>
            </a:r>
            <a:r>
              <a:rPr lang="en-GB" dirty="0"/>
              <a:t>		</a:t>
            </a:r>
            <a:r>
              <a:rPr lang="en-GB" b="1" dirty="0"/>
              <a:t>set2</a:t>
            </a:r>
          </a:p>
          <a:p>
            <a:r>
              <a:rPr lang="en-GB" dirty="0"/>
              <a:t>{1, 3, 5, 7, 9}	{1, 2, 3, 4, 5}</a:t>
            </a:r>
          </a:p>
          <a:p>
            <a:endParaRPr lang="en-GB" dirty="0"/>
          </a:p>
          <a:p>
            <a:r>
              <a:rPr lang="en-GB" b="1" dirty="0"/>
              <a:t>Output:</a:t>
            </a:r>
          </a:p>
          <a:p>
            <a:r>
              <a:rPr lang="en-GB" dirty="0"/>
              <a:t>{1, 3, 5}</a:t>
            </a:r>
            <a:endParaRPr lang="en-NL" dirty="0"/>
          </a:p>
        </p:txBody>
      </p:sp>
    </p:spTree>
    <p:extLst>
      <p:ext uri="{BB962C8B-B14F-4D97-AF65-F5344CB8AC3E}">
        <p14:creationId xmlns:p14="http://schemas.microsoft.com/office/powerpoint/2010/main" val="248593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31D508-F9E0-D1FB-2BC6-5AA683BEC878}"/>
              </a:ext>
            </a:extLst>
          </p:cNvPr>
          <p:cNvPicPr>
            <a:picLocks noChangeAspect="1"/>
          </p:cNvPicPr>
          <p:nvPr/>
        </p:nvPicPr>
        <p:blipFill>
          <a:blip r:embed="rId2"/>
          <a:stretch>
            <a:fillRect/>
          </a:stretch>
        </p:blipFill>
        <p:spPr>
          <a:xfrm>
            <a:off x="2209800" y="1223963"/>
            <a:ext cx="7772400" cy="4410074"/>
          </a:xfrm>
          <a:prstGeom prst="rect">
            <a:avLst/>
          </a:prstGeom>
        </p:spPr>
      </p:pic>
    </p:spTree>
    <p:extLst>
      <p:ext uri="{BB962C8B-B14F-4D97-AF65-F5344CB8AC3E}">
        <p14:creationId xmlns:p14="http://schemas.microsoft.com/office/powerpoint/2010/main" val="2307848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2F7646-8089-865F-214B-45EC1C7F5F3A}"/>
              </a:ext>
            </a:extLst>
          </p:cNvPr>
          <p:cNvSpPr>
            <a:spLocks noGrp="1"/>
          </p:cNvSpPr>
          <p:nvPr>
            <p:ph idx="1"/>
          </p:nvPr>
        </p:nvSpPr>
        <p:spPr>
          <a:xfrm>
            <a:off x="838200" y="436227"/>
            <a:ext cx="10515600" cy="5740735"/>
          </a:xfrm>
        </p:spPr>
        <p:txBody>
          <a:bodyPr/>
          <a:lstStyle/>
          <a:p>
            <a:pPr marL="0" indent="0">
              <a:buNone/>
            </a:pPr>
            <a:r>
              <a:rPr lang="en-GB" b="0" i="0" dirty="0">
                <a:solidFill>
                  <a:srgbClr val="000000"/>
                </a:solidFill>
                <a:effectLst/>
              </a:rPr>
              <a:t>A </a:t>
            </a:r>
            <a:r>
              <a:rPr lang="en-GB" b="1" i="0" dirty="0">
                <a:solidFill>
                  <a:srgbClr val="000000"/>
                </a:solidFill>
                <a:effectLst/>
              </a:rPr>
              <a:t>permutation</a:t>
            </a:r>
            <a:r>
              <a:rPr lang="en-GB" b="0" i="0" dirty="0">
                <a:solidFill>
                  <a:srgbClr val="000000"/>
                </a:solidFill>
                <a:effectLst/>
              </a:rPr>
              <a:t> of a set is any rearrangement of its members into a sequence or linear order. </a:t>
            </a:r>
          </a:p>
          <a:p>
            <a:pPr marL="0" indent="0">
              <a:buNone/>
            </a:pPr>
            <a:endParaRPr lang="en-GB" dirty="0">
              <a:solidFill>
                <a:srgbClr val="000000"/>
              </a:solidFill>
            </a:endParaRPr>
          </a:p>
          <a:p>
            <a:pPr marL="0" indent="0">
              <a:buNone/>
            </a:pPr>
            <a:r>
              <a:rPr lang="en-GB" b="0" i="0" dirty="0">
                <a:solidFill>
                  <a:srgbClr val="000000"/>
                </a:solidFill>
                <a:effectLst/>
              </a:rPr>
              <a:t>For a set of </a:t>
            </a:r>
            <a:r>
              <a:rPr lang="en-GB" b="1" i="1" dirty="0">
                <a:solidFill>
                  <a:srgbClr val="000000"/>
                </a:solidFill>
                <a:effectLst/>
              </a:rPr>
              <a:t>n</a:t>
            </a:r>
            <a:r>
              <a:rPr lang="en-GB" b="0" i="0" dirty="0">
                <a:solidFill>
                  <a:srgbClr val="000000"/>
                </a:solidFill>
                <a:effectLst/>
              </a:rPr>
              <a:t> elements, there are </a:t>
            </a:r>
            <a:r>
              <a:rPr lang="en-GB" b="1" i="1" dirty="0">
                <a:solidFill>
                  <a:srgbClr val="000000"/>
                </a:solidFill>
                <a:effectLst/>
              </a:rPr>
              <a:t>n!</a:t>
            </a:r>
            <a:r>
              <a:rPr lang="en-GB" b="0" i="0" dirty="0">
                <a:solidFill>
                  <a:srgbClr val="000000"/>
                </a:solidFill>
                <a:effectLst/>
              </a:rPr>
              <a:t> (factorial of </a:t>
            </a:r>
            <a:r>
              <a:rPr lang="en-GB" b="1" i="1" dirty="0">
                <a:solidFill>
                  <a:srgbClr val="000000"/>
                </a:solidFill>
                <a:effectLst/>
              </a:rPr>
              <a:t>n</a:t>
            </a:r>
            <a:r>
              <a:rPr lang="en-GB" b="0" i="0" dirty="0">
                <a:solidFill>
                  <a:srgbClr val="000000"/>
                </a:solidFill>
                <a:effectLst/>
              </a:rPr>
              <a:t>) possible permutations. </a:t>
            </a:r>
          </a:p>
          <a:p>
            <a:pPr marL="0" indent="0">
              <a:buNone/>
            </a:pPr>
            <a:endParaRPr lang="en-GB" dirty="0">
              <a:solidFill>
                <a:srgbClr val="000000"/>
              </a:solidFill>
            </a:endParaRPr>
          </a:p>
          <a:p>
            <a:pPr marL="0" indent="0">
              <a:buNone/>
            </a:pPr>
            <a:r>
              <a:rPr lang="en-GB" b="0" i="0" dirty="0">
                <a:solidFill>
                  <a:srgbClr val="000000"/>
                </a:solidFill>
                <a:effectLst/>
              </a:rPr>
              <a:t>For example, the set {1, 2, 3} has </a:t>
            </a:r>
            <a:r>
              <a:rPr lang="en-GB" b="1" i="1" dirty="0">
                <a:solidFill>
                  <a:srgbClr val="000000"/>
                </a:solidFill>
                <a:effectLst/>
              </a:rPr>
              <a:t>3! = 6</a:t>
            </a:r>
            <a:r>
              <a:rPr lang="en-GB" b="0" i="0" dirty="0">
                <a:solidFill>
                  <a:srgbClr val="000000"/>
                </a:solidFill>
                <a:effectLst/>
              </a:rPr>
              <a:t> permutations: </a:t>
            </a:r>
          </a:p>
          <a:p>
            <a:pPr marL="0" indent="0">
              <a:buNone/>
            </a:pPr>
            <a:endParaRPr lang="en-GB" dirty="0">
              <a:solidFill>
                <a:srgbClr val="000000"/>
              </a:solidFill>
            </a:endParaRPr>
          </a:p>
          <a:p>
            <a:pPr marL="0" indent="0" algn="ctr">
              <a:buNone/>
            </a:pPr>
            <a:r>
              <a:rPr lang="en-GB" b="0" i="0" dirty="0">
                <a:solidFill>
                  <a:srgbClr val="000000"/>
                </a:solidFill>
                <a:effectLst/>
                <a:latin typeface="Consolas" panose="020B0609020204030204" pitchFamily="49" charset="0"/>
                <a:cs typeface="Consolas" panose="020B0609020204030204" pitchFamily="49" charset="0"/>
              </a:rPr>
              <a:t>123, 132, 213, 231, 312, 321</a:t>
            </a:r>
            <a:endParaRPr lang="en-NL"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859422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88C64A6-289F-4AAB-A8A8-77ABD4EBD87F}"/>
              </a:ext>
            </a:extLst>
          </p:cNvPr>
          <p:cNvPicPr>
            <a:picLocks noChangeAspect="1"/>
          </p:cNvPicPr>
          <p:nvPr/>
        </p:nvPicPr>
        <p:blipFill>
          <a:blip r:embed="rId2"/>
          <a:stretch>
            <a:fillRect/>
          </a:stretch>
        </p:blipFill>
        <p:spPr>
          <a:xfrm>
            <a:off x="2209800" y="1689186"/>
            <a:ext cx="7772400" cy="3479627"/>
          </a:xfrm>
          <a:prstGeom prst="rect">
            <a:avLst/>
          </a:prstGeom>
        </p:spPr>
      </p:pic>
    </p:spTree>
    <p:extLst>
      <p:ext uri="{BB962C8B-B14F-4D97-AF65-F5344CB8AC3E}">
        <p14:creationId xmlns:p14="http://schemas.microsoft.com/office/powerpoint/2010/main" val="3329331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C00B9A-E6AE-3416-F6BA-E798041E196C}"/>
              </a:ext>
            </a:extLst>
          </p:cNvPr>
          <p:cNvPicPr>
            <a:picLocks noChangeAspect="1"/>
          </p:cNvPicPr>
          <p:nvPr/>
        </p:nvPicPr>
        <p:blipFill>
          <a:blip r:embed="rId2"/>
          <a:stretch>
            <a:fillRect/>
          </a:stretch>
        </p:blipFill>
        <p:spPr>
          <a:xfrm>
            <a:off x="2209800" y="750321"/>
            <a:ext cx="7772400" cy="5357358"/>
          </a:xfrm>
          <a:prstGeom prst="rect">
            <a:avLst/>
          </a:prstGeom>
        </p:spPr>
      </p:pic>
    </p:spTree>
    <p:extLst>
      <p:ext uri="{BB962C8B-B14F-4D97-AF65-F5344CB8AC3E}">
        <p14:creationId xmlns:p14="http://schemas.microsoft.com/office/powerpoint/2010/main" val="924406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4B56AE-813C-5A9E-BA83-CC9C8837777B}"/>
              </a:ext>
            </a:extLst>
          </p:cNvPr>
          <p:cNvSpPr>
            <a:spLocks noGrp="1"/>
          </p:cNvSpPr>
          <p:nvPr>
            <p:ph idx="1"/>
          </p:nvPr>
        </p:nvSpPr>
        <p:spPr>
          <a:xfrm>
            <a:off x="251669" y="1182847"/>
            <a:ext cx="11702643" cy="4994115"/>
          </a:xfrm>
        </p:spPr>
        <p:txBody>
          <a:bodyPr>
            <a:normAutofit/>
          </a:bodyPr>
          <a:lstStyle/>
          <a:p>
            <a:pPr marL="0" indent="0">
              <a:buNone/>
            </a:pPr>
            <a:r>
              <a:rPr lang="en-NL" sz="2400" dirty="0">
                <a:latin typeface="Consolas" panose="020B0609020204030204" pitchFamily="49" charset="0"/>
                <a:cs typeface="Consolas" panose="020B0609020204030204" pitchFamily="49" charset="0"/>
              </a:rPr>
              <a:t>[Nietzsche, Weil, Kant, Foucault, Wittgenstein, de Beauvoir, Plato, Sartre, Arendt, </a:t>
            </a:r>
            <a:r>
              <a:rPr lang="en-GB" sz="2400" dirty="0">
                <a:latin typeface="Consolas" panose="020B0609020204030204" pitchFamily="49" charset="0"/>
                <a:cs typeface="Consolas" panose="020B0609020204030204" pitchFamily="49" charset="0"/>
              </a:rPr>
              <a:t>Lao Tzu</a:t>
            </a:r>
            <a:r>
              <a:rPr lang="en-NL" sz="2400" dirty="0">
                <a:latin typeface="Consolas" panose="020B0609020204030204" pitchFamily="49" charset="0"/>
                <a:cs typeface="Consolas" panose="020B0609020204030204" pitchFamily="49" charset="0"/>
              </a:rPr>
              <a:t>]</a:t>
            </a:r>
          </a:p>
        </p:txBody>
      </p:sp>
      <p:sp>
        <p:nvSpPr>
          <p:cNvPr id="2" name="TextBox 1">
            <a:extLst>
              <a:ext uri="{FF2B5EF4-FFF2-40B4-BE49-F238E27FC236}">
                <a16:creationId xmlns:a16="http://schemas.microsoft.com/office/drawing/2014/main" id="{A225AE32-76C8-C44F-6E60-4E95534C0FD0}"/>
              </a:ext>
            </a:extLst>
          </p:cNvPr>
          <p:cNvSpPr txBox="1"/>
          <p:nvPr/>
        </p:nvSpPr>
        <p:spPr>
          <a:xfrm>
            <a:off x="383823" y="2889956"/>
            <a:ext cx="9360255" cy="461665"/>
          </a:xfrm>
          <a:prstGeom prst="rect">
            <a:avLst/>
          </a:prstGeom>
          <a:noFill/>
        </p:spPr>
        <p:txBody>
          <a:bodyPr wrap="none" rtlCol="0">
            <a:spAutoFit/>
          </a:bodyPr>
          <a:lstStyle/>
          <a:p>
            <a:r>
              <a:rPr lang="en-NL" sz="2400" dirty="0">
                <a:latin typeface="Consolas" panose="020B0609020204030204" pitchFamily="49" charset="0"/>
                <a:cs typeface="Consolas" panose="020B0609020204030204" pitchFamily="49" charset="0"/>
              </a:rPr>
              <a:t>[1 april, 2 janurary, 9 december, 14 june, 18 october]</a:t>
            </a:r>
          </a:p>
        </p:txBody>
      </p:sp>
      <p:sp>
        <p:nvSpPr>
          <p:cNvPr id="4" name="TextBox 3">
            <a:extLst>
              <a:ext uri="{FF2B5EF4-FFF2-40B4-BE49-F238E27FC236}">
                <a16:creationId xmlns:a16="http://schemas.microsoft.com/office/drawing/2014/main" id="{B7854C0D-8501-D9D0-9679-706D5535C78B}"/>
              </a:ext>
            </a:extLst>
          </p:cNvPr>
          <p:cNvSpPr txBox="1"/>
          <p:nvPr/>
        </p:nvSpPr>
        <p:spPr>
          <a:xfrm>
            <a:off x="383823" y="4164127"/>
            <a:ext cx="7321235" cy="461665"/>
          </a:xfrm>
          <a:prstGeom prst="rect">
            <a:avLst/>
          </a:prstGeom>
          <a:noFill/>
        </p:spPr>
        <p:txBody>
          <a:bodyPr wrap="none" rtlCol="0">
            <a:spAutoFit/>
          </a:bodyPr>
          <a:lstStyle/>
          <a:p>
            <a:r>
              <a:rPr lang="en-NL" sz="2400" dirty="0">
                <a:latin typeface="Consolas" panose="020B0609020204030204" pitchFamily="49" charset="0"/>
                <a:cs typeface="Consolas" panose="020B0609020204030204" pitchFamily="49" charset="0"/>
              </a:rPr>
              <a:t>[Star Wars, Star Trek, Dune, Blade Runner]</a:t>
            </a:r>
          </a:p>
        </p:txBody>
      </p:sp>
    </p:spTree>
    <p:extLst>
      <p:ext uri="{BB962C8B-B14F-4D97-AF65-F5344CB8AC3E}">
        <p14:creationId xmlns:p14="http://schemas.microsoft.com/office/powerpoint/2010/main" val="368362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4B834C-3F8A-6A25-8173-8155A516F311}"/>
              </a:ext>
            </a:extLst>
          </p:cNvPr>
          <p:cNvSpPr>
            <a:spLocks noGrp="1"/>
          </p:cNvSpPr>
          <p:nvPr>
            <p:ph idx="1"/>
          </p:nvPr>
        </p:nvSpPr>
        <p:spPr>
          <a:xfrm>
            <a:off x="838200" y="729842"/>
            <a:ext cx="10515600" cy="5447121"/>
          </a:xfrm>
        </p:spPr>
        <p:txBody>
          <a:bodyPr/>
          <a:lstStyle/>
          <a:p>
            <a:pPr marL="0" indent="0">
              <a:buNone/>
            </a:pPr>
            <a:r>
              <a:rPr lang="en-GB" b="0" i="0" dirty="0">
                <a:solidFill>
                  <a:srgbClr val="0D0D0D"/>
                </a:solidFill>
                <a:effectLst/>
                <a:latin typeface="Söhne"/>
              </a:rPr>
              <a:t>Sorting can be broadly defined as the process of arranging items in a systematic sequence (ascending or descending) based on some </a:t>
            </a:r>
            <a:r>
              <a:rPr lang="en-GB" b="1" i="1" dirty="0">
                <a:solidFill>
                  <a:srgbClr val="0D0D0D"/>
                </a:solidFill>
                <a:effectLst/>
                <a:latin typeface="Söhne"/>
              </a:rPr>
              <a:t>comparative</a:t>
            </a:r>
            <a:r>
              <a:rPr lang="en-GB" b="0" i="0" dirty="0">
                <a:solidFill>
                  <a:srgbClr val="0D0D0D"/>
                </a:solidFill>
                <a:effectLst/>
                <a:latin typeface="Söhne"/>
              </a:rPr>
              <a:t> criteria. </a:t>
            </a:r>
          </a:p>
          <a:p>
            <a:pPr marL="0" indent="0">
              <a:buNone/>
            </a:pPr>
            <a:endParaRPr lang="en-GB" b="0" i="0" dirty="0">
              <a:solidFill>
                <a:srgbClr val="0D0D0D"/>
              </a:solidFill>
              <a:effectLst/>
              <a:latin typeface="Söhne"/>
            </a:endParaRPr>
          </a:p>
          <a:p>
            <a:pPr marL="0" indent="0">
              <a:buNone/>
            </a:pPr>
            <a:r>
              <a:rPr lang="en-GB" b="0" i="0" dirty="0">
                <a:solidFill>
                  <a:srgbClr val="0D0D0D"/>
                </a:solidFill>
                <a:effectLst/>
                <a:latin typeface="Söhne"/>
              </a:rPr>
              <a:t>The efficiency of a sorting algorithm largely depends on how it </a:t>
            </a:r>
            <a:r>
              <a:rPr lang="en-GB" b="1" i="1" dirty="0">
                <a:solidFill>
                  <a:srgbClr val="0D0D0D"/>
                </a:solidFill>
                <a:effectLst/>
                <a:latin typeface="Söhne"/>
              </a:rPr>
              <a:t>compares elements</a:t>
            </a:r>
            <a:r>
              <a:rPr lang="en-GB" b="0" i="0" dirty="0">
                <a:solidFill>
                  <a:srgbClr val="0D0D0D"/>
                </a:solidFill>
                <a:effectLst/>
                <a:latin typeface="Söhne"/>
              </a:rPr>
              <a:t> and </a:t>
            </a:r>
            <a:r>
              <a:rPr lang="en-GB" b="1" i="1" dirty="0">
                <a:solidFill>
                  <a:srgbClr val="0D0D0D"/>
                </a:solidFill>
                <a:effectLst/>
                <a:latin typeface="Söhne"/>
              </a:rPr>
              <a:t>rearranges</a:t>
            </a:r>
            <a:r>
              <a:rPr lang="en-GB" b="0" i="0" dirty="0">
                <a:solidFill>
                  <a:srgbClr val="0D0D0D"/>
                </a:solidFill>
                <a:effectLst/>
                <a:latin typeface="Söhne"/>
              </a:rPr>
              <a:t> them into the correct order.</a:t>
            </a:r>
          </a:p>
          <a:p>
            <a:pPr marL="0" indent="0">
              <a:buNone/>
            </a:pPr>
            <a:endParaRPr lang="en-NL" dirty="0"/>
          </a:p>
        </p:txBody>
      </p:sp>
    </p:spTree>
    <p:extLst>
      <p:ext uri="{BB962C8B-B14F-4D97-AF65-F5344CB8AC3E}">
        <p14:creationId xmlns:p14="http://schemas.microsoft.com/office/powerpoint/2010/main" val="2750239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664D1C0-96F2-B3B0-2C95-57E5F274CE38}"/>
              </a:ext>
            </a:extLst>
          </p:cNvPr>
          <p:cNvPicPr>
            <a:picLocks noChangeAspect="1"/>
          </p:cNvPicPr>
          <p:nvPr/>
        </p:nvPicPr>
        <p:blipFill>
          <a:blip r:embed="rId2"/>
          <a:stretch>
            <a:fillRect/>
          </a:stretch>
        </p:blipFill>
        <p:spPr>
          <a:xfrm>
            <a:off x="248174" y="3586295"/>
            <a:ext cx="7772400" cy="2280524"/>
          </a:xfrm>
          <a:prstGeom prst="rect">
            <a:avLst/>
          </a:prstGeom>
        </p:spPr>
      </p:pic>
      <p:pic>
        <p:nvPicPr>
          <p:cNvPr id="7" name="Picture 6">
            <a:extLst>
              <a:ext uri="{FF2B5EF4-FFF2-40B4-BE49-F238E27FC236}">
                <a16:creationId xmlns:a16="http://schemas.microsoft.com/office/drawing/2014/main" id="{8108AD67-BDE1-5B96-8E7A-232AAA704E92}"/>
              </a:ext>
            </a:extLst>
          </p:cNvPr>
          <p:cNvPicPr>
            <a:picLocks noChangeAspect="1"/>
          </p:cNvPicPr>
          <p:nvPr/>
        </p:nvPicPr>
        <p:blipFill>
          <a:blip r:embed="rId3"/>
          <a:stretch>
            <a:fillRect/>
          </a:stretch>
        </p:blipFill>
        <p:spPr>
          <a:xfrm>
            <a:off x="575733" y="740253"/>
            <a:ext cx="11364659" cy="2531453"/>
          </a:xfrm>
          <a:prstGeom prst="rect">
            <a:avLst/>
          </a:prstGeom>
        </p:spPr>
      </p:pic>
    </p:spTree>
    <p:extLst>
      <p:ext uri="{BB962C8B-B14F-4D97-AF65-F5344CB8AC3E}">
        <p14:creationId xmlns:p14="http://schemas.microsoft.com/office/powerpoint/2010/main" val="2290715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B74B10-A436-4215-9363-0226835D2AFA}"/>
              </a:ext>
            </a:extLst>
          </p:cNvPr>
          <p:cNvSpPr>
            <a:spLocks noGrp="1"/>
          </p:cNvSpPr>
          <p:nvPr>
            <p:ph type="title"/>
          </p:nvPr>
        </p:nvSpPr>
        <p:spPr>
          <a:xfrm>
            <a:off x="838200" y="365126"/>
            <a:ext cx="10515600" cy="960336"/>
          </a:xfrm>
        </p:spPr>
        <p:txBody>
          <a:bodyPr/>
          <a:lstStyle/>
          <a:p>
            <a:r>
              <a:rPr lang="en-NL" dirty="0"/>
              <a:t>Exploitable Properties</a:t>
            </a:r>
          </a:p>
        </p:txBody>
      </p:sp>
      <p:sp>
        <p:nvSpPr>
          <p:cNvPr id="3" name="Content Placeholder 2">
            <a:extLst>
              <a:ext uri="{FF2B5EF4-FFF2-40B4-BE49-F238E27FC236}">
                <a16:creationId xmlns:a16="http://schemas.microsoft.com/office/drawing/2014/main" id="{87B00F4B-A0F0-D365-022D-B277941A43CE}"/>
              </a:ext>
            </a:extLst>
          </p:cNvPr>
          <p:cNvSpPr>
            <a:spLocks noGrp="1"/>
          </p:cNvSpPr>
          <p:nvPr>
            <p:ph sz="half" idx="1"/>
          </p:nvPr>
        </p:nvSpPr>
        <p:spPr>
          <a:xfrm>
            <a:off x="629174" y="1434517"/>
            <a:ext cx="5390626" cy="4907560"/>
          </a:xfrm>
        </p:spPr>
        <p:txBody>
          <a:bodyPr>
            <a:noAutofit/>
          </a:bodyPr>
          <a:lstStyle/>
          <a:p>
            <a:pPr marL="0" indent="0" algn="l">
              <a:lnSpc>
                <a:spcPct val="120000"/>
              </a:lnSpc>
              <a:buNone/>
            </a:pPr>
            <a:r>
              <a:rPr lang="en-GB" sz="1600" b="1" i="0" dirty="0">
                <a:solidFill>
                  <a:srgbClr val="0D0D0D"/>
                </a:solidFill>
                <a:effectLst/>
                <a:highlight>
                  <a:srgbClr val="FFFF00"/>
                </a:highlight>
              </a:rPr>
              <a:t>Transitivity of Order</a:t>
            </a:r>
            <a:r>
              <a:rPr lang="en-GB" sz="1600" b="0" i="0" dirty="0">
                <a:solidFill>
                  <a:srgbClr val="0D0D0D"/>
                </a:solidFill>
                <a:effectLst/>
                <a:highlight>
                  <a:srgbClr val="FFFF00"/>
                </a:highlight>
              </a:rPr>
              <a:t>: If element A is less than element B, and B is less than C, then A is less than C. Efficient sorting algorithms rely on this property to reduce the number of comparisons needed to determine order across a set.</a:t>
            </a:r>
          </a:p>
          <a:p>
            <a:pPr marL="0" indent="0" algn="l">
              <a:lnSpc>
                <a:spcPct val="120000"/>
              </a:lnSpc>
              <a:buNone/>
            </a:pPr>
            <a:r>
              <a:rPr lang="en-GB" sz="1600" b="1" i="0" dirty="0">
                <a:solidFill>
                  <a:srgbClr val="0D0D0D"/>
                </a:solidFill>
                <a:effectLst/>
              </a:rPr>
              <a:t>Stability</a:t>
            </a:r>
            <a:r>
              <a:rPr lang="en-GB" sz="1600" b="0" i="0" dirty="0">
                <a:solidFill>
                  <a:srgbClr val="0D0D0D"/>
                </a:solidFill>
                <a:effectLst/>
              </a:rPr>
              <a:t>: The concept that equal elements retain their relative order before and after sorting. Some algorithms maintain stability by carefully managing how elements are moved. This property is particularly important when the sort order depends on multiple fields.</a:t>
            </a:r>
          </a:p>
          <a:p>
            <a:pPr marL="0" indent="0" algn="l">
              <a:lnSpc>
                <a:spcPct val="120000"/>
              </a:lnSpc>
              <a:buNone/>
            </a:pPr>
            <a:r>
              <a:rPr lang="en-GB" sz="1600" b="1" i="0" dirty="0">
                <a:solidFill>
                  <a:srgbClr val="0D0D0D"/>
                </a:solidFill>
                <a:effectLst/>
              </a:rPr>
              <a:t>Existence of Natural Runs</a:t>
            </a:r>
            <a:r>
              <a:rPr lang="en-GB" sz="1600" b="0" i="0" dirty="0">
                <a:solidFill>
                  <a:srgbClr val="0D0D0D"/>
                </a:solidFill>
                <a:effectLst/>
              </a:rPr>
              <a:t>: In real-world data, sequences of elements are often already in order or nearly in order. Adaptive sorting algorithms take advantage of these "runs" to minimize work, adjusting their approach based on the degree of existing order.</a:t>
            </a:r>
          </a:p>
        </p:txBody>
      </p:sp>
      <p:sp>
        <p:nvSpPr>
          <p:cNvPr id="5" name="Content Placeholder 4">
            <a:extLst>
              <a:ext uri="{FF2B5EF4-FFF2-40B4-BE49-F238E27FC236}">
                <a16:creationId xmlns:a16="http://schemas.microsoft.com/office/drawing/2014/main" id="{CF518E04-34FB-A100-DE3C-D2815423191C}"/>
              </a:ext>
            </a:extLst>
          </p:cNvPr>
          <p:cNvSpPr>
            <a:spLocks noGrp="1"/>
          </p:cNvSpPr>
          <p:nvPr>
            <p:ph sz="half" idx="2"/>
          </p:nvPr>
        </p:nvSpPr>
        <p:spPr>
          <a:xfrm>
            <a:off x="6172200" y="1434516"/>
            <a:ext cx="5181600" cy="4832059"/>
          </a:xfrm>
        </p:spPr>
        <p:txBody>
          <a:bodyPr>
            <a:normAutofit fontScale="92500" lnSpcReduction="20000"/>
          </a:bodyPr>
          <a:lstStyle/>
          <a:p>
            <a:pPr marL="0" indent="0">
              <a:lnSpc>
                <a:spcPct val="120000"/>
              </a:lnSpc>
              <a:buNone/>
            </a:pPr>
            <a:r>
              <a:rPr lang="en-GB" sz="1600" b="1" i="0" dirty="0">
                <a:solidFill>
                  <a:srgbClr val="0D0D0D"/>
                </a:solidFill>
                <a:effectLst/>
              </a:rPr>
              <a:t>Existence of Identifiable Substructures</a:t>
            </a:r>
            <a:r>
              <a:rPr lang="en-GB" sz="1600" b="0" i="0" dirty="0">
                <a:solidFill>
                  <a:srgbClr val="0D0D0D"/>
                </a:solidFill>
                <a:effectLst/>
              </a:rPr>
              <a:t>: Many sorting problems contain inherent substructures that can be isolated and addressed independently before integrating them into a larger solution. For example, divide and conquer algorithms break the problem into smaller, more manageable chunks (subarrays) that are easier to sort.</a:t>
            </a:r>
            <a:endParaRPr lang="en-GB" sz="1600" b="1" i="0" dirty="0">
              <a:solidFill>
                <a:srgbClr val="0D0D0D"/>
              </a:solidFill>
              <a:effectLst/>
            </a:endParaRPr>
          </a:p>
          <a:p>
            <a:pPr marL="0" indent="0" algn="l">
              <a:lnSpc>
                <a:spcPct val="120000"/>
              </a:lnSpc>
              <a:buNone/>
            </a:pPr>
            <a:r>
              <a:rPr lang="en-GB" sz="1600" b="1" i="0" dirty="0">
                <a:solidFill>
                  <a:srgbClr val="0D0D0D"/>
                </a:solidFill>
                <a:effectLst/>
              </a:rPr>
              <a:t>Distribution of Input</a:t>
            </a:r>
            <a:r>
              <a:rPr lang="en-GB" sz="1600" b="0" i="0" dirty="0">
                <a:solidFill>
                  <a:srgbClr val="0D0D0D"/>
                </a:solidFill>
                <a:effectLst/>
              </a:rPr>
              <a:t>: Algorithms like Counting Sort and Radix Sort exploit specific characteristics of the input distribution, such as the range of numerical values or the length of strings, to organize data more efficiently than comparison-based methods.</a:t>
            </a:r>
          </a:p>
          <a:p>
            <a:pPr marL="0" indent="0" algn="l">
              <a:lnSpc>
                <a:spcPct val="120000"/>
              </a:lnSpc>
              <a:buNone/>
            </a:pPr>
            <a:r>
              <a:rPr lang="en-GB" sz="1600" b="1" i="0" dirty="0">
                <a:solidFill>
                  <a:srgbClr val="0D0D0D"/>
                </a:solidFill>
                <a:effectLst/>
              </a:rPr>
              <a:t>Relative Ordering (Binary Relations)</a:t>
            </a:r>
            <a:r>
              <a:rPr lang="en-GB" sz="1600" b="0" i="0" dirty="0">
                <a:solidFill>
                  <a:srgbClr val="0D0D0D"/>
                </a:solidFill>
                <a:effectLst/>
              </a:rPr>
              <a:t>: Sorting fundamentally relies on the ability to determine a binary relation (e.g., less than, greater than) between any two elements. Efficient algorithms optimize how many and which comparisons are made to determine the overall order with fewer operations.</a:t>
            </a:r>
          </a:p>
          <a:p>
            <a:pPr marL="0" indent="0" algn="l">
              <a:lnSpc>
                <a:spcPct val="120000"/>
              </a:lnSpc>
              <a:buNone/>
            </a:pPr>
            <a:r>
              <a:rPr lang="en-GB" sz="1600" b="1" i="0" dirty="0">
                <a:solidFill>
                  <a:srgbClr val="0D0D0D"/>
                </a:solidFill>
                <a:effectLst/>
              </a:rPr>
              <a:t>Element Uniqueness and Repetition</a:t>
            </a:r>
            <a:r>
              <a:rPr lang="en-GB" sz="1600" b="0" i="0" dirty="0">
                <a:solidFill>
                  <a:srgbClr val="0D0D0D"/>
                </a:solidFill>
                <a:effectLst/>
              </a:rPr>
              <a:t>: Some sorting algorithms are particularly well-suited to handling data with many repeated values (e.g., counting sort) or ensure unique outcomes by managing how duplicate values are treated.</a:t>
            </a:r>
          </a:p>
          <a:p>
            <a:endParaRPr lang="en-NL" sz="1600" dirty="0"/>
          </a:p>
        </p:txBody>
      </p:sp>
    </p:spTree>
    <p:extLst>
      <p:ext uri="{BB962C8B-B14F-4D97-AF65-F5344CB8AC3E}">
        <p14:creationId xmlns:p14="http://schemas.microsoft.com/office/powerpoint/2010/main" val="1650614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9F079A-62BC-9704-4A83-B4DB29F6EC68}"/>
              </a:ext>
            </a:extLst>
          </p:cNvPr>
          <p:cNvSpPr>
            <a:spLocks noGrp="1"/>
          </p:cNvSpPr>
          <p:nvPr>
            <p:ph idx="1"/>
          </p:nvPr>
        </p:nvSpPr>
        <p:spPr>
          <a:xfrm>
            <a:off x="838200" y="1015068"/>
            <a:ext cx="10515600" cy="5161895"/>
          </a:xfrm>
        </p:spPr>
        <p:txBody>
          <a:bodyPr/>
          <a:lstStyle/>
          <a:p>
            <a:pPr algn="l">
              <a:buFont typeface="Arial" panose="020B0604020202020204" pitchFamily="34" charset="0"/>
              <a:buChar char="•"/>
            </a:pPr>
            <a:r>
              <a:rPr lang="en-GB" b="1" i="0" dirty="0">
                <a:solidFill>
                  <a:srgbClr val="0D0D0D"/>
                </a:solidFill>
                <a:effectLst/>
                <a:latin typeface="Söhne"/>
              </a:rPr>
              <a:t>Divide and Conquer</a:t>
            </a:r>
            <a:r>
              <a:rPr lang="en-GB" b="0" i="0" dirty="0">
                <a:solidFill>
                  <a:srgbClr val="0D0D0D"/>
                </a:solidFill>
                <a:effectLst/>
                <a:latin typeface="Söhne"/>
              </a:rPr>
              <a:t>: Exploits substructure by breaking the problem down and solving smaller problems independently.</a:t>
            </a:r>
          </a:p>
          <a:p>
            <a:pPr algn="l">
              <a:buFont typeface="Arial" panose="020B0604020202020204" pitchFamily="34" charset="0"/>
              <a:buChar char="•"/>
            </a:pPr>
            <a:r>
              <a:rPr lang="en-GB" b="1" i="0" dirty="0">
                <a:solidFill>
                  <a:srgbClr val="0D0D0D"/>
                </a:solidFill>
                <a:effectLst/>
                <a:latin typeface="Söhne"/>
              </a:rPr>
              <a:t>Hybrid Approaches</a:t>
            </a:r>
            <a:r>
              <a:rPr lang="en-GB" b="0" i="0" dirty="0">
                <a:solidFill>
                  <a:srgbClr val="0D0D0D"/>
                </a:solidFill>
                <a:effectLst/>
                <a:latin typeface="Söhne"/>
              </a:rPr>
              <a:t>: Use the stability and natural runs properties to combine sorting methods for optimal performance on varied data.</a:t>
            </a:r>
          </a:p>
          <a:p>
            <a:pPr algn="l">
              <a:buFont typeface="Arial" panose="020B0604020202020204" pitchFamily="34" charset="0"/>
              <a:buChar char="•"/>
            </a:pPr>
            <a:r>
              <a:rPr lang="en-GB" b="1" i="0" dirty="0">
                <a:solidFill>
                  <a:srgbClr val="0D0D0D"/>
                </a:solidFill>
                <a:effectLst/>
                <a:latin typeface="Söhne"/>
              </a:rPr>
              <a:t>Adaptive Sorting</a:t>
            </a:r>
            <a:r>
              <a:rPr lang="en-GB" b="0" i="0" dirty="0">
                <a:solidFill>
                  <a:srgbClr val="0D0D0D"/>
                </a:solidFill>
                <a:effectLst/>
                <a:latin typeface="Söhne"/>
              </a:rPr>
              <a:t>: Adjusts algorithmic </a:t>
            </a:r>
            <a:r>
              <a:rPr lang="en-GB" b="0" i="0" dirty="0" err="1">
                <a:solidFill>
                  <a:srgbClr val="0D0D0D"/>
                </a:solidFill>
                <a:effectLst/>
                <a:latin typeface="Söhne"/>
              </a:rPr>
              <a:t>behavior</a:t>
            </a:r>
            <a:r>
              <a:rPr lang="en-GB" b="0" i="0" dirty="0">
                <a:solidFill>
                  <a:srgbClr val="0D0D0D"/>
                </a:solidFill>
                <a:effectLst/>
                <a:latin typeface="Söhne"/>
              </a:rPr>
              <a:t> in real-time based on the degree of existing order, leveraging natural runs.</a:t>
            </a:r>
          </a:p>
          <a:p>
            <a:pPr algn="l">
              <a:buFont typeface="Arial" panose="020B0604020202020204" pitchFamily="34" charset="0"/>
              <a:buChar char="•"/>
            </a:pPr>
            <a:r>
              <a:rPr lang="en-GB" b="1" i="0" dirty="0">
                <a:solidFill>
                  <a:srgbClr val="0D0D0D"/>
                </a:solidFill>
                <a:effectLst/>
                <a:latin typeface="Söhne"/>
              </a:rPr>
              <a:t>Counting and Positioning</a:t>
            </a:r>
            <a:r>
              <a:rPr lang="en-GB" b="0" i="0" dirty="0">
                <a:solidFill>
                  <a:srgbClr val="0D0D0D"/>
                </a:solidFill>
                <a:effectLst/>
                <a:latin typeface="Söhne"/>
              </a:rPr>
              <a:t>: Utilize the distribution of input and relative ordering properties to sort without direct element-to-element comparisons.</a:t>
            </a:r>
          </a:p>
        </p:txBody>
      </p:sp>
    </p:spTree>
    <p:extLst>
      <p:ext uri="{BB962C8B-B14F-4D97-AF65-F5344CB8AC3E}">
        <p14:creationId xmlns:p14="http://schemas.microsoft.com/office/powerpoint/2010/main" val="3527446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6FFFDD2-D41C-EEBA-3FD1-EA509DE16FF5}"/>
              </a:ext>
            </a:extLst>
          </p:cNvPr>
          <p:cNvGraphicFramePr>
            <a:graphicFrameLocks noGrp="1"/>
          </p:cNvGraphicFramePr>
          <p:nvPr>
            <p:extLst>
              <p:ext uri="{D42A27DB-BD31-4B8C-83A1-F6EECF244321}">
                <p14:modId xmlns:p14="http://schemas.microsoft.com/office/powerpoint/2010/main" val="3901963711"/>
              </p:ext>
            </p:extLst>
          </p:nvPr>
        </p:nvGraphicFramePr>
        <p:xfrm>
          <a:off x="184557" y="167780"/>
          <a:ext cx="11895591" cy="6230637"/>
        </p:xfrm>
        <a:graphic>
          <a:graphicData uri="http://schemas.openxmlformats.org/drawingml/2006/table">
            <a:tbl>
              <a:tblPr firstRow="1" firstCol="1">
                <a:tableStyleId>{69012ECD-51FC-41F1-AA8D-1B2483CD663E}</a:tableStyleId>
              </a:tblPr>
              <a:tblGrid>
                <a:gridCol w="2751590">
                  <a:extLst>
                    <a:ext uri="{9D8B030D-6E8A-4147-A177-3AD203B41FA5}">
                      <a16:colId xmlns:a16="http://schemas.microsoft.com/office/drawing/2014/main" val="36858348"/>
                    </a:ext>
                  </a:extLst>
                </a:gridCol>
                <a:gridCol w="4647501">
                  <a:extLst>
                    <a:ext uri="{9D8B030D-6E8A-4147-A177-3AD203B41FA5}">
                      <a16:colId xmlns:a16="http://schemas.microsoft.com/office/drawing/2014/main" val="668545821"/>
                    </a:ext>
                  </a:extLst>
                </a:gridCol>
                <a:gridCol w="4496500">
                  <a:extLst>
                    <a:ext uri="{9D8B030D-6E8A-4147-A177-3AD203B41FA5}">
                      <a16:colId xmlns:a16="http://schemas.microsoft.com/office/drawing/2014/main" val="2970587704"/>
                    </a:ext>
                  </a:extLst>
                </a:gridCol>
              </a:tblGrid>
              <a:tr h="142908">
                <a:tc>
                  <a:txBody>
                    <a:bodyPr/>
                    <a:lstStyle/>
                    <a:p>
                      <a:pPr fontAlgn="b"/>
                      <a:r>
                        <a:rPr lang="en-GB" sz="1800" b="1" dirty="0">
                          <a:effectLst/>
                        </a:rPr>
                        <a:t>Property</a:t>
                      </a:r>
                    </a:p>
                  </a:txBody>
                  <a:tcPr marL="25596" marR="25596" marT="12798" marB="12798" anchor="b"/>
                </a:tc>
                <a:tc>
                  <a:txBody>
                    <a:bodyPr/>
                    <a:lstStyle/>
                    <a:p>
                      <a:pPr fontAlgn="b"/>
                      <a:r>
                        <a:rPr lang="en-GB" sz="1800" b="1">
                          <a:effectLst/>
                        </a:rPr>
                        <a:t>Algorithms</a:t>
                      </a:r>
                    </a:p>
                  </a:txBody>
                  <a:tcPr marL="25596" marR="25596" marT="12798" marB="12798" anchor="b"/>
                </a:tc>
                <a:tc>
                  <a:txBody>
                    <a:bodyPr/>
                    <a:lstStyle/>
                    <a:p>
                      <a:pPr fontAlgn="b"/>
                      <a:r>
                        <a:rPr lang="en-GB" sz="1800" b="1">
                          <a:effectLst/>
                        </a:rPr>
                        <a:t>Description</a:t>
                      </a:r>
                    </a:p>
                  </a:txBody>
                  <a:tcPr marL="25596" marR="25596" marT="12798" marB="12798" anchor="b"/>
                </a:tc>
                <a:extLst>
                  <a:ext uri="{0D108BD9-81ED-4DB2-BD59-A6C34878D82A}">
                    <a16:rowId xmlns:a16="http://schemas.microsoft.com/office/drawing/2014/main" val="2816348192"/>
                  </a:ext>
                </a:extLst>
              </a:tr>
              <a:tr h="785999">
                <a:tc>
                  <a:txBody>
                    <a:bodyPr/>
                    <a:lstStyle/>
                    <a:p>
                      <a:pPr fontAlgn="base"/>
                      <a:r>
                        <a:rPr lang="en-GB" sz="1800" b="1" dirty="0">
                          <a:effectLst/>
                        </a:rPr>
                        <a:t>Transitivity of Order</a:t>
                      </a:r>
                      <a:endParaRPr lang="en-GB" sz="1800" dirty="0">
                        <a:effectLst/>
                      </a:endParaRPr>
                    </a:p>
                  </a:txBody>
                  <a:tcPr marL="25596" marR="25596" marT="12798" marB="12798" anchor="ctr"/>
                </a:tc>
                <a:tc>
                  <a:txBody>
                    <a:bodyPr/>
                    <a:lstStyle/>
                    <a:p>
                      <a:pPr fontAlgn="base"/>
                      <a:r>
                        <a:rPr lang="en-GB" sz="1800">
                          <a:effectLst/>
                        </a:rPr>
                        <a:t>All comparison-based sorts (e.g., Bubble, Quick, Merge)</a:t>
                      </a:r>
                    </a:p>
                  </a:txBody>
                  <a:tcPr marL="25596" marR="25596" marT="12798" marB="12798" anchor="ctr"/>
                </a:tc>
                <a:tc>
                  <a:txBody>
                    <a:bodyPr/>
                    <a:lstStyle/>
                    <a:p>
                      <a:pPr fontAlgn="base"/>
                      <a:r>
                        <a:rPr lang="en-GB" sz="1400" dirty="0">
                          <a:effectLst/>
                        </a:rPr>
                        <a:t>These algorithms rely on the transitive nature of the comparison to sort the entire dataset by comparing pairs of elements.</a:t>
                      </a:r>
                    </a:p>
                  </a:txBody>
                  <a:tcPr marL="25596" marR="25596" marT="12798" marB="12798" anchor="ctr"/>
                </a:tc>
                <a:extLst>
                  <a:ext uri="{0D108BD9-81ED-4DB2-BD59-A6C34878D82A}">
                    <a16:rowId xmlns:a16="http://schemas.microsoft.com/office/drawing/2014/main" val="3660953535"/>
                  </a:ext>
                </a:extLst>
              </a:tr>
              <a:tr h="1000362">
                <a:tc>
                  <a:txBody>
                    <a:bodyPr/>
                    <a:lstStyle/>
                    <a:p>
                      <a:pPr fontAlgn="base"/>
                      <a:r>
                        <a:rPr lang="en-GB" sz="1800" b="1" dirty="0">
                          <a:effectLst/>
                        </a:rPr>
                        <a:t>Identifiable Substructures</a:t>
                      </a:r>
                      <a:endParaRPr lang="en-GB" sz="1800" dirty="0">
                        <a:effectLst/>
                      </a:endParaRPr>
                    </a:p>
                  </a:txBody>
                  <a:tcPr marL="25596" marR="25596" marT="12798" marB="12798" anchor="ctr"/>
                </a:tc>
                <a:tc>
                  <a:txBody>
                    <a:bodyPr/>
                    <a:lstStyle/>
                    <a:p>
                      <a:pPr fontAlgn="base"/>
                      <a:r>
                        <a:rPr lang="en-GB" sz="1800" dirty="0" err="1">
                          <a:effectLst/>
                        </a:rPr>
                        <a:t>MergeSort</a:t>
                      </a:r>
                      <a:r>
                        <a:rPr lang="en-GB" sz="1800" dirty="0">
                          <a:effectLst/>
                        </a:rPr>
                        <a:t>, </a:t>
                      </a:r>
                      <a:r>
                        <a:rPr lang="en-GB" sz="1800" dirty="0" err="1">
                          <a:effectLst/>
                        </a:rPr>
                        <a:t>QuickSort</a:t>
                      </a:r>
                      <a:endParaRPr lang="en-GB" sz="1800" dirty="0">
                        <a:effectLst/>
                      </a:endParaRPr>
                    </a:p>
                  </a:txBody>
                  <a:tcPr marL="25596" marR="25596" marT="12798" marB="12798" anchor="ctr"/>
                </a:tc>
                <a:tc>
                  <a:txBody>
                    <a:bodyPr/>
                    <a:lstStyle/>
                    <a:p>
                      <a:pPr fontAlgn="base"/>
                      <a:r>
                        <a:rPr lang="en-GB" sz="1400" dirty="0">
                          <a:effectLst/>
                        </a:rPr>
                        <a:t>Divide and conquer algorithms break the dataset into smaller pieces, sort those pieces, and then combine them, exploiting the problem's substructures.</a:t>
                      </a:r>
                    </a:p>
                  </a:txBody>
                  <a:tcPr marL="25596" marR="25596" marT="12798" marB="12798" anchor="ctr"/>
                </a:tc>
                <a:extLst>
                  <a:ext uri="{0D108BD9-81ED-4DB2-BD59-A6C34878D82A}">
                    <a16:rowId xmlns:a16="http://schemas.microsoft.com/office/drawing/2014/main" val="3511215269"/>
                  </a:ext>
                </a:extLst>
              </a:tr>
              <a:tr h="678818">
                <a:tc>
                  <a:txBody>
                    <a:bodyPr/>
                    <a:lstStyle/>
                    <a:p>
                      <a:pPr fontAlgn="base"/>
                      <a:r>
                        <a:rPr lang="en-GB" sz="1800" b="1">
                          <a:effectLst/>
                        </a:rPr>
                        <a:t>Stability</a:t>
                      </a:r>
                      <a:endParaRPr lang="en-GB" sz="1800">
                        <a:effectLst/>
                      </a:endParaRPr>
                    </a:p>
                  </a:txBody>
                  <a:tcPr marL="25596" marR="25596" marT="12798" marB="12798" anchor="ctr"/>
                </a:tc>
                <a:tc>
                  <a:txBody>
                    <a:bodyPr/>
                    <a:lstStyle/>
                    <a:p>
                      <a:pPr fontAlgn="base"/>
                      <a:r>
                        <a:rPr lang="en-GB" sz="1800" dirty="0" err="1">
                          <a:effectLst/>
                        </a:rPr>
                        <a:t>MergeSort</a:t>
                      </a:r>
                      <a:r>
                        <a:rPr lang="en-GB" sz="1800" dirty="0">
                          <a:effectLst/>
                        </a:rPr>
                        <a:t>, Bubble Sort, Insertion Sort</a:t>
                      </a:r>
                    </a:p>
                  </a:txBody>
                  <a:tcPr marL="25596" marR="25596" marT="12798" marB="12798" anchor="ctr"/>
                </a:tc>
                <a:tc>
                  <a:txBody>
                    <a:bodyPr/>
                    <a:lstStyle/>
                    <a:p>
                      <a:pPr fontAlgn="base"/>
                      <a:r>
                        <a:rPr lang="en-GB" sz="1400" dirty="0">
                          <a:effectLst/>
                        </a:rPr>
                        <a:t>These algorithms maintain the relative order of equal elements, making them suitable for multi-field sorting.</a:t>
                      </a:r>
                    </a:p>
                  </a:txBody>
                  <a:tcPr marL="25596" marR="25596" marT="12798" marB="12798" anchor="ctr"/>
                </a:tc>
                <a:extLst>
                  <a:ext uri="{0D108BD9-81ED-4DB2-BD59-A6C34878D82A}">
                    <a16:rowId xmlns:a16="http://schemas.microsoft.com/office/drawing/2014/main" val="2791093140"/>
                  </a:ext>
                </a:extLst>
              </a:tr>
              <a:tr h="678818">
                <a:tc>
                  <a:txBody>
                    <a:bodyPr/>
                    <a:lstStyle/>
                    <a:p>
                      <a:pPr fontAlgn="base"/>
                      <a:r>
                        <a:rPr lang="en-GB" sz="1800" b="1">
                          <a:effectLst/>
                        </a:rPr>
                        <a:t>Natural Runs</a:t>
                      </a:r>
                      <a:endParaRPr lang="en-GB" sz="1800">
                        <a:effectLst/>
                      </a:endParaRPr>
                    </a:p>
                  </a:txBody>
                  <a:tcPr marL="25596" marR="25596" marT="12798" marB="12798" anchor="ctr"/>
                </a:tc>
                <a:tc>
                  <a:txBody>
                    <a:bodyPr/>
                    <a:lstStyle/>
                    <a:p>
                      <a:pPr fontAlgn="base"/>
                      <a:r>
                        <a:rPr lang="en-GB" sz="1800" dirty="0" err="1">
                          <a:effectLst/>
                        </a:rPr>
                        <a:t>Timsort</a:t>
                      </a:r>
                      <a:r>
                        <a:rPr lang="en-GB" sz="1800" dirty="0">
                          <a:effectLst/>
                        </a:rPr>
                        <a:t>, Insertion Sort</a:t>
                      </a:r>
                    </a:p>
                  </a:txBody>
                  <a:tcPr marL="25596" marR="25596" marT="12798" marB="12798" anchor="ctr"/>
                </a:tc>
                <a:tc>
                  <a:txBody>
                    <a:bodyPr/>
                    <a:lstStyle/>
                    <a:p>
                      <a:pPr fontAlgn="base"/>
                      <a:r>
                        <a:rPr lang="en-GB" sz="1400" dirty="0">
                          <a:effectLst/>
                        </a:rPr>
                        <a:t>These adaptive algorithms exploit existing order within the dataset to reduce the number of operations required.</a:t>
                      </a:r>
                    </a:p>
                  </a:txBody>
                  <a:tcPr marL="25596" marR="25596" marT="12798" marB="12798" anchor="ctr"/>
                </a:tc>
                <a:extLst>
                  <a:ext uri="{0D108BD9-81ED-4DB2-BD59-A6C34878D82A}">
                    <a16:rowId xmlns:a16="http://schemas.microsoft.com/office/drawing/2014/main" val="3815069525"/>
                  </a:ext>
                </a:extLst>
              </a:tr>
              <a:tr h="893181">
                <a:tc>
                  <a:txBody>
                    <a:bodyPr/>
                    <a:lstStyle/>
                    <a:p>
                      <a:pPr fontAlgn="base"/>
                      <a:r>
                        <a:rPr lang="en-GB" sz="1800" b="1">
                          <a:effectLst/>
                        </a:rPr>
                        <a:t>Distribution of Input</a:t>
                      </a:r>
                      <a:endParaRPr lang="en-GB" sz="1800">
                        <a:effectLst/>
                      </a:endParaRPr>
                    </a:p>
                  </a:txBody>
                  <a:tcPr marL="25596" marR="25596" marT="12798" marB="12798" anchor="ctr"/>
                </a:tc>
                <a:tc>
                  <a:txBody>
                    <a:bodyPr/>
                    <a:lstStyle/>
                    <a:p>
                      <a:pPr fontAlgn="base"/>
                      <a:r>
                        <a:rPr lang="en-GB" sz="1800" dirty="0">
                          <a:effectLst/>
                        </a:rPr>
                        <a:t>Counting Sort, Radix Sort, Bucket Sort</a:t>
                      </a:r>
                    </a:p>
                  </a:txBody>
                  <a:tcPr marL="25596" marR="25596" marT="12798" marB="12798" anchor="ctr"/>
                </a:tc>
                <a:tc>
                  <a:txBody>
                    <a:bodyPr/>
                    <a:lstStyle/>
                    <a:p>
                      <a:pPr fontAlgn="base"/>
                      <a:r>
                        <a:rPr lang="en-GB" sz="1400" dirty="0">
                          <a:effectLst/>
                        </a:rPr>
                        <a:t>These non-comparison sorts organize data based on the distribution of input values, often leading to linear time sorting under certain conditions.</a:t>
                      </a:r>
                    </a:p>
                  </a:txBody>
                  <a:tcPr marL="25596" marR="25596" marT="12798" marB="12798" anchor="ctr"/>
                </a:tc>
                <a:extLst>
                  <a:ext uri="{0D108BD9-81ED-4DB2-BD59-A6C34878D82A}">
                    <a16:rowId xmlns:a16="http://schemas.microsoft.com/office/drawing/2014/main" val="1782453544"/>
                  </a:ext>
                </a:extLst>
              </a:tr>
              <a:tr h="893181">
                <a:tc>
                  <a:txBody>
                    <a:bodyPr/>
                    <a:lstStyle/>
                    <a:p>
                      <a:pPr fontAlgn="base"/>
                      <a:r>
                        <a:rPr lang="en-GB" sz="1800" b="1">
                          <a:effectLst/>
                        </a:rPr>
                        <a:t>Relative Ordering</a:t>
                      </a:r>
                      <a:endParaRPr lang="en-GB" sz="1800">
                        <a:effectLst/>
                      </a:endParaRPr>
                    </a:p>
                  </a:txBody>
                  <a:tcPr marL="25596" marR="25596" marT="12798" marB="12798" anchor="ctr"/>
                </a:tc>
                <a:tc>
                  <a:txBody>
                    <a:bodyPr/>
                    <a:lstStyle/>
                    <a:p>
                      <a:pPr fontAlgn="base"/>
                      <a:r>
                        <a:rPr lang="en-GB" sz="1800" dirty="0">
                          <a:effectLst/>
                        </a:rPr>
                        <a:t>All comparison-based sorts</a:t>
                      </a:r>
                    </a:p>
                  </a:txBody>
                  <a:tcPr marL="25596" marR="25596" marT="12798" marB="12798" anchor="ctr"/>
                </a:tc>
                <a:tc>
                  <a:txBody>
                    <a:bodyPr/>
                    <a:lstStyle/>
                    <a:p>
                      <a:pPr fontAlgn="base"/>
                      <a:r>
                        <a:rPr lang="en-GB" sz="1400" dirty="0">
                          <a:effectLst/>
                        </a:rPr>
                        <a:t>Fundamental to comparison-based sorting, this property is directly used to determine the sorted order through element comparisons.</a:t>
                      </a:r>
                    </a:p>
                  </a:txBody>
                  <a:tcPr marL="25596" marR="25596" marT="12798" marB="12798" anchor="ctr"/>
                </a:tc>
                <a:extLst>
                  <a:ext uri="{0D108BD9-81ED-4DB2-BD59-A6C34878D82A}">
                    <a16:rowId xmlns:a16="http://schemas.microsoft.com/office/drawing/2014/main" val="1273550092"/>
                  </a:ext>
                </a:extLst>
              </a:tr>
              <a:tr h="1000362">
                <a:tc>
                  <a:txBody>
                    <a:bodyPr/>
                    <a:lstStyle/>
                    <a:p>
                      <a:pPr fontAlgn="base"/>
                      <a:r>
                        <a:rPr lang="en-GB" sz="1800" b="1">
                          <a:effectLst/>
                        </a:rPr>
                        <a:t>Element Uniqueness and Repetition</a:t>
                      </a:r>
                      <a:endParaRPr lang="en-GB" sz="1800">
                        <a:effectLst/>
                      </a:endParaRPr>
                    </a:p>
                  </a:txBody>
                  <a:tcPr marL="25596" marR="25596" marT="12798" marB="12798" anchor="ctr"/>
                </a:tc>
                <a:tc>
                  <a:txBody>
                    <a:bodyPr/>
                    <a:lstStyle/>
                    <a:p>
                      <a:pPr fontAlgn="base"/>
                      <a:r>
                        <a:rPr lang="en-GB" sz="1800">
                          <a:effectLst/>
                        </a:rPr>
                        <a:t>Counting Sort, Radix Sort</a:t>
                      </a:r>
                    </a:p>
                  </a:txBody>
                  <a:tcPr marL="25596" marR="25596" marT="12798" marB="12798" anchor="ctr"/>
                </a:tc>
                <a:tc>
                  <a:txBody>
                    <a:bodyPr/>
                    <a:lstStyle/>
                    <a:p>
                      <a:pPr fontAlgn="base"/>
                      <a:r>
                        <a:rPr lang="en-GB" sz="1400" dirty="0">
                          <a:effectLst/>
                        </a:rPr>
                        <a:t>Efficient in handling datasets with many repeated values by organizing elements based on their counts or digit/character positions.</a:t>
                      </a:r>
                    </a:p>
                  </a:txBody>
                  <a:tcPr marL="25596" marR="25596" marT="12798" marB="12798" anchor="ctr"/>
                </a:tc>
                <a:extLst>
                  <a:ext uri="{0D108BD9-81ED-4DB2-BD59-A6C34878D82A}">
                    <a16:rowId xmlns:a16="http://schemas.microsoft.com/office/drawing/2014/main" val="5621931"/>
                  </a:ext>
                </a:extLst>
              </a:tr>
            </a:tbl>
          </a:graphicData>
        </a:graphic>
      </p:graphicFrame>
    </p:spTree>
    <p:extLst>
      <p:ext uri="{BB962C8B-B14F-4D97-AF65-F5344CB8AC3E}">
        <p14:creationId xmlns:p14="http://schemas.microsoft.com/office/powerpoint/2010/main" val="2923046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laying Cards Ascending Order Clubs Stock Photo 126246284 | Shutterstock">
            <a:extLst>
              <a:ext uri="{FF2B5EF4-FFF2-40B4-BE49-F238E27FC236}">
                <a16:creationId xmlns:a16="http://schemas.microsoft.com/office/drawing/2014/main" id="{E074A47F-5708-1B71-2C56-807951A3BC0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38819" y="1344762"/>
            <a:ext cx="6048462" cy="4342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82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2E1C5-8D69-1234-8B32-7354C7289294}"/>
              </a:ext>
            </a:extLst>
          </p:cNvPr>
          <p:cNvSpPr>
            <a:spLocks noGrp="1"/>
          </p:cNvSpPr>
          <p:nvPr>
            <p:ph idx="1"/>
          </p:nvPr>
        </p:nvSpPr>
        <p:spPr/>
        <p:txBody>
          <a:bodyPr/>
          <a:lstStyle/>
          <a:p>
            <a:pPr marL="0" indent="0">
              <a:buNone/>
            </a:pPr>
            <a:r>
              <a:rPr lang="en-GB" dirty="0">
                <a:hlinkClick r:id="rId2"/>
              </a:rPr>
              <a:t>https://</a:t>
            </a:r>
            <a:r>
              <a:rPr lang="en-GB" dirty="0" err="1">
                <a:hlinkClick r:id="rId2"/>
              </a:rPr>
              <a:t>visualgo.net</a:t>
            </a:r>
            <a:r>
              <a:rPr lang="en-GB" dirty="0">
                <a:hlinkClick r:id="rId2"/>
              </a:rPr>
              <a:t>/</a:t>
            </a:r>
            <a:r>
              <a:rPr lang="en-GB" dirty="0" err="1">
                <a:hlinkClick r:id="rId2"/>
              </a:rPr>
              <a:t>en</a:t>
            </a:r>
            <a:r>
              <a:rPr lang="en-GB" dirty="0">
                <a:hlinkClick r:id="rId2"/>
              </a:rPr>
              <a:t>/sorting</a:t>
            </a:r>
            <a:endParaRPr lang="en-NL" dirty="0"/>
          </a:p>
        </p:txBody>
      </p:sp>
    </p:spTree>
    <p:extLst>
      <p:ext uri="{BB962C8B-B14F-4D97-AF65-F5344CB8AC3E}">
        <p14:creationId xmlns:p14="http://schemas.microsoft.com/office/powerpoint/2010/main" val="1329539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482ADA57-108E-9D1C-B96E-02AE0F659E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1081" y="349815"/>
            <a:ext cx="6854147" cy="615837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E0083DC2-8A20-6035-0221-5E73F068855C}"/>
              </a:ext>
            </a:extLst>
          </p:cNvPr>
          <p:cNvSpPr>
            <a:spLocks noGrp="1"/>
          </p:cNvSpPr>
          <p:nvPr>
            <p:ph type="title"/>
          </p:nvPr>
        </p:nvSpPr>
        <p:spPr>
          <a:xfrm>
            <a:off x="0" y="67807"/>
            <a:ext cx="10515600" cy="777875"/>
          </a:xfrm>
        </p:spPr>
        <p:txBody>
          <a:bodyPr/>
          <a:lstStyle/>
          <a:p>
            <a:r>
              <a:rPr lang="en-NL" dirty="0"/>
              <a:t>Quick Sort</a:t>
            </a:r>
          </a:p>
        </p:txBody>
      </p:sp>
    </p:spTree>
    <p:extLst>
      <p:ext uri="{BB962C8B-B14F-4D97-AF65-F5344CB8AC3E}">
        <p14:creationId xmlns:p14="http://schemas.microsoft.com/office/powerpoint/2010/main" val="2078409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Quicksort Algorithm – C++, Java, and Python Implementation | Techie Delight">
            <a:extLst>
              <a:ext uri="{FF2B5EF4-FFF2-40B4-BE49-F238E27FC236}">
                <a16:creationId xmlns:a16="http://schemas.microsoft.com/office/drawing/2014/main" id="{2070126F-ED48-A462-D2D0-E9BF939782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0114" y="536079"/>
            <a:ext cx="7735207" cy="5496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5941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CD910-0A50-483A-BB86-E62512163B44}"/>
              </a:ext>
            </a:extLst>
          </p:cNvPr>
          <p:cNvSpPr>
            <a:spLocks noGrp="1"/>
          </p:cNvSpPr>
          <p:nvPr>
            <p:ph type="title"/>
          </p:nvPr>
        </p:nvSpPr>
        <p:spPr>
          <a:xfrm>
            <a:off x="838200" y="365125"/>
            <a:ext cx="10515600" cy="777875"/>
          </a:xfrm>
        </p:spPr>
        <p:txBody>
          <a:bodyPr/>
          <a:lstStyle/>
          <a:p>
            <a:r>
              <a:rPr lang="en-NL" dirty="0"/>
              <a:t>Quick Sort - Pivot</a:t>
            </a:r>
          </a:p>
        </p:txBody>
      </p:sp>
      <p:graphicFrame>
        <p:nvGraphicFramePr>
          <p:cNvPr id="4" name="Table 3">
            <a:extLst>
              <a:ext uri="{FF2B5EF4-FFF2-40B4-BE49-F238E27FC236}">
                <a16:creationId xmlns:a16="http://schemas.microsoft.com/office/drawing/2014/main" id="{E2C2C4A1-9B94-541F-C88E-7DA13173D0A4}"/>
              </a:ext>
            </a:extLst>
          </p:cNvPr>
          <p:cNvGraphicFramePr>
            <a:graphicFrameLocks/>
          </p:cNvGraphicFramePr>
          <p:nvPr>
            <p:extLst>
              <p:ext uri="{D42A27DB-BD31-4B8C-83A1-F6EECF244321}">
                <p14:modId xmlns:p14="http://schemas.microsoft.com/office/powerpoint/2010/main" val="112460552"/>
              </p:ext>
            </p:extLst>
          </p:nvPr>
        </p:nvGraphicFramePr>
        <p:xfrm>
          <a:off x="1153885" y="4929300"/>
          <a:ext cx="3278778" cy="981925"/>
        </p:xfrm>
        <a:graphic>
          <a:graphicData uri="http://schemas.openxmlformats.org/drawingml/2006/table">
            <a:tbl>
              <a:tblPr>
                <a:tableStyleId>{073A0DAA-6AF3-43AB-8588-CEC1D06C72B9}</a:tableStyleId>
              </a:tblPr>
              <a:tblGrid>
                <a:gridCol w="1639389">
                  <a:extLst>
                    <a:ext uri="{9D8B030D-6E8A-4147-A177-3AD203B41FA5}">
                      <a16:colId xmlns:a16="http://schemas.microsoft.com/office/drawing/2014/main" val="484074236"/>
                    </a:ext>
                  </a:extLst>
                </a:gridCol>
                <a:gridCol w="1639389">
                  <a:extLst>
                    <a:ext uri="{9D8B030D-6E8A-4147-A177-3AD203B41FA5}">
                      <a16:colId xmlns:a16="http://schemas.microsoft.com/office/drawing/2014/main" val="3536125337"/>
                    </a:ext>
                  </a:extLst>
                </a:gridCol>
              </a:tblGrid>
              <a:tr h="981925">
                <a:tc>
                  <a:txBody>
                    <a:bodyPr/>
                    <a:lstStyle/>
                    <a:p>
                      <a:endParaRPr lang="en-NL" dirty="0"/>
                    </a:p>
                  </a:txBody>
                  <a:tcPr/>
                </a:tc>
                <a:tc>
                  <a:txBody>
                    <a:bodyPr/>
                    <a:lstStyle/>
                    <a:p>
                      <a:endParaRPr lang="en-NL" dirty="0"/>
                    </a:p>
                  </a:txBody>
                  <a:tcPr/>
                </a:tc>
                <a:extLst>
                  <a:ext uri="{0D108BD9-81ED-4DB2-BD59-A6C34878D82A}">
                    <a16:rowId xmlns:a16="http://schemas.microsoft.com/office/drawing/2014/main" val="2195331200"/>
                  </a:ext>
                </a:extLst>
              </a:tr>
            </a:tbl>
          </a:graphicData>
        </a:graphic>
      </p:graphicFrame>
      <p:graphicFrame>
        <p:nvGraphicFramePr>
          <p:cNvPr id="5" name="Table 4">
            <a:extLst>
              <a:ext uri="{FF2B5EF4-FFF2-40B4-BE49-F238E27FC236}">
                <a16:creationId xmlns:a16="http://schemas.microsoft.com/office/drawing/2014/main" id="{59CC11D1-5C92-6157-3DE3-0387DBE7A3D2}"/>
              </a:ext>
            </a:extLst>
          </p:cNvPr>
          <p:cNvGraphicFramePr>
            <a:graphicFrameLocks/>
          </p:cNvGraphicFramePr>
          <p:nvPr>
            <p:extLst>
              <p:ext uri="{D42A27DB-BD31-4B8C-83A1-F6EECF244321}">
                <p14:modId xmlns:p14="http://schemas.microsoft.com/office/powerpoint/2010/main" val="1559678113"/>
              </p:ext>
            </p:extLst>
          </p:nvPr>
        </p:nvGraphicFramePr>
        <p:xfrm>
          <a:off x="6435633" y="4908493"/>
          <a:ext cx="4918167" cy="981925"/>
        </p:xfrm>
        <a:graphic>
          <a:graphicData uri="http://schemas.openxmlformats.org/drawingml/2006/table">
            <a:tbl>
              <a:tblPr>
                <a:tableStyleId>{073A0DAA-6AF3-43AB-8588-CEC1D06C72B9}</a:tableStyleId>
              </a:tblPr>
              <a:tblGrid>
                <a:gridCol w="1639389">
                  <a:extLst>
                    <a:ext uri="{9D8B030D-6E8A-4147-A177-3AD203B41FA5}">
                      <a16:colId xmlns:a16="http://schemas.microsoft.com/office/drawing/2014/main" val="484074236"/>
                    </a:ext>
                  </a:extLst>
                </a:gridCol>
                <a:gridCol w="1639389">
                  <a:extLst>
                    <a:ext uri="{9D8B030D-6E8A-4147-A177-3AD203B41FA5}">
                      <a16:colId xmlns:a16="http://schemas.microsoft.com/office/drawing/2014/main" val="3536125337"/>
                    </a:ext>
                  </a:extLst>
                </a:gridCol>
                <a:gridCol w="1639389">
                  <a:extLst>
                    <a:ext uri="{9D8B030D-6E8A-4147-A177-3AD203B41FA5}">
                      <a16:colId xmlns:a16="http://schemas.microsoft.com/office/drawing/2014/main" val="1986085709"/>
                    </a:ext>
                  </a:extLst>
                </a:gridCol>
              </a:tblGrid>
              <a:tr h="981925">
                <a:tc>
                  <a:txBody>
                    <a:bodyPr/>
                    <a:lstStyle/>
                    <a:p>
                      <a:endParaRPr lang="en-NL" dirty="0"/>
                    </a:p>
                  </a:txBody>
                  <a:tcPr/>
                </a:tc>
                <a:tc>
                  <a:txBody>
                    <a:bodyPr/>
                    <a:lstStyle/>
                    <a:p>
                      <a:endParaRPr lang="en-NL" dirty="0"/>
                    </a:p>
                  </a:txBody>
                  <a:tcPr/>
                </a:tc>
                <a:tc>
                  <a:txBody>
                    <a:bodyPr/>
                    <a:lstStyle/>
                    <a:p>
                      <a:endParaRPr lang="en-NL" dirty="0"/>
                    </a:p>
                  </a:txBody>
                  <a:tcPr/>
                </a:tc>
                <a:extLst>
                  <a:ext uri="{0D108BD9-81ED-4DB2-BD59-A6C34878D82A}">
                    <a16:rowId xmlns:a16="http://schemas.microsoft.com/office/drawing/2014/main" val="2195331200"/>
                  </a:ext>
                </a:extLst>
              </a:tr>
            </a:tbl>
          </a:graphicData>
        </a:graphic>
      </p:graphicFrame>
      <p:graphicFrame>
        <p:nvGraphicFramePr>
          <p:cNvPr id="6" name="Table 4">
            <a:extLst>
              <a:ext uri="{FF2B5EF4-FFF2-40B4-BE49-F238E27FC236}">
                <a16:creationId xmlns:a16="http://schemas.microsoft.com/office/drawing/2014/main" id="{C91C95BD-BB85-4AAF-EDD3-4BBC267A2750}"/>
              </a:ext>
            </a:extLst>
          </p:cNvPr>
          <p:cNvGraphicFramePr>
            <a:graphicFrameLocks/>
          </p:cNvGraphicFramePr>
          <p:nvPr>
            <p:extLst>
              <p:ext uri="{D42A27DB-BD31-4B8C-83A1-F6EECF244321}">
                <p14:modId xmlns:p14="http://schemas.microsoft.com/office/powerpoint/2010/main" val="1873086672"/>
              </p:ext>
            </p:extLst>
          </p:nvPr>
        </p:nvGraphicFramePr>
        <p:xfrm>
          <a:off x="1480456" y="1894114"/>
          <a:ext cx="9263736" cy="904479"/>
        </p:xfrm>
        <a:graphic>
          <a:graphicData uri="http://schemas.openxmlformats.org/drawingml/2006/table">
            <a:tbl>
              <a:tblPr>
                <a:tableStyleId>{073A0DAA-6AF3-43AB-8588-CEC1D06C72B9}</a:tableStyleId>
              </a:tblPr>
              <a:tblGrid>
                <a:gridCol w="1543956">
                  <a:extLst>
                    <a:ext uri="{9D8B030D-6E8A-4147-A177-3AD203B41FA5}">
                      <a16:colId xmlns:a16="http://schemas.microsoft.com/office/drawing/2014/main" val="484074236"/>
                    </a:ext>
                  </a:extLst>
                </a:gridCol>
                <a:gridCol w="1543956">
                  <a:extLst>
                    <a:ext uri="{9D8B030D-6E8A-4147-A177-3AD203B41FA5}">
                      <a16:colId xmlns:a16="http://schemas.microsoft.com/office/drawing/2014/main" val="3536125337"/>
                    </a:ext>
                  </a:extLst>
                </a:gridCol>
                <a:gridCol w="1543956">
                  <a:extLst>
                    <a:ext uri="{9D8B030D-6E8A-4147-A177-3AD203B41FA5}">
                      <a16:colId xmlns:a16="http://schemas.microsoft.com/office/drawing/2014/main" val="1986085709"/>
                    </a:ext>
                  </a:extLst>
                </a:gridCol>
                <a:gridCol w="1543956">
                  <a:extLst>
                    <a:ext uri="{9D8B030D-6E8A-4147-A177-3AD203B41FA5}">
                      <a16:colId xmlns:a16="http://schemas.microsoft.com/office/drawing/2014/main" val="2977867611"/>
                    </a:ext>
                  </a:extLst>
                </a:gridCol>
                <a:gridCol w="1543956">
                  <a:extLst>
                    <a:ext uri="{9D8B030D-6E8A-4147-A177-3AD203B41FA5}">
                      <a16:colId xmlns:a16="http://schemas.microsoft.com/office/drawing/2014/main" val="4001602211"/>
                    </a:ext>
                  </a:extLst>
                </a:gridCol>
                <a:gridCol w="1543956">
                  <a:extLst>
                    <a:ext uri="{9D8B030D-6E8A-4147-A177-3AD203B41FA5}">
                      <a16:colId xmlns:a16="http://schemas.microsoft.com/office/drawing/2014/main" val="3268656920"/>
                    </a:ext>
                  </a:extLst>
                </a:gridCol>
              </a:tblGrid>
              <a:tr h="904479">
                <a:tc>
                  <a:txBody>
                    <a:bodyPr/>
                    <a:lstStyle/>
                    <a:p>
                      <a:endParaRPr lang="en-NL" dirty="0"/>
                    </a:p>
                  </a:txBody>
                  <a:tcPr/>
                </a:tc>
                <a:tc>
                  <a:txBody>
                    <a:bodyPr/>
                    <a:lstStyle/>
                    <a:p>
                      <a:endParaRPr lang="en-NL" dirty="0"/>
                    </a:p>
                  </a:txBody>
                  <a:tcPr/>
                </a:tc>
                <a:tc>
                  <a:txBody>
                    <a:bodyPr/>
                    <a:lstStyle/>
                    <a:p>
                      <a:endParaRPr lang="en-NL"/>
                    </a:p>
                  </a:txBody>
                  <a:tcPr/>
                </a:tc>
                <a:tc>
                  <a:txBody>
                    <a:bodyPr/>
                    <a:lstStyle/>
                    <a:p>
                      <a:endParaRPr lang="en-NL"/>
                    </a:p>
                  </a:txBody>
                  <a:tcPr/>
                </a:tc>
                <a:tc>
                  <a:txBody>
                    <a:bodyPr/>
                    <a:lstStyle/>
                    <a:p>
                      <a:endParaRPr lang="en-NL" dirty="0"/>
                    </a:p>
                  </a:txBody>
                  <a:tcPr/>
                </a:tc>
                <a:tc>
                  <a:txBody>
                    <a:bodyPr/>
                    <a:lstStyle/>
                    <a:p>
                      <a:endParaRPr lang="en-NL" dirty="0"/>
                    </a:p>
                  </a:txBody>
                  <a:tcPr/>
                </a:tc>
                <a:extLst>
                  <a:ext uri="{0D108BD9-81ED-4DB2-BD59-A6C34878D82A}">
                    <a16:rowId xmlns:a16="http://schemas.microsoft.com/office/drawing/2014/main" val="2195331200"/>
                  </a:ext>
                </a:extLst>
              </a:tr>
            </a:tbl>
          </a:graphicData>
        </a:graphic>
      </p:graphicFrame>
      <p:cxnSp>
        <p:nvCxnSpPr>
          <p:cNvPr id="7" name="Straight Arrow Connector 6">
            <a:extLst>
              <a:ext uri="{FF2B5EF4-FFF2-40B4-BE49-F238E27FC236}">
                <a16:creationId xmlns:a16="http://schemas.microsoft.com/office/drawing/2014/main" id="{28D2819F-51D3-4F6B-2242-C3CE0099A821}"/>
              </a:ext>
            </a:extLst>
          </p:cNvPr>
          <p:cNvCxnSpPr>
            <a:cxnSpLocks/>
          </p:cNvCxnSpPr>
          <p:nvPr/>
        </p:nvCxnSpPr>
        <p:spPr>
          <a:xfrm>
            <a:off x="2597330" y="3189514"/>
            <a:ext cx="0" cy="1426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F8C66F4-4AD3-E53A-8349-F2B5B58FC0A3}"/>
              </a:ext>
            </a:extLst>
          </p:cNvPr>
          <p:cNvCxnSpPr>
            <a:cxnSpLocks/>
          </p:cNvCxnSpPr>
          <p:nvPr/>
        </p:nvCxnSpPr>
        <p:spPr>
          <a:xfrm>
            <a:off x="8141426" y="3189514"/>
            <a:ext cx="0" cy="13498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7183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B75F0-AD60-9174-ABAE-269C7CF6C08D}"/>
              </a:ext>
            </a:extLst>
          </p:cNvPr>
          <p:cNvSpPr>
            <a:spLocks noGrp="1"/>
          </p:cNvSpPr>
          <p:nvPr>
            <p:ph type="title"/>
          </p:nvPr>
        </p:nvSpPr>
        <p:spPr>
          <a:xfrm>
            <a:off x="533400" y="283484"/>
            <a:ext cx="10515600" cy="903060"/>
          </a:xfrm>
        </p:spPr>
        <p:txBody>
          <a:bodyPr/>
          <a:lstStyle/>
          <a:p>
            <a:r>
              <a:rPr lang="en-NL" dirty="0"/>
              <a:t>Quick Sort Complexity (best case)</a:t>
            </a:r>
          </a:p>
        </p:txBody>
      </p:sp>
      <p:pic>
        <p:nvPicPr>
          <p:cNvPr id="2050" name="Picture 2" descr="Diagram of best case performance for Quick Sort, with a tree on the left and partitioning times on the right. The tree is labeled &quot;Subproblem size&quot; and the right is labeled &quot;Total partitioning time for all subproblems of this size.&quot;&#10;The first level of the tree shows a single node n and corresponding partitioning time of c times n. The second level of the tree shows two nodes, each of less than or equal to 1/2 n, and a partitioning time less than or equal to 2 times c times 1/2 n, the same as c times n. The third level of the tree shows four nodes, each of less than or equal to 1/4 n, and a partitioning time less than or equal to 4 times c times 1/4 n, the same as c times n. The fourth level of the tree shows eight nodes, each of less than ot equal to 1/8 n, and a partitioning time less than or equal to 8 times c times 1/8 n, the same as c times n. Underneath that level, dots are shown to indicate the tree continues like that. A final level is shown with n nodes of 1, and a partitioning time of less than or equal to n times c, the same as c times n.">
            <a:extLst>
              <a:ext uri="{FF2B5EF4-FFF2-40B4-BE49-F238E27FC236}">
                <a16:creationId xmlns:a16="http://schemas.microsoft.com/office/drawing/2014/main" id="{2B4FBA38-09EB-5004-45D8-7AB4F9AB3B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029" y="1284059"/>
            <a:ext cx="6731000" cy="510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4306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0FB8A-4FFE-1252-13D1-1138920E86D6}"/>
              </a:ext>
            </a:extLst>
          </p:cNvPr>
          <p:cNvSpPr>
            <a:spLocks noGrp="1"/>
          </p:cNvSpPr>
          <p:nvPr>
            <p:ph type="title"/>
          </p:nvPr>
        </p:nvSpPr>
        <p:spPr>
          <a:xfrm>
            <a:off x="533400" y="122692"/>
            <a:ext cx="10515600" cy="930275"/>
          </a:xfrm>
        </p:spPr>
        <p:txBody>
          <a:bodyPr/>
          <a:lstStyle/>
          <a:p>
            <a:r>
              <a:rPr lang="en-NL" dirty="0"/>
              <a:t>QuickSort Complexity (worst case)</a:t>
            </a:r>
          </a:p>
        </p:txBody>
      </p:sp>
      <p:pic>
        <p:nvPicPr>
          <p:cNvPr id="1026" name="Picture 2" descr="Diagram of worst case performance for Quick Sort, with a tree on the left and partition times on the right. The tree is labeled &quot;Subproblem sizes&quot; and the right is labeled &quot;Total partitioning time for all subproblems of this size.&quot;&#10;The first level of the tree shows a single node n and corresponding partitioning time of c times n. The second level of the tree shows two nodes, 0 and n minus 1, and a partitioning time of c times n minus 1. The third level of the tree shows two nodes, 0 and n minus 2, and a partitioning time of c times n minus 2. The fourth level of the tree shows two nodes, 0 and n minus 3, and a partitioning time of c times n minus 3. Underneath that level, dots indicate that the tree continues like that. The second to last level in the tree has a single node 2 with a partitioning time of 2 times c and the last level has two nodes of 0 and 1, with a partitioning time of 0.">
            <a:extLst>
              <a:ext uri="{FF2B5EF4-FFF2-40B4-BE49-F238E27FC236}">
                <a16:creationId xmlns:a16="http://schemas.microsoft.com/office/drawing/2014/main" id="{EBB2C10F-0CC9-984C-6DF9-C92DF6C5E1B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4913" y="1139258"/>
            <a:ext cx="5139370" cy="5065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2901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0FB8A-4FFE-1252-13D1-1138920E86D6}"/>
              </a:ext>
            </a:extLst>
          </p:cNvPr>
          <p:cNvSpPr>
            <a:spLocks noGrp="1"/>
          </p:cNvSpPr>
          <p:nvPr>
            <p:ph type="title"/>
          </p:nvPr>
        </p:nvSpPr>
        <p:spPr>
          <a:xfrm>
            <a:off x="422088" y="256475"/>
            <a:ext cx="10515600" cy="755596"/>
          </a:xfrm>
        </p:spPr>
        <p:txBody>
          <a:bodyPr/>
          <a:lstStyle/>
          <a:p>
            <a:r>
              <a:rPr lang="en-NL" dirty="0"/>
              <a:t>QuickSort Complexity (‘example’ case)</a:t>
            </a:r>
          </a:p>
        </p:txBody>
      </p:sp>
      <p:pic>
        <p:nvPicPr>
          <p:cNvPr id="4098" name="Picture 2" descr="Diagram of average case performance for Quick Sort">
            <a:extLst>
              <a:ext uri="{FF2B5EF4-FFF2-40B4-BE49-F238E27FC236}">
                <a16:creationId xmlns:a16="http://schemas.microsoft.com/office/drawing/2014/main" id="{61102B6C-9933-A2E8-CE40-FB28038321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037" y="1384186"/>
            <a:ext cx="7105276" cy="467745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902E5D2-0518-2375-E359-C834F426201E}"/>
              </a:ext>
            </a:extLst>
          </p:cNvPr>
          <p:cNvSpPr txBox="1"/>
          <p:nvPr/>
        </p:nvSpPr>
        <p:spPr>
          <a:xfrm>
            <a:off x="8242657" y="1850963"/>
            <a:ext cx="3477430" cy="2308324"/>
          </a:xfrm>
          <a:prstGeom prst="rect">
            <a:avLst/>
          </a:prstGeom>
          <a:noFill/>
        </p:spPr>
        <p:txBody>
          <a:bodyPr wrap="square">
            <a:spAutoFit/>
          </a:bodyPr>
          <a:lstStyle/>
          <a:p>
            <a:r>
              <a:rPr lang="en-GB" b="0" i="1" dirty="0">
                <a:solidFill>
                  <a:srgbClr val="21242C"/>
                </a:solidFill>
                <a:effectLst/>
                <a:latin typeface="KaTeX_Main"/>
              </a:rPr>
              <a:t>(4/3)</a:t>
            </a:r>
            <a:r>
              <a:rPr lang="en-GB" b="0" i="1" baseline="30000" dirty="0">
                <a:solidFill>
                  <a:srgbClr val="21242C"/>
                </a:solidFill>
                <a:effectLst/>
                <a:latin typeface="KaTeX_Math"/>
              </a:rPr>
              <a:t>x </a:t>
            </a:r>
            <a:r>
              <a:rPr lang="en-GB" b="0" i="1" dirty="0">
                <a:solidFill>
                  <a:srgbClr val="21242C"/>
                </a:solidFill>
                <a:effectLst/>
                <a:latin typeface="KaTeX_Main"/>
              </a:rPr>
              <a:t>=</a:t>
            </a:r>
            <a:r>
              <a:rPr lang="en-GB" b="0" i="0" dirty="0">
                <a:solidFill>
                  <a:srgbClr val="21242C"/>
                </a:solidFill>
                <a:effectLst/>
                <a:latin typeface="KaTeX_Main"/>
              </a:rPr>
              <a:t> </a:t>
            </a:r>
            <a:r>
              <a:rPr lang="en-GB" b="0" i="1" dirty="0">
                <a:solidFill>
                  <a:srgbClr val="21242C"/>
                </a:solidFill>
                <a:effectLst/>
                <a:latin typeface="KaTeX_Math"/>
              </a:rPr>
              <a:t>n </a:t>
            </a:r>
            <a:r>
              <a:rPr lang="en-GB" i="1" dirty="0">
                <a:solidFill>
                  <a:srgbClr val="21242C"/>
                </a:solidFill>
                <a:latin typeface="KaTeX_Math"/>
              </a:rPr>
              <a:t> </a:t>
            </a:r>
            <a:r>
              <a:rPr lang="en-GB" b="0" i="1" dirty="0">
                <a:solidFill>
                  <a:srgbClr val="21242C"/>
                </a:solidFill>
                <a:effectLst/>
                <a:latin typeface="KaTeX_Math"/>
              </a:rPr>
              <a:t>for which x?</a:t>
            </a:r>
            <a:br>
              <a:rPr lang="en-GB" b="0" i="1" dirty="0">
                <a:solidFill>
                  <a:srgbClr val="21242C"/>
                </a:solidFill>
                <a:effectLst/>
                <a:latin typeface="KaTeX_Math"/>
              </a:rPr>
            </a:br>
            <a:endParaRPr lang="en-GB" b="0" i="1" dirty="0">
              <a:solidFill>
                <a:srgbClr val="21242C"/>
              </a:solidFill>
              <a:effectLst/>
              <a:latin typeface="KaTeX_Math"/>
            </a:endParaRPr>
          </a:p>
          <a:p>
            <a:r>
              <a:rPr lang="en-GB" dirty="0">
                <a:solidFill>
                  <a:srgbClr val="21242C"/>
                </a:solidFill>
                <a:latin typeface="KaTeX_Main"/>
              </a:rPr>
              <a:t> </a:t>
            </a:r>
            <a:r>
              <a:rPr lang="en-GB" dirty="0">
                <a:solidFill>
                  <a:srgbClr val="21242C"/>
                </a:solidFill>
              </a:rPr>
              <a:t>a</a:t>
            </a:r>
            <a:r>
              <a:rPr lang="en-GB" b="0" i="0" dirty="0">
                <a:solidFill>
                  <a:srgbClr val="21242C"/>
                </a:solidFill>
                <a:effectLst/>
              </a:rPr>
              <a:t>nswer: </a:t>
            </a:r>
            <a:r>
              <a:rPr lang="en-GB" b="0" i="0" dirty="0">
                <a:solidFill>
                  <a:srgbClr val="21242C"/>
                </a:solidFill>
                <a:effectLst/>
                <a:latin typeface="KaTeX_Main"/>
              </a:rPr>
              <a:t>		</a:t>
            </a:r>
          </a:p>
          <a:p>
            <a:pPr algn="ctr"/>
            <a:r>
              <a:rPr lang="en-GB" b="0" i="1" dirty="0">
                <a:solidFill>
                  <a:srgbClr val="21242C"/>
                </a:solidFill>
                <a:effectLst/>
                <a:latin typeface="KaTeX_Main"/>
              </a:rPr>
              <a:t>log</a:t>
            </a:r>
            <a:r>
              <a:rPr lang="en-GB" b="0" i="1" baseline="-25000" dirty="0">
                <a:solidFill>
                  <a:srgbClr val="21242C"/>
                </a:solidFill>
                <a:effectLst/>
                <a:latin typeface="inherit"/>
              </a:rPr>
              <a:t>4/3</a:t>
            </a:r>
            <a:r>
              <a:rPr lang="en-GB" b="0" i="1" dirty="0">
                <a:solidFill>
                  <a:srgbClr val="21242C"/>
                </a:solidFill>
                <a:effectLst/>
                <a:latin typeface="inherit"/>
              </a:rPr>
              <a:t>​</a:t>
            </a:r>
            <a:r>
              <a:rPr lang="en-GB" b="0" i="1" dirty="0">
                <a:solidFill>
                  <a:srgbClr val="21242C"/>
                </a:solidFill>
                <a:effectLst/>
                <a:latin typeface="KaTeX_Math"/>
              </a:rPr>
              <a:t>n</a:t>
            </a:r>
          </a:p>
          <a:p>
            <a:r>
              <a:rPr lang="en-GB" dirty="0">
                <a:solidFill>
                  <a:srgbClr val="222222"/>
                </a:solidFill>
              </a:rPr>
              <a:t> a</a:t>
            </a:r>
            <a:r>
              <a:rPr lang="en-GB" b="0" i="0" dirty="0">
                <a:solidFill>
                  <a:srgbClr val="222222"/>
                </a:solidFill>
                <a:effectLst/>
              </a:rPr>
              <a:t>nd:</a:t>
            </a:r>
          </a:p>
          <a:p>
            <a:pPr algn="ctr"/>
            <a:r>
              <a:rPr lang="en-GB" dirty="0">
                <a:solidFill>
                  <a:srgbClr val="222222"/>
                </a:solidFill>
                <a:latin typeface="times new roman" panose="02020603050405020304" pitchFamily="18" charset="0"/>
              </a:rPr>
              <a:t>   </a:t>
            </a:r>
            <a:r>
              <a:rPr lang="en-GB" dirty="0" err="1">
                <a:solidFill>
                  <a:srgbClr val="222222"/>
                </a:solidFill>
                <a:latin typeface="times new roman" panose="02020603050405020304" pitchFamily="18" charset="0"/>
              </a:rPr>
              <a:t>l</a:t>
            </a:r>
            <a:r>
              <a:rPr lang="en-GB" b="0" i="0" dirty="0" err="1">
                <a:solidFill>
                  <a:srgbClr val="222222"/>
                </a:solidFill>
                <a:effectLst/>
                <a:latin typeface="times new roman" panose="02020603050405020304" pitchFamily="18" charset="0"/>
              </a:rPr>
              <a:t>og</a:t>
            </a:r>
            <a:r>
              <a:rPr lang="en-GB" b="0" i="1" baseline="-25000" dirty="0" err="1">
                <a:solidFill>
                  <a:srgbClr val="222222"/>
                </a:solidFill>
                <a:effectLst/>
                <a:latin typeface="times new roman" panose="02020603050405020304" pitchFamily="18" charset="0"/>
              </a:rPr>
              <a:t>b</a:t>
            </a:r>
            <a:r>
              <a:rPr lang="en-GB" b="0" i="0" dirty="0">
                <a:solidFill>
                  <a:srgbClr val="222222"/>
                </a:solidFill>
                <a:effectLst/>
                <a:latin typeface="times new roman" panose="02020603050405020304" pitchFamily="18" charset="0"/>
              </a:rPr>
              <a:t>(</a:t>
            </a:r>
            <a:r>
              <a:rPr lang="en-GB" b="0" i="1" dirty="0">
                <a:solidFill>
                  <a:srgbClr val="222222"/>
                </a:solidFill>
                <a:effectLst/>
                <a:latin typeface="times new roman" panose="02020603050405020304" pitchFamily="18" charset="0"/>
              </a:rPr>
              <a:t>x</a:t>
            </a:r>
            <a:r>
              <a:rPr lang="en-GB" b="0" i="0" dirty="0">
                <a:solidFill>
                  <a:srgbClr val="222222"/>
                </a:solidFill>
                <a:effectLst/>
                <a:latin typeface="times new roman" panose="02020603050405020304" pitchFamily="18" charset="0"/>
              </a:rPr>
              <a:t>) = </a:t>
            </a:r>
            <a:r>
              <a:rPr lang="en-GB" b="0" i="0" dirty="0" err="1">
                <a:solidFill>
                  <a:srgbClr val="222222"/>
                </a:solidFill>
                <a:effectLst/>
                <a:latin typeface="times new roman" panose="02020603050405020304" pitchFamily="18" charset="0"/>
              </a:rPr>
              <a:t>log</a:t>
            </a:r>
            <a:r>
              <a:rPr lang="en-GB" b="0" i="1" baseline="-25000" dirty="0" err="1">
                <a:solidFill>
                  <a:srgbClr val="222222"/>
                </a:solidFill>
                <a:effectLst/>
                <a:latin typeface="times new roman" panose="02020603050405020304" pitchFamily="18" charset="0"/>
              </a:rPr>
              <a:t>c</a:t>
            </a:r>
            <a:r>
              <a:rPr lang="en-GB" b="0" i="0" dirty="0">
                <a:solidFill>
                  <a:srgbClr val="222222"/>
                </a:solidFill>
                <a:effectLst/>
                <a:latin typeface="times new roman" panose="02020603050405020304" pitchFamily="18" charset="0"/>
              </a:rPr>
              <a:t>(</a:t>
            </a:r>
            <a:r>
              <a:rPr lang="en-GB" b="0" i="1" dirty="0">
                <a:solidFill>
                  <a:srgbClr val="222222"/>
                </a:solidFill>
                <a:effectLst/>
                <a:latin typeface="times new roman" panose="02020603050405020304" pitchFamily="18" charset="0"/>
              </a:rPr>
              <a:t>x</a:t>
            </a:r>
            <a:r>
              <a:rPr lang="en-GB" b="0" i="0" dirty="0">
                <a:solidFill>
                  <a:srgbClr val="222222"/>
                </a:solidFill>
                <a:effectLst/>
                <a:latin typeface="times new roman" panose="02020603050405020304" pitchFamily="18" charset="0"/>
              </a:rPr>
              <a:t>)</a:t>
            </a:r>
            <a:r>
              <a:rPr lang="en-GB" b="0" i="1" dirty="0">
                <a:solidFill>
                  <a:srgbClr val="222222"/>
                </a:solidFill>
                <a:effectLst/>
                <a:latin typeface="times new roman" panose="02020603050405020304" pitchFamily="18" charset="0"/>
              </a:rPr>
              <a:t> </a:t>
            </a:r>
            <a:r>
              <a:rPr lang="en-GB" b="0" i="0" dirty="0">
                <a:solidFill>
                  <a:srgbClr val="222222"/>
                </a:solidFill>
                <a:effectLst/>
                <a:latin typeface="times new roman" panose="02020603050405020304" pitchFamily="18" charset="0"/>
              </a:rPr>
              <a:t>/</a:t>
            </a:r>
            <a:r>
              <a:rPr lang="en-GB" b="0" i="1" dirty="0">
                <a:solidFill>
                  <a:srgbClr val="222222"/>
                </a:solidFill>
                <a:effectLst/>
                <a:latin typeface="times new roman" panose="02020603050405020304" pitchFamily="18" charset="0"/>
              </a:rPr>
              <a:t> </a:t>
            </a:r>
            <a:r>
              <a:rPr lang="en-GB" b="0" i="0" dirty="0" err="1">
                <a:solidFill>
                  <a:srgbClr val="222222"/>
                </a:solidFill>
                <a:effectLst/>
                <a:latin typeface="times new roman" panose="02020603050405020304" pitchFamily="18" charset="0"/>
              </a:rPr>
              <a:t>log</a:t>
            </a:r>
            <a:r>
              <a:rPr lang="en-GB" b="0" i="1" baseline="-25000" dirty="0" err="1">
                <a:solidFill>
                  <a:srgbClr val="222222"/>
                </a:solidFill>
                <a:effectLst/>
                <a:latin typeface="times new roman" panose="02020603050405020304" pitchFamily="18" charset="0"/>
              </a:rPr>
              <a:t>c</a:t>
            </a:r>
            <a:r>
              <a:rPr lang="en-GB" b="0" i="0" dirty="0">
                <a:solidFill>
                  <a:srgbClr val="222222"/>
                </a:solidFill>
                <a:effectLst/>
                <a:latin typeface="times new roman" panose="02020603050405020304" pitchFamily="18" charset="0"/>
              </a:rPr>
              <a:t>(</a:t>
            </a:r>
            <a:r>
              <a:rPr lang="en-GB" b="0" i="1" dirty="0">
                <a:solidFill>
                  <a:srgbClr val="222222"/>
                </a:solidFill>
                <a:effectLst/>
                <a:latin typeface="times new roman" panose="02020603050405020304" pitchFamily="18" charset="0"/>
              </a:rPr>
              <a:t>b</a:t>
            </a:r>
            <a:r>
              <a:rPr lang="en-GB" b="0" i="0" dirty="0">
                <a:solidFill>
                  <a:srgbClr val="222222"/>
                </a:solidFill>
                <a:effectLst/>
                <a:latin typeface="times new roman" panose="02020603050405020304" pitchFamily="18" charset="0"/>
              </a:rPr>
              <a:t>)</a:t>
            </a:r>
          </a:p>
          <a:p>
            <a:r>
              <a:rPr lang="en-GB" dirty="0">
                <a:solidFill>
                  <a:srgbClr val="222222"/>
                </a:solidFill>
              </a:rPr>
              <a:t> thus:</a:t>
            </a:r>
            <a:endParaRPr lang="en-NL" dirty="0"/>
          </a:p>
          <a:p>
            <a:endParaRPr lang="en-NL" i="1" dirty="0"/>
          </a:p>
        </p:txBody>
      </p:sp>
      <p:pic>
        <p:nvPicPr>
          <p:cNvPr id="18" name="Picture 17">
            <a:extLst>
              <a:ext uri="{FF2B5EF4-FFF2-40B4-BE49-F238E27FC236}">
                <a16:creationId xmlns:a16="http://schemas.microsoft.com/office/drawing/2014/main" id="{976EF2D4-ACB5-9EF8-94E4-355C56DF62B3}"/>
              </a:ext>
            </a:extLst>
          </p:cNvPr>
          <p:cNvPicPr>
            <a:picLocks noChangeAspect="1"/>
          </p:cNvPicPr>
          <p:nvPr/>
        </p:nvPicPr>
        <p:blipFill>
          <a:blip r:embed="rId3"/>
          <a:stretch>
            <a:fillRect/>
          </a:stretch>
        </p:blipFill>
        <p:spPr>
          <a:xfrm>
            <a:off x="8883000" y="3882288"/>
            <a:ext cx="2196743" cy="910362"/>
          </a:xfrm>
          <a:prstGeom prst="rect">
            <a:avLst/>
          </a:prstGeom>
        </p:spPr>
      </p:pic>
    </p:spTree>
    <p:extLst>
      <p:ext uri="{BB962C8B-B14F-4D97-AF65-F5344CB8AC3E}">
        <p14:creationId xmlns:p14="http://schemas.microsoft.com/office/powerpoint/2010/main" val="50010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A550D-1358-1752-2721-2EF393A83128}"/>
              </a:ext>
            </a:extLst>
          </p:cNvPr>
          <p:cNvSpPr>
            <a:spLocks noGrp="1"/>
          </p:cNvSpPr>
          <p:nvPr>
            <p:ph type="title"/>
          </p:nvPr>
        </p:nvSpPr>
        <p:spPr>
          <a:xfrm>
            <a:off x="838200" y="365125"/>
            <a:ext cx="10515600" cy="843189"/>
          </a:xfrm>
        </p:spPr>
        <p:txBody>
          <a:bodyPr/>
          <a:lstStyle/>
          <a:p>
            <a:r>
              <a:rPr lang="en-NL" dirty="0"/>
              <a:t>Merge Sort</a:t>
            </a:r>
          </a:p>
        </p:txBody>
      </p:sp>
      <p:pic>
        <p:nvPicPr>
          <p:cNvPr id="6148" name="Picture 4">
            <a:extLst>
              <a:ext uri="{FF2B5EF4-FFF2-40B4-BE49-F238E27FC236}">
                <a16:creationId xmlns:a16="http://schemas.microsoft.com/office/drawing/2014/main" id="{8CE5AC1E-F1E6-A22C-37DD-F5129B1509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4229" y="365125"/>
            <a:ext cx="6350000" cy="6108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336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185C4-B73D-6CD3-63C9-18821F27E23D}"/>
              </a:ext>
            </a:extLst>
          </p:cNvPr>
          <p:cNvSpPr>
            <a:spLocks noGrp="1"/>
          </p:cNvSpPr>
          <p:nvPr>
            <p:ph type="title"/>
          </p:nvPr>
        </p:nvSpPr>
        <p:spPr>
          <a:xfrm>
            <a:off x="838200" y="365126"/>
            <a:ext cx="10515600" cy="962932"/>
          </a:xfrm>
        </p:spPr>
        <p:txBody>
          <a:bodyPr/>
          <a:lstStyle/>
          <a:p>
            <a:r>
              <a:rPr lang="en-NL" dirty="0"/>
              <a:t>Merge Sort - Merging</a:t>
            </a:r>
          </a:p>
        </p:txBody>
      </p:sp>
      <p:graphicFrame>
        <p:nvGraphicFramePr>
          <p:cNvPr id="5" name="Table 4">
            <a:extLst>
              <a:ext uri="{FF2B5EF4-FFF2-40B4-BE49-F238E27FC236}">
                <a16:creationId xmlns:a16="http://schemas.microsoft.com/office/drawing/2014/main" id="{EA7FD6EA-8247-C2B9-EEDA-831A8B283403}"/>
              </a:ext>
            </a:extLst>
          </p:cNvPr>
          <p:cNvGraphicFramePr>
            <a:graphicFrameLocks/>
          </p:cNvGraphicFramePr>
          <p:nvPr>
            <p:extLst>
              <p:ext uri="{D42A27DB-BD31-4B8C-83A1-F6EECF244321}">
                <p14:modId xmlns:p14="http://schemas.microsoft.com/office/powerpoint/2010/main" val="2855022804"/>
              </p:ext>
            </p:extLst>
          </p:nvPr>
        </p:nvGraphicFramePr>
        <p:xfrm>
          <a:off x="1589314" y="2107067"/>
          <a:ext cx="3278778" cy="765175"/>
        </p:xfrm>
        <a:graphic>
          <a:graphicData uri="http://schemas.openxmlformats.org/drawingml/2006/table">
            <a:tbl>
              <a:tblPr>
                <a:tableStyleId>{073A0DAA-6AF3-43AB-8588-CEC1D06C72B9}</a:tableStyleId>
              </a:tblPr>
              <a:tblGrid>
                <a:gridCol w="1639389">
                  <a:extLst>
                    <a:ext uri="{9D8B030D-6E8A-4147-A177-3AD203B41FA5}">
                      <a16:colId xmlns:a16="http://schemas.microsoft.com/office/drawing/2014/main" val="484074236"/>
                    </a:ext>
                  </a:extLst>
                </a:gridCol>
                <a:gridCol w="1639389">
                  <a:extLst>
                    <a:ext uri="{9D8B030D-6E8A-4147-A177-3AD203B41FA5}">
                      <a16:colId xmlns:a16="http://schemas.microsoft.com/office/drawing/2014/main" val="3536125337"/>
                    </a:ext>
                  </a:extLst>
                </a:gridCol>
              </a:tblGrid>
              <a:tr h="765175">
                <a:tc>
                  <a:txBody>
                    <a:bodyPr/>
                    <a:lstStyle/>
                    <a:p>
                      <a:endParaRPr lang="en-NL"/>
                    </a:p>
                  </a:txBody>
                  <a:tcPr/>
                </a:tc>
                <a:tc>
                  <a:txBody>
                    <a:bodyPr/>
                    <a:lstStyle/>
                    <a:p>
                      <a:endParaRPr lang="en-NL" dirty="0"/>
                    </a:p>
                  </a:txBody>
                  <a:tcPr/>
                </a:tc>
                <a:extLst>
                  <a:ext uri="{0D108BD9-81ED-4DB2-BD59-A6C34878D82A}">
                    <a16:rowId xmlns:a16="http://schemas.microsoft.com/office/drawing/2014/main" val="2195331200"/>
                  </a:ext>
                </a:extLst>
              </a:tr>
            </a:tbl>
          </a:graphicData>
        </a:graphic>
      </p:graphicFrame>
      <p:graphicFrame>
        <p:nvGraphicFramePr>
          <p:cNvPr id="6" name="Table 4">
            <a:extLst>
              <a:ext uri="{FF2B5EF4-FFF2-40B4-BE49-F238E27FC236}">
                <a16:creationId xmlns:a16="http://schemas.microsoft.com/office/drawing/2014/main" id="{14462C78-7970-E961-76DC-5C1472121FF3}"/>
              </a:ext>
            </a:extLst>
          </p:cNvPr>
          <p:cNvGraphicFramePr>
            <a:graphicFrameLocks/>
          </p:cNvGraphicFramePr>
          <p:nvPr>
            <p:extLst>
              <p:ext uri="{D42A27DB-BD31-4B8C-83A1-F6EECF244321}">
                <p14:modId xmlns:p14="http://schemas.microsoft.com/office/powerpoint/2010/main" val="2272777128"/>
              </p:ext>
            </p:extLst>
          </p:nvPr>
        </p:nvGraphicFramePr>
        <p:xfrm>
          <a:off x="5878286" y="2107067"/>
          <a:ext cx="4918167" cy="765175"/>
        </p:xfrm>
        <a:graphic>
          <a:graphicData uri="http://schemas.openxmlformats.org/drawingml/2006/table">
            <a:tbl>
              <a:tblPr>
                <a:tableStyleId>{073A0DAA-6AF3-43AB-8588-CEC1D06C72B9}</a:tableStyleId>
              </a:tblPr>
              <a:tblGrid>
                <a:gridCol w="1639389">
                  <a:extLst>
                    <a:ext uri="{9D8B030D-6E8A-4147-A177-3AD203B41FA5}">
                      <a16:colId xmlns:a16="http://schemas.microsoft.com/office/drawing/2014/main" val="484074236"/>
                    </a:ext>
                  </a:extLst>
                </a:gridCol>
                <a:gridCol w="1639389">
                  <a:extLst>
                    <a:ext uri="{9D8B030D-6E8A-4147-A177-3AD203B41FA5}">
                      <a16:colId xmlns:a16="http://schemas.microsoft.com/office/drawing/2014/main" val="3536125337"/>
                    </a:ext>
                  </a:extLst>
                </a:gridCol>
                <a:gridCol w="1639389">
                  <a:extLst>
                    <a:ext uri="{9D8B030D-6E8A-4147-A177-3AD203B41FA5}">
                      <a16:colId xmlns:a16="http://schemas.microsoft.com/office/drawing/2014/main" val="1986085709"/>
                    </a:ext>
                  </a:extLst>
                </a:gridCol>
              </a:tblGrid>
              <a:tr h="765175">
                <a:tc>
                  <a:txBody>
                    <a:bodyPr/>
                    <a:lstStyle/>
                    <a:p>
                      <a:endParaRPr lang="en-NL"/>
                    </a:p>
                  </a:txBody>
                  <a:tcPr/>
                </a:tc>
                <a:tc>
                  <a:txBody>
                    <a:bodyPr/>
                    <a:lstStyle/>
                    <a:p>
                      <a:endParaRPr lang="en-NL" dirty="0"/>
                    </a:p>
                  </a:txBody>
                  <a:tcPr/>
                </a:tc>
                <a:tc>
                  <a:txBody>
                    <a:bodyPr/>
                    <a:lstStyle/>
                    <a:p>
                      <a:endParaRPr lang="en-NL" dirty="0"/>
                    </a:p>
                  </a:txBody>
                  <a:tcPr/>
                </a:tc>
                <a:extLst>
                  <a:ext uri="{0D108BD9-81ED-4DB2-BD59-A6C34878D82A}">
                    <a16:rowId xmlns:a16="http://schemas.microsoft.com/office/drawing/2014/main" val="2195331200"/>
                  </a:ext>
                </a:extLst>
              </a:tr>
            </a:tbl>
          </a:graphicData>
        </a:graphic>
      </p:graphicFrame>
      <p:graphicFrame>
        <p:nvGraphicFramePr>
          <p:cNvPr id="7" name="Table 4">
            <a:extLst>
              <a:ext uri="{FF2B5EF4-FFF2-40B4-BE49-F238E27FC236}">
                <a16:creationId xmlns:a16="http://schemas.microsoft.com/office/drawing/2014/main" id="{43A30CCF-8876-32D8-5F30-501ED8B5EC61}"/>
              </a:ext>
            </a:extLst>
          </p:cNvPr>
          <p:cNvGraphicFramePr>
            <a:graphicFrameLocks/>
          </p:cNvGraphicFramePr>
          <p:nvPr>
            <p:extLst>
              <p:ext uri="{D42A27DB-BD31-4B8C-83A1-F6EECF244321}">
                <p14:modId xmlns:p14="http://schemas.microsoft.com/office/powerpoint/2010/main" val="1769033137"/>
              </p:ext>
            </p:extLst>
          </p:nvPr>
        </p:nvGraphicFramePr>
        <p:xfrm>
          <a:off x="1883228" y="4993367"/>
          <a:ext cx="8196945" cy="765175"/>
        </p:xfrm>
        <a:graphic>
          <a:graphicData uri="http://schemas.openxmlformats.org/drawingml/2006/table">
            <a:tbl>
              <a:tblPr>
                <a:tableStyleId>{073A0DAA-6AF3-43AB-8588-CEC1D06C72B9}</a:tableStyleId>
              </a:tblPr>
              <a:tblGrid>
                <a:gridCol w="1639389">
                  <a:extLst>
                    <a:ext uri="{9D8B030D-6E8A-4147-A177-3AD203B41FA5}">
                      <a16:colId xmlns:a16="http://schemas.microsoft.com/office/drawing/2014/main" val="484074236"/>
                    </a:ext>
                  </a:extLst>
                </a:gridCol>
                <a:gridCol w="1639389">
                  <a:extLst>
                    <a:ext uri="{9D8B030D-6E8A-4147-A177-3AD203B41FA5}">
                      <a16:colId xmlns:a16="http://schemas.microsoft.com/office/drawing/2014/main" val="3536125337"/>
                    </a:ext>
                  </a:extLst>
                </a:gridCol>
                <a:gridCol w="1639389">
                  <a:extLst>
                    <a:ext uri="{9D8B030D-6E8A-4147-A177-3AD203B41FA5}">
                      <a16:colId xmlns:a16="http://schemas.microsoft.com/office/drawing/2014/main" val="1986085709"/>
                    </a:ext>
                  </a:extLst>
                </a:gridCol>
                <a:gridCol w="1639389">
                  <a:extLst>
                    <a:ext uri="{9D8B030D-6E8A-4147-A177-3AD203B41FA5}">
                      <a16:colId xmlns:a16="http://schemas.microsoft.com/office/drawing/2014/main" val="2977867611"/>
                    </a:ext>
                  </a:extLst>
                </a:gridCol>
                <a:gridCol w="1639389">
                  <a:extLst>
                    <a:ext uri="{9D8B030D-6E8A-4147-A177-3AD203B41FA5}">
                      <a16:colId xmlns:a16="http://schemas.microsoft.com/office/drawing/2014/main" val="4001602211"/>
                    </a:ext>
                  </a:extLst>
                </a:gridCol>
              </a:tblGrid>
              <a:tr h="765175">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dirty="0"/>
                    </a:p>
                  </a:txBody>
                  <a:tcPr/>
                </a:tc>
                <a:extLst>
                  <a:ext uri="{0D108BD9-81ED-4DB2-BD59-A6C34878D82A}">
                    <a16:rowId xmlns:a16="http://schemas.microsoft.com/office/drawing/2014/main" val="2195331200"/>
                  </a:ext>
                </a:extLst>
              </a:tr>
            </a:tbl>
          </a:graphicData>
        </a:graphic>
      </p:graphicFrame>
      <p:cxnSp>
        <p:nvCxnSpPr>
          <p:cNvPr id="11" name="Straight Arrow Connector 10">
            <a:extLst>
              <a:ext uri="{FF2B5EF4-FFF2-40B4-BE49-F238E27FC236}">
                <a16:creationId xmlns:a16="http://schemas.microsoft.com/office/drawing/2014/main" id="{FF530BB5-D7F5-6692-AD9E-5B25D64B0CD6}"/>
              </a:ext>
            </a:extLst>
          </p:cNvPr>
          <p:cNvCxnSpPr/>
          <p:nvPr/>
        </p:nvCxnSpPr>
        <p:spPr>
          <a:xfrm>
            <a:off x="3603171" y="3233057"/>
            <a:ext cx="979715" cy="1240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5D38B71-1961-A3B6-4B38-3D4313939F66}"/>
              </a:ext>
            </a:extLst>
          </p:cNvPr>
          <p:cNvCxnSpPr/>
          <p:nvPr/>
        </p:nvCxnSpPr>
        <p:spPr>
          <a:xfrm flipH="1">
            <a:off x="6934200" y="3124200"/>
            <a:ext cx="1403169" cy="1360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42233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185C4-B73D-6CD3-63C9-18821F27E23D}"/>
              </a:ext>
            </a:extLst>
          </p:cNvPr>
          <p:cNvSpPr>
            <a:spLocks noGrp="1"/>
          </p:cNvSpPr>
          <p:nvPr>
            <p:ph type="title"/>
          </p:nvPr>
        </p:nvSpPr>
        <p:spPr>
          <a:xfrm>
            <a:off x="838200" y="365126"/>
            <a:ext cx="10515600" cy="962932"/>
          </a:xfrm>
        </p:spPr>
        <p:txBody>
          <a:bodyPr/>
          <a:lstStyle/>
          <a:p>
            <a:r>
              <a:rPr lang="en-NL" dirty="0"/>
              <a:t>Merge Sort - Merging</a:t>
            </a:r>
          </a:p>
        </p:txBody>
      </p:sp>
      <p:graphicFrame>
        <p:nvGraphicFramePr>
          <p:cNvPr id="5" name="Table 4">
            <a:extLst>
              <a:ext uri="{FF2B5EF4-FFF2-40B4-BE49-F238E27FC236}">
                <a16:creationId xmlns:a16="http://schemas.microsoft.com/office/drawing/2014/main" id="{EA7FD6EA-8247-C2B9-EEDA-831A8B283403}"/>
              </a:ext>
            </a:extLst>
          </p:cNvPr>
          <p:cNvGraphicFramePr>
            <a:graphicFrameLocks/>
          </p:cNvGraphicFramePr>
          <p:nvPr>
            <p:extLst>
              <p:ext uri="{D42A27DB-BD31-4B8C-83A1-F6EECF244321}">
                <p14:modId xmlns:p14="http://schemas.microsoft.com/office/powerpoint/2010/main" val="2400644325"/>
              </p:ext>
            </p:extLst>
          </p:nvPr>
        </p:nvGraphicFramePr>
        <p:xfrm>
          <a:off x="1248590" y="1448025"/>
          <a:ext cx="1639389" cy="765175"/>
        </p:xfrm>
        <a:graphic>
          <a:graphicData uri="http://schemas.openxmlformats.org/drawingml/2006/table">
            <a:tbl>
              <a:tblPr>
                <a:tableStyleId>{073A0DAA-6AF3-43AB-8588-CEC1D06C72B9}</a:tableStyleId>
              </a:tblPr>
              <a:tblGrid>
                <a:gridCol w="1639389">
                  <a:extLst>
                    <a:ext uri="{9D8B030D-6E8A-4147-A177-3AD203B41FA5}">
                      <a16:colId xmlns:a16="http://schemas.microsoft.com/office/drawing/2014/main" val="484074236"/>
                    </a:ext>
                  </a:extLst>
                </a:gridCol>
              </a:tblGrid>
              <a:tr h="765175">
                <a:tc>
                  <a:txBody>
                    <a:bodyPr/>
                    <a:lstStyle/>
                    <a:p>
                      <a:endParaRPr lang="en-NL" dirty="0"/>
                    </a:p>
                  </a:txBody>
                  <a:tcPr/>
                </a:tc>
                <a:extLst>
                  <a:ext uri="{0D108BD9-81ED-4DB2-BD59-A6C34878D82A}">
                    <a16:rowId xmlns:a16="http://schemas.microsoft.com/office/drawing/2014/main" val="2195331200"/>
                  </a:ext>
                </a:extLst>
              </a:tr>
            </a:tbl>
          </a:graphicData>
        </a:graphic>
      </p:graphicFrame>
      <p:graphicFrame>
        <p:nvGraphicFramePr>
          <p:cNvPr id="6" name="Table 4">
            <a:extLst>
              <a:ext uri="{FF2B5EF4-FFF2-40B4-BE49-F238E27FC236}">
                <a16:creationId xmlns:a16="http://schemas.microsoft.com/office/drawing/2014/main" id="{14462C78-7970-E961-76DC-5C1472121FF3}"/>
              </a:ext>
            </a:extLst>
          </p:cNvPr>
          <p:cNvGraphicFramePr>
            <a:graphicFrameLocks/>
          </p:cNvGraphicFramePr>
          <p:nvPr>
            <p:extLst>
              <p:ext uri="{D42A27DB-BD31-4B8C-83A1-F6EECF244321}">
                <p14:modId xmlns:p14="http://schemas.microsoft.com/office/powerpoint/2010/main" val="3075312918"/>
              </p:ext>
            </p:extLst>
          </p:nvPr>
        </p:nvGraphicFramePr>
        <p:xfrm>
          <a:off x="3571601" y="1428296"/>
          <a:ext cx="1639389" cy="765175"/>
        </p:xfrm>
        <a:graphic>
          <a:graphicData uri="http://schemas.openxmlformats.org/drawingml/2006/table">
            <a:tbl>
              <a:tblPr>
                <a:tableStyleId>{073A0DAA-6AF3-43AB-8588-CEC1D06C72B9}</a:tableStyleId>
              </a:tblPr>
              <a:tblGrid>
                <a:gridCol w="1639389">
                  <a:extLst>
                    <a:ext uri="{9D8B030D-6E8A-4147-A177-3AD203B41FA5}">
                      <a16:colId xmlns:a16="http://schemas.microsoft.com/office/drawing/2014/main" val="484074236"/>
                    </a:ext>
                  </a:extLst>
                </a:gridCol>
              </a:tblGrid>
              <a:tr h="765175">
                <a:tc>
                  <a:txBody>
                    <a:bodyPr/>
                    <a:lstStyle/>
                    <a:p>
                      <a:endParaRPr lang="en-NL" dirty="0"/>
                    </a:p>
                  </a:txBody>
                  <a:tcPr/>
                </a:tc>
                <a:extLst>
                  <a:ext uri="{0D108BD9-81ED-4DB2-BD59-A6C34878D82A}">
                    <a16:rowId xmlns:a16="http://schemas.microsoft.com/office/drawing/2014/main" val="2195331200"/>
                  </a:ext>
                </a:extLst>
              </a:tr>
            </a:tbl>
          </a:graphicData>
        </a:graphic>
      </p:graphicFrame>
      <p:graphicFrame>
        <p:nvGraphicFramePr>
          <p:cNvPr id="7" name="Table 4">
            <a:extLst>
              <a:ext uri="{FF2B5EF4-FFF2-40B4-BE49-F238E27FC236}">
                <a16:creationId xmlns:a16="http://schemas.microsoft.com/office/drawing/2014/main" id="{43A30CCF-8876-32D8-5F30-501ED8B5EC61}"/>
              </a:ext>
            </a:extLst>
          </p:cNvPr>
          <p:cNvGraphicFramePr>
            <a:graphicFrameLocks/>
          </p:cNvGraphicFramePr>
          <p:nvPr>
            <p:extLst>
              <p:ext uri="{D42A27DB-BD31-4B8C-83A1-F6EECF244321}">
                <p14:modId xmlns:p14="http://schemas.microsoft.com/office/powerpoint/2010/main" val="3743543610"/>
              </p:ext>
            </p:extLst>
          </p:nvPr>
        </p:nvGraphicFramePr>
        <p:xfrm>
          <a:off x="2645228" y="3341914"/>
          <a:ext cx="3278778" cy="765175"/>
        </p:xfrm>
        <a:graphic>
          <a:graphicData uri="http://schemas.openxmlformats.org/drawingml/2006/table">
            <a:tbl>
              <a:tblPr>
                <a:tableStyleId>{073A0DAA-6AF3-43AB-8588-CEC1D06C72B9}</a:tableStyleId>
              </a:tblPr>
              <a:tblGrid>
                <a:gridCol w="1639389">
                  <a:extLst>
                    <a:ext uri="{9D8B030D-6E8A-4147-A177-3AD203B41FA5}">
                      <a16:colId xmlns:a16="http://schemas.microsoft.com/office/drawing/2014/main" val="484074236"/>
                    </a:ext>
                  </a:extLst>
                </a:gridCol>
                <a:gridCol w="1639389">
                  <a:extLst>
                    <a:ext uri="{9D8B030D-6E8A-4147-A177-3AD203B41FA5}">
                      <a16:colId xmlns:a16="http://schemas.microsoft.com/office/drawing/2014/main" val="3536125337"/>
                    </a:ext>
                  </a:extLst>
                </a:gridCol>
              </a:tblGrid>
              <a:tr h="765175">
                <a:tc>
                  <a:txBody>
                    <a:bodyPr/>
                    <a:lstStyle/>
                    <a:p>
                      <a:endParaRPr lang="en-NL" dirty="0"/>
                    </a:p>
                  </a:txBody>
                  <a:tcPr/>
                </a:tc>
                <a:tc>
                  <a:txBody>
                    <a:bodyPr/>
                    <a:lstStyle/>
                    <a:p>
                      <a:endParaRPr lang="en-NL" dirty="0"/>
                    </a:p>
                  </a:txBody>
                  <a:tcPr/>
                </a:tc>
                <a:extLst>
                  <a:ext uri="{0D108BD9-81ED-4DB2-BD59-A6C34878D82A}">
                    <a16:rowId xmlns:a16="http://schemas.microsoft.com/office/drawing/2014/main" val="2195331200"/>
                  </a:ext>
                </a:extLst>
              </a:tr>
            </a:tbl>
          </a:graphicData>
        </a:graphic>
      </p:graphicFrame>
      <p:cxnSp>
        <p:nvCxnSpPr>
          <p:cNvPr id="11" name="Straight Arrow Connector 10">
            <a:extLst>
              <a:ext uri="{FF2B5EF4-FFF2-40B4-BE49-F238E27FC236}">
                <a16:creationId xmlns:a16="http://schemas.microsoft.com/office/drawing/2014/main" id="{FF530BB5-D7F5-6692-AD9E-5B25D64B0CD6}"/>
              </a:ext>
            </a:extLst>
          </p:cNvPr>
          <p:cNvCxnSpPr>
            <a:cxnSpLocks/>
          </p:cNvCxnSpPr>
          <p:nvPr/>
        </p:nvCxnSpPr>
        <p:spPr>
          <a:xfrm>
            <a:off x="2239190" y="2380795"/>
            <a:ext cx="525781" cy="6563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5D38B71-1961-A3B6-4B38-3D4313939F66}"/>
              </a:ext>
            </a:extLst>
          </p:cNvPr>
          <p:cNvCxnSpPr>
            <a:cxnSpLocks/>
          </p:cNvCxnSpPr>
          <p:nvPr/>
        </p:nvCxnSpPr>
        <p:spPr>
          <a:xfrm>
            <a:off x="4391296" y="2380795"/>
            <a:ext cx="0" cy="7270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308B698-0C7D-69ED-413D-9DFE5682BB80}"/>
              </a:ext>
            </a:extLst>
          </p:cNvPr>
          <p:cNvCxnSpPr>
            <a:cxnSpLocks/>
          </p:cNvCxnSpPr>
          <p:nvPr/>
        </p:nvCxnSpPr>
        <p:spPr>
          <a:xfrm>
            <a:off x="4459876" y="4634138"/>
            <a:ext cx="525781" cy="6563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9" name="Table 4">
            <a:extLst>
              <a:ext uri="{FF2B5EF4-FFF2-40B4-BE49-F238E27FC236}">
                <a16:creationId xmlns:a16="http://schemas.microsoft.com/office/drawing/2014/main" id="{035F745A-77D5-D943-DA6F-1178282F37D7}"/>
              </a:ext>
            </a:extLst>
          </p:cNvPr>
          <p:cNvGraphicFramePr>
            <a:graphicFrameLocks/>
          </p:cNvGraphicFramePr>
          <p:nvPr>
            <p:extLst>
              <p:ext uri="{D42A27DB-BD31-4B8C-83A1-F6EECF244321}">
                <p14:modId xmlns:p14="http://schemas.microsoft.com/office/powerpoint/2010/main" val="48417090"/>
              </p:ext>
            </p:extLst>
          </p:nvPr>
        </p:nvGraphicFramePr>
        <p:xfrm>
          <a:off x="7326085" y="3341913"/>
          <a:ext cx="3278778" cy="765175"/>
        </p:xfrm>
        <a:graphic>
          <a:graphicData uri="http://schemas.openxmlformats.org/drawingml/2006/table">
            <a:tbl>
              <a:tblPr>
                <a:tableStyleId>{073A0DAA-6AF3-43AB-8588-CEC1D06C72B9}</a:tableStyleId>
              </a:tblPr>
              <a:tblGrid>
                <a:gridCol w="1639389">
                  <a:extLst>
                    <a:ext uri="{9D8B030D-6E8A-4147-A177-3AD203B41FA5}">
                      <a16:colId xmlns:a16="http://schemas.microsoft.com/office/drawing/2014/main" val="484074236"/>
                    </a:ext>
                  </a:extLst>
                </a:gridCol>
                <a:gridCol w="1639389">
                  <a:extLst>
                    <a:ext uri="{9D8B030D-6E8A-4147-A177-3AD203B41FA5}">
                      <a16:colId xmlns:a16="http://schemas.microsoft.com/office/drawing/2014/main" val="3536125337"/>
                    </a:ext>
                  </a:extLst>
                </a:gridCol>
              </a:tblGrid>
              <a:tr h="765175">
                <a:tc>
                  <a:txBody>
                    <a:bodyPr/>
                    <a:lstStyle/>
                    <a:p>
                      <a:endParaRPr lang="en-NL"/>
                    </a:p>
                  </a:txBody>
                  <a:tcPr/>
                </a:tc>
                <a:tc>
                  <a:txBody>
                    <a:bodyPr/>
                    <a:lstStyle/>
                    <a:p>
                      <a:endParaRPr lang="en-NL" dirty="0"/>
                    </a:p>
                  </a:txBody>
                  <a:tcPr/>
                </a:tc>
                <a:extLst>
                  <a:ext uri="{0D108BD9-81ED-4DB2-BD59-A6C34878D82A}">
                    <a16:rowId xmlns:a16="http://schemas.microsoft.com/office/drawing/2014/main" val="2195331200"/>
                  </a:ext>
                </a:extLst>
              </a:tr>
            </a:tbl>
          </a:graphicData>
        </a:graphic>
      </p:graphicFrame>
      <p:graphicFrame>
        <p:nvGraphicFramePr>
          <p:cNvPr id="12" name="Table 11">
            <a:extLst>
              <a:ext uri="{FF2B5EF4-FFF2-40B4-BE49-F238E27FC236}">
                <a16:creationId xmlns:a16="http://schemas.microsoft.com/office/drawing/2014/main" id="{42D89F1D-63F2-A431-A86B-07544D669310}"/>
              </a:ext>
            </a:extLst>
          </p:cNvPr>
          <p:cNvGraphicFramePr>
            <a:graphicFrameLocks/>
          </p:cNvGraphicFramePr>
          <p:nvPr>
            <p:extLst>
              <p:ext uri="{D42A27DB-BD31-4B8C-83A1-F6EECF244321}">
                <p14:modId xmlns:p14="http://schemas.microsoft.com/office/powerpoint/2010/main" val="3237020637"/>
              </p:ext>
            </p:extLst>
          </p:nvPr>
        </p:nvGraphicFramePr>
        <p:xfrm>
          <a:off x="7462157" y="1347787"/>
          <a:ext cx="1639389" cy="765175"/>
        </p:xfrm>
        <a:graphic>
          <a:graphicData uri="http://schemas.openxmlformats.org/drawingml/2006/table">
            <a:tbl>
              <a:tblPr>
                <a:tableStyleId>{073A0DAA-6AF3-43AB-8588-CEC1D06C72B9}</a:tableStyleId>
              </a:tblPr>
              <a:tblGrid>
                <a:gridCol w="1639389">
                  <a:extLst>
                    <a:ext uri="{9D8B030D-6E8A-4147-A177-3AD203B41FA5}">
                      <a16:colId xmlns:a16="http://schemas.microsoft.com/office/drawing/2014/main" val="484074236"/>
                    </a:ext>
                  </a:extLst>
                </a:gridCol>
              </a:tblGrid>
              <a:tr h="765175">
                <a:tc>
                  <a:txBody>
                    <a:bodyPr/>
                    <a:lstStyle/>
                    <a:p>
                      <a:endParaRPr lang="en-NL" dirty="0"/>
                    </a:p>
                  </a:txBody>
                  <a:tcPr/>
                </a:tc>
                <a:extLst>
                  <a:ext uri="{0D108BD9-81ED-4DB2-BD59-A6C34878D82A}">
                    <a16:rowId xmlns:a16="http://schemas.microsoft.com/office/drawing/2014/main" val="2195331200"/>
                  </a:ext>
                </a:extLst>
              </a:tr>
            </a:tbl>
          </a:graphicData>
        </a:graphic>
      </p:graphicFrame>
      <p:graphicFrame>
        <p:nvGraphicFramePr>
          <p:cNvPr id="14" name="Table 4">
            <a:extLst>
              <a:ext uri="{FF2B5EF4-FFF2-40B4-BE49-F238E27FC236}">
                <a16:creationId xmlns:a16="http://schemas.microsoft.com/office/drawing/2014/main" id="{AC51B0E0-E547-3632-A794-5A74A360CE11}"/>
              </a:ext>
            </a:extLst>
          </p:cNvPr>
          <p:cNvGraphicFramePr>
            <a:graphicFrameLocks/>
          </p:cNvGraphicFramePr>
          <p:nvPr>
            <p:extLst>
              <p:ext uri="{D42A27DB-BD31-4B8C-83A1-F6EECF244321}">
                <p14:modId xmlns:p14="http://schemas.microsoft.com/office/powerpoint/2010/main" val="1548788560"/>
              </p:ext>
            </p:extLst>
          </p:nvPr>
        </p:nvGraphicFramePr>
        <p:xfrm>
          <a:off x="9785168" y="1328058"/>
          <a:ext cx="1639389" cy="765175"/>
        </p:xfrm>
        <a:graphic>
          <a:graphicData uri="http://schemas.openxmlformats.org/drawingml/2006/table">
            <a:tbl>
              <a:tblPr>
                <a:tableStyleId>{073A0DAA-6AF3-43AB-8588-CEC1D06C72B9}</a:tableStyleId>
              </a:tblPr>
              <a:tblGrid>
                <a:gridCol w="1639389">
                  <a:extLst>
                    <a:ext uri="{9D8B030D-6E8A-4147-A177-3AD203B41FA5}">
                      <a16:colId xmlns:a16="http://schemas.microsoft.com/office/drawing/2014/main" val="484074236"/>
                    </a:ext>
                  </a:extLst>
                </a:gridCol>
              </a:tblGrid>
              <a:tr h="765175">
                <a:tc>
                  <a:txBody>
                    <a:bodyPr/>
                    <a:lstStyle/>
                    <a:p>
                      <a:endParaRPr lang="en-NL" dirty="0"/>
                    </a:p>
                  </a:txBody>
                  <a:tcPr/>
                </a:tc>
                <a:extLst>
                  <a:ext uri="{0D108BD9-81ED-4DB2-BD59-A6C34878D82A}">
                    <a16:rowId xmlns:a16="http://schemas.microsoft.com/office/drawing/2014/main" val="2195331200"/>
                  </a:ext>
                </a:extLst>
              </a:tr>
            </a:tbl>
          </a:graphicData>
        </a:graphic>
      </p:graphicFrame>
      <p:cxnSp>
        <p:nvCxnSpPr>
          <p:cNvPr id="15" name="Straight Arrow Connector 14">
            <a:extLst>
              <a:ext uri="{FF2B5EF4-FFF2-40B4-BE49-F238E27FC236}">
                <a16:creationId xmlns:a16="http://schemas.microsoft.com/office/drawing/2014/main" id="{A9BD5356-CA00-522E-D764-8FEB822BBB7F}"/>
              </a:ext>
            </a:extLst>
          </p:cNvPr>
          <p:cNvCxnSpPr>
            <a:cxnSpLocks/>
          </p:cNvCxnSpPr>
          <p:nvPr/>
        </p:nvCxnSpPr>
        <p:spPr>
          <a:xfrm>
            <a:off x="8452757" y="2280557"/>
            <a:ext cx="0" cy="7565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5049908-6E50-2FD6-5F2B-4A86436C0518}"/>
              </a:ext>
            </a:extLst>
          </p:cNvPr>
          <p:cNvCxnSpPr>
            <a:cxnSpLocks/>
          </p:cNvCxnSpPr>
          <p:nvPr/>
        </p:nvCxnSpPr>
        <p:spPr>
          <a:xfrm flipH="1">
            <a:off x="9982200" y="2280557"/>
            <a:ext cx="622663" cy="7565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2414FA4-642E-58A3-8F27-11919B9F5C2B}"/>
              </a:ext>
            </a:extLst>
          </p:cNvPr>
          <p:cNvCxnSpPr>
            <a:cxnSpLocks/>
          </p:cNvCxnSpPr>
          <p:nvPr/>
        </p:nvCxnSpPr>
        <p:spPr>
          <a:xfrm flipH="1">
            <a:off x="8281851" y="4533900"/>
            <a:ext cx="622663" cy="7565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2" name="Table 4">
            <a:extLst>
              <a:ext uri="{FF2B5EF4-FFF2-40B4-BE49-F238E27FC236}">
                <a16:creationId xmlns:a16="http://schemas.microsoft.com/office/drawing/2014/main" id="{2AB2E395-755A-1914-C466-79FC1108D8AB}"/>
              </a:ext>
            </a:extLst>
          </p:cNvPr>
          <p:cNvGraphicFramePr>
            <a:graphicFrameLocks/>
          </p:cNvGraphicFramePr>
          <p:nvPr>
            <p:extLst>
              <p:ext uri="{D42A27DB-BD31-4B8C-83A1-F6EECF244321}">
                <p14:modId xmlns:p14="http://schemas.microsoft.com/office/powerpoint/2010/main" val="2586026788"/>
              </p:ext>
            </p:extLst>
          </p:nvPr>
        </p:nvGraphicFramePr>
        <p:xfrm>
          <a:off x="3984171" y="5717269"/>
          <a:ext cx="5519060" cy="765175"/>
        </p:xfrm>
        <a:graphic>
          <a:graphicData uri="http://schemas.openxmlformats.org/drawingml/2006/table">
            <a:tbl>
              <a:tblPr>
                <a:tableStyleId>{073A0DAA-6AF3-43AB-8588-CEC1D06C72B9}</a:tableStyleId>
              </a:tblPr>
              <a:tblGrid>
                <a:gridCol w="1379765">
                  <a:extLst>
                    <a:ext uri="{9D8B030D-6E8A-4147-A177-3AD203B41FA5}">
                      <a16:colId xmlns:a16="http://schemas.microsoft.com/office/drawing/2014/main" val="484074236"/>
                    </a:ext>
                  </a:extLst>
                </a:gridCol>
                <a:gridCol w="1379765">
                  <a:extLst>
                    <a:ext uri="{9D8B030D-6E8A-4147-A177-3AD203B41FA5}">
                      <a16:colId xmlns:a16="http://schemas.microsoft.com/office/drawing/2014/main" val="3007096722"/>
                    </a:ext>
                  </a:extLst>
                </a:gridCol>
                <a:gridCol w="1379765">
                  <a:extLst>
                    <a:ext uri="{9D8B030D-6E8A-4147-A177-3AD203B41FA5}">
                      <a16:colId xmlns:a16="http://schemas.microsoft.com/office/drawing/2014/main" val="3536125337"/>
                    </a:ext>
                  </a:extLst>
                </a:gridCol>
                <a:gridCol w="1379765">
                  <a:extLst>
                    <a:ext uri="{9D8B030D-6E8A-4147-A177-3AD203B41FA5}">
                      <a16:colId xmlns:a16="http://schemas.microsoft.com/office/drawing/2014/main" val="3652927835"/>
                    </a:ext>
                  </a:extLst>
                </a:gridCol>
              </a:tblGrid>
              <a:tr h="765175">
                <a:tc>
                  <a:txBody>
                    <a:bodyPr/>
                    <a:lstStyle/>
                    <a:p>
                      <a:endParaRPr lang="en-NL" dirty="0"/>
                    </a:p>
                  </a:txBody>
                  <a:tcPr/>
                </a:tc>
                <a:tc>
                  <a:txBody>
                    <a:bodyPr/>
                    <a:lstStyle/>
                    <a:p>
                      <a:endParaRPr lang="en-NL" dirty="0"/>
                    </a:p>
                  </a:txBody>
                  <a:tcPr/>
                </a:tc>
                <a:tc>
                  <a:txBody>
                    <a:bodyPr/>
                    <a:lstStyle/>
                    <a:p>
                      <a:endParaRPr lang="en-NL" dirty="0"/>
                    </a:p>
                  </a:txBody>
                  <a:tcPr/>
                </a:tc>
                <a:tc>
                  <a:txBody>
                    <a:bodyPr/>
                    <a:lstStyle/>
                    <a:p>
                      <a:endParaRPr lang="en-NL" dirty="0"/>
                    </a:p>
                  </a:txBody>
                  <a:tcPr/>
                </a:tc>
                <a:extLst>
                  <a:ext uri="{0D108BD9-81ED-4DB2-BD59-A6C34878D82A}">
                    <a16:rowId xmlns:a16="http://schemas.microsoft.com/office/drawing/2014/main" val="2195331200"/>
                  </a:ext>
                </a:extLst>
              </a:tr>
            </a:tbl>
          </a:graphicData>
        </a:graphic>
      </p:graphicFrame>
    </p:spTree>
    <p:extLst>
      <p:ext uri="{BB962C8B-B14F-4D97-AF65-F5344CB8AC3E}">
        <p14:creationId xmlns:p14="http://schemas.microsoft.com/office/powerpoint/2010/main" val="10267824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2DBB71-6E99-C4DE-71E2-BCAB20649356}"/>
              </a:ext>
            </a:extLst>
          </p:cNvPr>
          <p:cNvPicPr>
            <a:picLocks noChangeAspect="1"/>
          </p:cNvPicPr>
          <p:nvPr/>
        </p:nvPicPr>
        <p:blipFill>
          <a:blip r:embed="rId3"/>
          <a:stretch>
            <a:fillRect/>
          </a:stretch>
        </p:blipFill>
        <p:spPr>
          <a:xfrm>
            <a:off x="2705100" y="127000"/>
            <a:ext cx="6781800" cy="6604000"/>
          </a:xfrm>
          <a:prstGeom prst="rect">
            <a:avLst/>
          </a:prstGeom>
        </p:spPr>
      </p:pic>
    </p:spTree>
    <p:extLst>
      <p:ext uri="{BB962C8B-B14F-4D97-AF65-F5344CB8AC3E}">
        <p14:creationId xmlns:p14="http://schemas.microsoft.com/office/powerpoint/2010/main" val="2241097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57AC6-7C65-0D4A-DFC1-3B1585C5C801}"/>
              </a:ext>
            </a:extLst>
          </p:cNvPr>
          <p:cNvSpPr>
            <a:spLocks noGrp="1"/>
          </p:cNvSpPr>
          <p:nvPr>
            <p:ph type="title"/>
          </p:nvPr>
        </p:nvSpPr>
        <p:spPr>
          <a:xfrm>
            <a:off x="838200" y="365125"/>
            <a:ext cx="10515600" cy="788761"/>
          </a:xfrm>
        </p:spPr>
        <p:txBody>
          <a:bodyPr/>
          <a:lstStyle/>
          <a:p>
            <a:r>
              <a:rPr lang="en-NL" dirty="0"/>
              <a:t>Merge Sort Complexity</a:t>
            </a:r>
          </a:p>
        </p:txBody>
      </p:sp>
      <p:pic>
        <p:nvPicPr>
          <p:cNvPr id="7170" name="Picture 2" descr="A diagram with a tree on the left and merging times on the right. The tree is labeled &quot;Subproblem size&quot; and the right is labeled &quot;Total merging time for all subproblems of this size.&quot;&#10;The first level of the tree shows a single node n and corresponding merging time of c times n. The second level of the tree shows two nodes, each of 1/2 n, and a merging time of 2 times c times 1/2 n, the same as c times n. The third level of the tree shows four nodes, each of 1/4 n, and a merging time of 4 times c times 1/4 n, the same as c times n. The fourth level of the tree shows eight nodes, each of 1/8 n, and a merging time of 8 times c times 1/8 n, the same as c times n. Underneath that level, dots are shown to indicate the tree continues like that. A final level is shown with n nodes of 1, and a merging time of n times c, the same as c times n.">
            <a:extLst>
              <a:ext uri="{FF2B5EF4-FFF2-40B4-BE49-F238E27FC236}">
                <a16:creationId xmlns:a16="http://schemas.microsoft.com/office/drawing/2014/main" id="{59DE4EF8-72DA-F05D-1D99-510422C6647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508919"/>
            <a:ext cx="6384134" cy="4870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32060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E08235-B85D-6AED-7721-ED75BBEC99C1}"/>
              </a:ext>
            </a:extLst>
          </p:cNvPr>
          <p:cNvSpPr>
            <a:spLocks noGrp="1"/>
          </p:cNvSpPr>
          <p:nvPr>
            <p:ph idx="1"/>
          </p:nvPr>
        </p:nvSpPr>
        <p:spPr/>
        <p:txBody>
          <a:bodyPr/>
          <a:lstStyle/>
          <a:p>
            <a:pPr marL="0" indent="0">
              <a:buNone/>
            </a:pPr>
            <a:r>
              <a:rPr lang="en-GB" dirty="0">
                <a:hlinkClick r:id="rId2"/>
              </a:rPr>
              <a:t>https://www.youtube.com/watch?v=dENca26N6V4</a:t>
            </a:r>
            <a:endParaRPr lang="en-GB" dirty="0"/>
          </a:p>
          <a:p>
            <a:pPr marL="0" indent="0">
              <a:buNone/>
            </a:pPr>
            <a:r>
              <a:rPr lang="en-GB" dirty="0">
                <a:hlinkClick r:id="rId3"/>
              </a:rPr>
              <a:t>https://www.youtube.com/watch?v=3San3uKKHgg</a:t>
            </a:r>
            <a:endParaRPr lang="en-GB" dirty="0"/>
          </a:p>
          <a:p>
            <a:pPr marL="0" indent="0">
              <a:buNone/>
            </a:pPr>
            <a:endParaRPr lang="en-NL" dirty="0"/>
          </a:p>
        </p:txBody>
      </p:sp>
    </p:spTree>
    <p:extLst>
      <p:ext uri="{BB962C8B-B14F-4D97-AF65-F5344CB8AC3E}">
        <p14:creationId xmlns:p14="http://schemas.microsoft.com/office/powerpoint/2010/main" val="2795304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07F2-3E74-5DBD-7C7C-10F75DCFCBD4}"/>
              </a:ext>
            </a:extLst>
          </p:cNvPr>
          <p:cNvSpPr>
            <a:spLocks noGrp="1"/>
          </p:cNvSpPr>
          <p:nvPr>
            <p:ph type="title"/>
          </p:nvPr>
        </p:nvSpPr>
        <p:spPr>
          <a:xfrm>
            <a:off x="838200" y="365126"/>
            <a:ext cx="10515600" cy="957262"/>
          </a:xfrm>
        </p:spPr>
        <p:txBody>
          <a:bodyPr/>
          <a:lstStyle/>
          <a:p>
            <a:r>
              <a:rPr lang="en-NL" dirty="0"/>
              <a:t>Heap</a:t>
            </a:r>
          </a:p>
        </p:txBody>
      </p:sp>
      <p:pic>
        <p:nvPicPr>
          <p:cNvPr id="3074" name="Picture 2" descr="Priority Queues with Binary Heaps">
            <a:extLst>
              <a:ext uri="{FF2B5EF4-FFF2-40B4-BE49-F238E27FC236}">
                <a16:creationId xmlns:a16="http://schemas.microsoft.com/office/drawing/2014/main" id="{E125F5AA-F7D2-ECDF-4204-530E1B88172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81250" y="1322387"/>
            <a:ext cx="7429500" cy="5058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5131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FE9614A3-CC40-9CDF-D9E1-78A7300AE2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12192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60943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white background with black text&#10;&#10;Description automatically generated">
            <a:extLst>
              <a:ext uri="{FF2B5EF4-FFF2-40B4-BE49-F238E27FC236}">
                <a16:creationId xmlns:a16="http://schemas.microsoft.com/office/drawing/2014/main" id="{28FAD027-1F1E-D62D-13E2-D295E5E5EB07}"/>
              </a:ext>
            </a:extLst>
          </p:cNvPr>
          <p:cNvPicPr>
            <a:picLocks noGrp="1" noChangeAspect="1"/>
          </p:cNvPicPr>
          <p:nvPr>
            <p:ph idx="1"/>
          </p:nvPr>
        </p:nvPicPr>
        <p:blipFill>
          <a:blip r:embed="rId3"/>
          <a:stretch>
            <a:fillRect/>
          </a:stretch>
        </p:blipFill>
        <p:spPr>
          <a:xfrm>
            <a:off x="838200" y="539244"/>
            <a:ext cx="10515600" cy="1370589"/>
          </a:xfrm>
        </p:spPr>
      </p:pic>
      <p:pic>
        <p:nvPicPr>
          <p:cNvPr id="10" name="Picture 9">
            <a:extLst>
              <a:ext uri="{FF2B5EF4-FFF2-40B4-BE49-F238E27FC236}">
                <a16:creationId xmlns:a16="http://schemas.microsoft.com/office/drawing/2014/main" id="{9AFD8C8E-1AF2-AD8D-9835-2D6884C7A04E}"/>
              </a:ext>
            </a:extLst>
          </p:cNvPr>
          <p:cNvPicPr>
            <a:picLocks noChangeAspect="1"/>
          </p:cNvPicPr>
          <p:nvPr/>
        </p:nvPicPr>
        <p:blipFill>
          <a:blip r:embed="rId4"/>
          <a:stretch>
            <a:fillRect/>
          </a:stretch>
        </p:blipFill>
        <p:spPr>
          <a:xfrm>
            <a:off x="615892" y="2260191"/>
            <a:ext cx="10737908" cy="2487777"/>
          </a:xfrm>
          <a:prstGeom prst="rect">
            <a:avLst/>
          </a:prstGeom>
        </p:spPr>
      </p:pic>
      <p:pic>
        <p:nvPicPr>
          <p:cNvPr id="11" name="Picture 10">
            <a:extLst>
              <a:ext uri="{FF2B5EF4-FFF2-40B4-BE49-F238E27FC236}">
                <a16:creationId xmlns:a16="http://schemas.microsoft.com/office/drawing/2014/main" id="{F19F8E82-2AED-7771-0051-02412E5544E8}"/>
              </a:ext>
            </a:extLst>
          </p:cNvPr>
          <p:cNvPicPr>
            <a:picLocks noChangeAspect="1"/>
          </p:cNvPicPr>
          <p:nvPr/>
        </p:nvPicPr>
        <p:blipFill>
          <a:blip r:embed="rId5"/>
          <a:stretch>
            <a:fillRect/>
          </a:stretch>
        </p:blipFill>
        <p:spPr>
          <a:xfrm>
            <a:off x="1714850" y="5098326"/>
            <a:ext cx="7772400" cy="880080"/>
          </a:xfrm>
          <a:prstGeom prst="rect">
            <a:avLst/>
          </a:prstGeom>
        </p:spPr>
      </p:pic>
    </p:spTree>
    <p:extLst>
      <p:ext uri="{BB962C8B-B14F-4D97-AF65-F5344CB8AC3E}">
        <p14:creationId xmlns:p14="http://schemas.microsoft.com/office/powerpoint/2010/main" val="722568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8AD0C-0D6B-F73D-F027-A8B4700B7BAF}"/>
              </a:ext>
            </a:extLst>
          </p:cNvPr>
          <p:cNvSpPr>
            <a:spLocks noGrp="1"/>
          </p:cNvSpPr>
          <p:nvPr>
            <p:ph type="title"/>
          </p:nvPr>
        </p:nvSpPr>
        <p:spPr/>
        <p:txBody>
          <a:bodyPr/>
          <a:lstStyle/>
          <a:p>
            <a:r>
              <a:rPr lang="en-NL" dirty="0"/>
              <a:t>Heap Insertion</a:t>
            </a:r>
          </a:p>
        </p:txBody>
      </p:sp>
      <p:pic>
        <p:nvPicPr>
          <p:cNvPr id="8194" name="Picture 2" descr="Max Heap Animated Example">
            <a:extLst>
              <a:ext uri="{FF2B5EF4-FFF2-40B4-BE49-F238E27FC236}">
                <a16:creationId xmlns:a16="http://schemas.microsoft.com/office/drawing/2014/main" id="{A563A7DF-43F5-0818-88E8-EC677ACF70D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01205" y="1681684"/>
            <a:ext cx="8018652" cy="481119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82CAA13-B5AC-BEB0-72A3-D7328E57282D}"/>
              </a:ext>
            </a:extLst>
          </p:cNvPr>
          <p:cNvSpPr txBox="1"/>
          <p:nvPr/>
        </p:nvSpPr>
        <p:spPr>
          <a:xfrm>
            <a:off x="272143" y="2147615"/>
            <a:ext cx="5954485" cy="1477328"/>
          </a:xfrm>
          <a:prstGeom prst="rect">
            <a:avLst/>
          </a:prstGeom>
          <a:noFill/>
        </p:spPr>
        <p:txBody>
          <a:bodyPr wrap="square">
            <a:spAutoFit/>
          </a:bodyPr>
          <a:lstStyle/>
          <a:p>
            <a:r>
              <a:rPr lang="en-GB" b="1" dirty="0">
                <a:effectLst/>
              </a:rPr>
              <a:t>Step 1</a:t>
            </a:r>
            <a:r>
              <a:rPr lang="en-GB" dirty="0"/>
              <a:t> − Create a new node at the end of heap. </a:t>
            </a:r>
          </a:p>
          <a:p>
            <a:r>
              <a:rPr lang="en-GB" b="1" dirty="0">
                <a:effectLst/>
              </a:rPr>
              <a:t>Step 2</a:t>
            </a:r>
            <a:r>
              <a:rPr lang="en-GB" dirty="0"/>
              <a:t> − Assign new value to the node. </a:t>
            </a:r>
          </a:p>
          <a:p>
            <a:r>
              <a:rPr lang="en-GB" b="1" dirty="0">
                <a:effectLst/>
              </a:rPr>
              <a:t>Step 3</a:t>
            </a:r>
            <a:r>
              <a:rPr lang="en-GB" dirty="0"/>
              <a:t> − Compare the value of this child node with its parent. </a:t>
            </a:r>
            <a:r>
              <a:rPr lang="en-GB" b="1" dirty="0">
                <a:effectLst/>
              </a:rPr>
              <a:t>Step 4</a:t>
            </a:r>
            <a:r>
              <a:rPr lang="en-GB" dirty="0"/>
              <a:t> − If value of parent is less than child, then swap them. </a:t>
            </a:r>
            <a:r>
              <a:rPr lang="en-GB" b="1" dirty="0">
                <a:effectLst/>
              </a:rPr>
              <a:t>Step 5</a:t>
            </a:r>
            <a:r>
              <a:rPr lang="en-GB" dirty="0"/>
              <a:t> − Repeat step 3 &amp; 4 until Heap property holds.</a:t>
            </a:r>
            <a:endParaRPr lang="en-NL" dirty="0"/>
          </a:p>
        </p:txBody>
      </p:sp>
    </p:spTree>
    <p:extLst>
      <p:ext uri="{BB962C8B-B14F-4D97-AF65-F5344CB8AC3E}">
        <p14:creationId xmlns:p14="http://schemas.microsoft.com/office/powerpoint/2010/main" val="15274355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EBC09-AE05-AFB6-0968-1034C7958C05}"/>
              </a:ext>
            </a:extLst>
          </p:cNvPr>
          <p:cNvSpPr>
            <a:spLocks noGrp="1"/>
          </p:cNvSpPr>
          <p:nvPr>
            <p:ph type="title"/>
          </p:nvPr>
        </p:nvSpPr>
        <p:spPr/>
        <p:txBody>
          <a:bodyPr/>
          <a:lstStyle/>
          <a:p>
            <a:r>
              <a:rPr lang="en-NL" dirty="0"/>
              <a:t>Heap Deletion</a:t>
            </a:r>
          </a:p>
        </p:txBody>
      </p:sp>
      <p:pic>
        <p:nvPicPr>
          <p:cNvPr id="9218" name="Picture 2" descr="Max Heap Deletion Animated Example">
            <a:extLst>
              <a:ext uri="{FF2B5EF4-FFF2-40B4-BE49-F238E27FC236}">
                <a16:creationId xmlns:a16="http://schemas.microsoft.com/office/drawing/2014/main" id="{30D76891-659A-0504-1EDB-68219FC90D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6063" y="1939495"/>
            <a:ext cx="6746080" cy="404764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8AE14C1-363A-AE6A-FC2D-355897067020}"/>
              </a:ext>
            </a:extLst>
          </p:cNvPr>
          <p:cNvSpPr txBox="1"/>
          <p:nvPr/>
        </p:nvSpPr>
        <p:spPr>
          <a:xfrm>
            <a:off x="489857" y="1690688"/>
            <a:ext cx="6096000" cy="1477328"/>
          </a:xfrm>
          <a:prstGeom prst="rect">
            <a:avLst/>
          </a:prstGeom>
          <a:noFill/>
        </p:spPr>
        <p:txBody>
          <a:bodyPr wrap="square">
            <a:spAutoFit/>
          </a:bodyPr>
          <a:lstStyle/>
          <a:p>
            <a:r>
              <a:rPr lang="en-GB" b="1" dirty="0">
                <a:effectLst/>
              </a:rPr>
              <a:t>Step 1</a:t>
            </a:r>
            <a:r>
              <a:rPr lang="en-GB" dirty="0"/>
              <a:t> − Remove root node. </a:t>
            </a:r>
          </a:p>
          <a:p>
            <a:r>
              <a:rPr lang="en-GB" b="1" dirty="0">
                <a:effectLst/>
              </a:rPr>
              <a:t>Step 2</a:t>
            </a:r>
            <a:r>
              <a:rPr lang="en-GB" dirty="0"/>
              <a:t> − Move the last element of last level to root. </a:t>
            </a:r>
          </a:p>
          <a:p>
            <a:r>
              <a:rPr lang="en-GB" b="1" dirty="0">
                <a:effectLst/>
              </a:rPr>
              <a:t>Step 3</a:t>
            </a:r>
            <a:r>
              <a:rPr lang="en-GB" dirty="0"/>
              <a:t> − Compare the value of this child node with its parent. </a:t>
            </a:r>
            <a:r>
              <a:rPr lang="en-GB" b="1" dirty="0">
                <a:effectLst/>
              </a:rPr>
              <a:t>Step 4</a:t>
            </a:r>
            <a:r>
              <a:rPr lang="en-GB" dirty="0"/>
              <a:t> − If value of parent is less than child, then swap them. </a:t>
            </a:r>
            <a:r>
              <a:rPr lang="en-GB" b="1" dirty="0">
                <a:effectLst/>
              </a:rPr>
              <a:t>Step 5</a:t>
            </a:r>
            <a:r>
              <a:rPr lang="en-GB" dirty="0"/>
              <a:t> − Repeat step 3 &amp; 4 until Heap property holds.</a:t>
            </a:r>
            <a:endParaRPr lang="en-NL" dirty="0"/>
          </a:p>
        </p:txBody>
      </p:sp>
      <p:sp>
        <p:nvSpPr>
          <p:cNvPr id="4" name="TextBox 3">
            <a:extLst>
              <a:ext uri="{FF2B5EF4-FFF2-40B4-BE49-F238E27FC236}">
                <a16:creationId xmlns:a16="http://schemas.microsoft.com/office/drawing/2014/main" id="{0E1D382F-C93E-18A9-B700-3CC1A1B4023A}"/>
              </a:ext>
            </a:extLst>
          </p:cNvPr>
          <p:cNvSpPr txBox="1"/>
          <p:nvPr/>
        </p:nvSpPr>
        <p:spPr>
          <a:xfrm>
            <a:off x="383822" y="6050715"/>
            <a:ext cx="6096000" cy="646331"/>
          </a:xfrm>
          <a:prstGeom prst="rect">
            <a:avLst/>
          </a:prstGeom>
          <a:noFill/>
        </p:spPr>
        <p:txBody>
          <a:bodyPr wrap="square">
            <a:spAutoFit/>
          </a:bodyPr>
          <a:lstStyle/>
          <a:p>
            <a:r>
              <a:rPr lang="en-GB" b="0" i="0" dirty="0">
                <a:solidFill>
                  <a:srgbClr val="202122"/>
                </a:solidFill>
                <a:effectLst/>
                <a:latin typeface="Arial" panose="020B0604020202020204" pitchFamily="34" charset="0"/>
              </a:rPr>
              <a:t>Swap with its smaller child in a min-heap and its larger child in a max-heap</a:t>
            </a:r>
            <a:endParaRPr lang="en-NL" dirty="0"/>
          </a:p>
        </p:txBody>
      </p:sp>
    </p:spTree>
    <p:extLst>
      <p:ext uri="{BB962C8B-B14F-4D97-AF65-F5344CB8AC3E}">
        <p14:creationId xmlns:p14="http://schemas.microsoft.com/office/powerpoint/2010/main" val="3493934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F2AA4-A81C-A48C-C06B-3F4C2F696093}"/>
              </a:ext>
            </a:extLst>
          </p:cNvPr>
          <p:cNvSpPr>
            <a:spLocks noGrp="1"/>
          </p:cNvSpPr>
          <p:nvPr>
            <p:ph type="title"/>
          </p:nvPr>
        </p:nvSpPr>
        <p:spPr/>
        <p:txBody>
          <a:bodyPr/>
          <a:lstStyle/>
          <a:p>
            <a:r>
              <a:rPr lang="en-NL" dirty="0"/>
              <a:t>Lower Bound</a:t>
            </a:r>
          </a:p>
        </p:txBody>
      </p:sp>
      <p:sp>
        <p:nvSpPr>
          <p:cNvPr id="6" name="TextBox 5">
            <a:extLst>
              <a:ext uri="{FF2B5EF4-FFF2-40B4-BE49-F238E27FC236}">
                <a16:creationId xmlns:a16="http://schemas.microsoft.com/office/drawing/2014/main" id="{37F7B370-A972-0165-EB63-6BA21DFA746C}"/>
              </a:ext>
            </a:extLst>
          </p:cNvPr>
          <p:cNvSpPr txBox="1"/>
          <p:nvPr/>
        </p:nvSpPr>
        <p:spPr>
          <a:xfrm>
            <a:off x="3003259" y="1690688"/>
            <a:ext cx="4996881" cy="4524315"/>
          </a:xfrm>
          <a:prstGeom prst="rect">
            <a:avLst/>
          </a:prstGeom>
          <a:solidFill>
            <a:schemeClr val="bg1"/>
          </a:solidFill>
        </p:spPr>
        <p:txBody>
          <a:bodyPr wrap="none" rtlCol="0">
            <a:spAutoFit/>
          </a:bodyPr>
          <a:lstStyle/>
          <a:p>
            <a:r>
              <a:rPr lang="en-GB" dirty="0">
                <a:latin typeface="Consolas" panose="020B0609020204030204" pitchFamily="49" charset="0"/>
                <a:cs typeface="Consolas" panose="020B0609020204030204" pitchFamily="49" charset="0"/>
              </a:rPr>
              <a:t>function </a:t>
            </a:r>
            <a:r>
              <a:rPr lang="en-GB" b="1" dirty="0" err="1">
                <a:latin typeface="Consolas" panose="020B0609020204030204" pitchFamily="49" charset="0"/>
                <a:cs typeface="Consolas" panose="020B0609020204030204" pitchFamily="49" charset="0"/>
              </a:rPr>
              <a:t>sortArray</a:t>
            </a:r>
            <a:r>
              <a:rPr lang="en-GB" dirty="0">
                <a:latin typeface="Consolas" panose="020B0609020204030204" pitchFamily="49" charset="0"/>
                <a:cs typeface="Consolas" panose="020B0609020204030204" pitchFamily="49" charset="0"/>
              </a:rPr>
              <a:t>(</a:t>
            </a:r>
            <a:r>
              <a:rPr lang="en-GB" dirty="0" err="1">
                <a:latin typeface="Consolas" panose="020B0609020204030204" pitchFamily="49" charset="0"/>
                <a:cs typeface="Consolas" panose="020B0609020204030204" pitchFamily="49" charset="0"/>
              </a:rPr>
              <a:t>arr</a:t>
            </a:r>
            <a:r>
              <a:rPr lang="en-GB" dirty="0">
                <a:latin typeface="Consolas" panose="020B0609020204030204" pitchFamily="49" charset="0"/>
                <a:cs typeface="Consolas" panose="020B0609020204030204" pitchFamily="49" charset="0"/>
              </a:rPr>
              <a:t>):</a:t>
            </a:r>
          </a:p>
          <a:p>
            <a:r>
              <a:rPr lang="en-GB" dirty="0">
                <a:latin typeface="Consolas" panose="020B0609020204030204" pitchFamily="49" charset="0"/>
                <a:cs typeface="Consolas" panose="020B0609020204030204" pitchFamily="49" charset="0"/>
              </a:rPr>
              <a:t>    </a:t>
            </a:r>
          </a:p>
          <a:p>
            <a:r>
              <a:rPr lang="en-GB" dirty="0">
                <a:latin typeface="Consolas" panose="020B0609020204030204" pitchFamily="49" charset="0"/>
                <a:cs typeface="Consolas" panose="020B0609020204030204" pitchFamily="49" charset="0"/>
              </a:rPr>
              <a:t>    if </a:t>
            </a:r>
            <a:r>
              <a:rPr lang="en-GB" dirty="0" err="1">
                <a:latin typeface="Consolas" panose="020B0609020204030204" pitchFamily="49" charset="0"/>
                <a:cs typeface="Consolas" panose="020B0609020204030204" pitchFamily="49" charset="0"/>
              </a:rPr>
              <a:t>arr</a:t>
            </a:r>
            <a:r>
              <a:rPr lang="en-GB" dirty="0">
                <a:latin typeface="Consolas" panose="020B0609020204030204" pitchFamily="49" charset="0"/>
                <a:cs typeface="Consolas" panose="020B0609020204030204" pitchFamily="49" charset="0"/>
              </a:rPr>
              <a:t> is sorted:</a:t>
            </a:r>
          </a:p>
          <a:p>
            <a:r>
              <a:rPr lang="en-GB" dirty="0">
                <a:latin typeface="Consolas" panose="020B0609020204030204" pitchFamily="49" charset="0"/>
                <a:cs typeface="Consolas" panose="020B0609020204030204" pitchFamily="49" charset="0"/>
              </a:rPr>
              <a:t>    </a:t>
            </a:r>
          </a:p>
          <a:p>
            <a:r>
              <a:rPr lang="en-GB" dirty="0">
                <a:latin typeface="Consolas" panose="020B0609020204030204" pitchFamily="49" charset="0"/>
                <a:cs typeface="Consolas" panose="020B0609020204030204" pitchFamily="49" charset="0"/>
              </a:rPr>
              <a:t>        print "Sorted array:", </a:t>
            </a:r>
            <a:r>
              <a:rPr lang="en-GB" dirty="0" err="1">
                <a:latin typeface="Consolas" panose="020B0609020204030204" pitchFamily="49" charset="0"/>
                <a:cs typeface="Consolas" panose="020B0609020204030204" pitchFamily="49" charset="0"/>
              </a:rPr>
              <a:t>arr</a:t>
            </a:r>
            <a:endParaRPr lang="en-GB" dirty="0">
              <a:latin typeface="Consolas" panose="020B0609020204030204" pitchFamily="49" charset="0"/>
              <a:cs typeface="Consolas" panose="020B0609020204030204" pitchFamily="49" charset="0"/>
            </a:endParaRPr>
          </a:p>
          <a:p>
            <a:r>
              <a:rPr lang="en-GB" dirty="0">
                <a:latin typeface="Consolas" panose="020B0609020204030204" pitchFamily="49" charset="0"/>
                <a:cs typeface="Consolas" panose="020B0609020204030204" pitchFamily="49" charset="0"/>
              </a:rPr>
              <a:t>        </a:t>
            </a:r>
            <a:r>
              <a:rPr lang="en-GB" b="1" dirty="0">
                <a:latin typeface="Consolas" panose="020B0609020204030204" pitchFamily="49" charset="0"/>
                <a:cs typeface="Consolas" panose="020B0609020204030204" pitchFamily="49" charset="0"/>
              </a:rPr>
              <a:t>return</a:t>
            </a:r>
          </a:p>
          <a:p>
            <a:endParaRPr lang="en-GB" dirty="0">
              <a:latin typeface="Consolas" panose="020B0609020204030204" pitchFamily="49" charset="0"/>
              <a:cs typeface="Consolas" panose="020B0609020204030204" pitchFamily="49" charset="0"/>
            </a:endParaRPr>
          </a:p>
          <a:p>
            <a:r>
              <a:rPr lang="en-GB" dirty="0">
                <a:latin typeface="Consolas" panose="020B0609020204030204" pitchFamily="49" charset="0"/>
                <a:cs typeface="Consolas" panose="020B0609020204030204" pitchFamily="49" charset="0"/>
              </a:rPr>
              <a:t>    for </a:t>
            </a:r>
            <a:r>
              <a:rPr lang="en-GB" dirty="0" err="1">
                <a:latin typeface="Consolas" panose="020B0609020204030204" pitchFamily="49" charset="0"/>
                <a:cs typeface="Consolas" panose="020B0609020204030204" pitchFamily="49" charset="0"/>
              </a:rPr>
              <a:t>i</a:t>
            </a:r>
            <a:r>
              <a:rPr lang="en-GB" dirty="0">
                <a:latin typeface="Consolas" panose="020B0609020204030204" pitchFamily="49" charset="0"/>
                <a:cs typeface="Consolas" panose="020B0609020204030204" pitchFamily="49" charset="0"/>
              </a:rPr>
              <a:t> from 0 to </a:t>
            </a:r>
            <a:r>
              <a:rPr lang="en-GB" b="1" dirty="0">
                <a:latin typeface="Consolas" panose="020B0609020204030204" pitchFamily="49" charset="0"/>
                <a:cs typeface="Consolas" panose="020B0609020204030204" pitchFamily="49" charset="0"/>
              </a:rPr>
              <a:t>length(</a:t>
            </a:r>
            <a:r>
              <a:rPr lang="en-GB" b="1" dirty="0" err="1">
                <a:latin typeface="Consolas" panose="020B0609020204030204" pitchFamily="49" charset="0"/>
                <a:cs typeface="Consolas" panose="020B0609020204030204" pitchFamily="49" charset="0"/>
              </a:rPr>
              <a:t>arr</a:t>
            </a:r>
            <a:r>
              <a:rPr lang="en-GB" b="1" dirty="0">
                <a:latin typeface="Consolas" panose="020B0609020204030204" pitchFamily="49" charset="0"/>
                <a:cs typeface="Consolas" panose="020B0609020204030204" pitchFamily="49" charset="0"/>
              </a:rPr>
              <a:t>)-1</a:t>
            </a:r>
            <a:r>
              <a:rPr lang="en-GB" dirty="0">
                <a:latin typeface="Consolas" panose="020B0609020204030204" pitchFamily="49" charset="0"/>
                <a:cs typeface="Consolas" panose="020B0609020204030204" pitchFamily="49" charset="0"/>
              </a:rPr>
              <a:t>:</a:t>
            </a:r>
          </a:p>
          <a:p>
            <a:endParaRPr lang="en-GB" dirty="0">
              <a:latin typeface="Consolas" panose="020B0609020204030204" pitchFamily="49" charset="0"/>
              <a:cs typeface="Consolas" panose="020B0609020204030204" pitchFamily="49" charset="0"/>
            </a:endParaRPr>
          </a:p>
          <a:p>
            <a:r>
              <a:rPr lang="en-GB" dirty="0">
                <a:latin typeface="Consolas" panose="020B0609020204030204" pitchFamily="49" charset="0"/>
                <a:cs typeface="Consolas" panose="020B0609020204030204" pitchFamily="49" charset="0"/>
              </a:rPr>
              <a:t>        for j from i+1 to </a:t>
            </a:r>
            <a:r>
              <a:rPr lang="en-GB" b="1" dirty="0">
                <a:latin typeface="Consolas" panose="020B0609020204030204" pitchFamily="49" charset="0"/>
                <a:cs typeface="Consolas" panose="020B0609020204030204" pitchFamily="49" charset="0"/>
              </a:rPr>
              <a:t>length(</a:t>
            </a:r>
            <a:r>
              <a:rPr lang="en-GB" b="1" dirty="0" err="1">
                <a:latin typeface="Consolas" panose="020B0609020204030204" pitchFamily="49" charset="0"/>
                <a:cs typeface="Consolas" panose="020B0609020204030204" pitchFamily="49" charset="0"/>
              </a:rPr>
              <a:t>arr</a:t>
            </a:r>
            <a:r>
              <a:rPr lang="en-GB" b="1" dirty="0">
                <a:latin typeface="Consolas" panose="020B0609020204030204" pitchFamily="49" charset="0"/>
                <a:cs typeface="Consolas" panose="020B0609020204030204" pitchFamily="49" charset="0"/>
              </a:rPr>
              <a:t>)</a:t>
            </a:r>
            <a:r>
              <a:rPr lang="en-GB" dirty="0">
                <a:latin typeface="Consolas" panose="020B0609020204030204" pitchFamily="49" charset="0"/>
                <a:cs typeface="Consolas" panose="020B0609020204030204" pitchFamily="49" charset="0"/>
              </a:rPr>
              <a:t>:</a:t>
            </a:r>
          </a:p>
          <a:p>
            <a:endParaRPr lang="en-GB" dirty="0">
              <a:latin typeface="Consolas" panose="020B0609020204030204" pitchFamily="49" charset="0"/>
              <a:cs typeface="Consolas" panose="020B0609020204030204" pitchFamily="49" charset="0"/>
            </a:endParaRPr>
          </a:p>
          <a:p>
            <a:r>
              <a:rPr lang="en-GB" dirty="0">
                <a:latin typeface="Consolas" panose="020B0609020204030204" pitchFamily="49" charset="0"/>
                <a:cs typeface="Consolas" panose="020B0609020204030204" pitchFamily="49" charset="0"/>
              </a:rPr>
              <a:t>            </a:t>
            </a:r>
            <a:r>
              <a:rPr lang="en-GB" b="1" dirty="0">
                <a:latin typeface="Consolas" panose="020B0609020204030204" pitchFamily="49" charset="0"/>
                <a:cs typeface="Consolas" panose="020B0609020204030204" pitchFamily="49" charset="0"/>
              </a:rPr>
              <a:t>if </a:t>
            </a:r>
            <a:r>
              <a:rPr lang="en-GB" b="1" dirty="0" err="1">
                <a:latin typeface="Consolas" panose="020B0609020204030204" pitchFamily="49" charset="0"/>
                <a:cs typeface="Consolas" panose="020B0609020204030204" pitchFamily="49" charset="0"/>
              </a:rPr>
              <a:t>arr</a:t>
            </a:r>
            <a:r>
              <a:rPr lang="en-GB" b="1" dirty="0">
                <a:latin typeface="Consolas" panose="020B0609020204030204" pitchFamily="49" charset="0"/>
                <a:cs typeface="Consolas" panose="020B0609020204030204" pitchFamily="49" charset="0"/>
              </a:rPr>
              <a:t>[</a:t>
            </a:r>
            <a:r>
              <a:rPr lang="en-GB" b="1" dirty="0" err="1">
                <a:latin typeface="Consolas" panose="020B0609020204030204" pitchFamily="49" charset="0"/>
                <a:cs typeface="Consolas" panose="020B0609020204030204" pitchFamily="49" charset="0"/>
              </a:rPr>
              <a:t>i</a:t>
            </a:r>
            <a:r>
              <a:rPr lang="en-GB" b="1" dirty="0">
                <a:latin typeface="Consolas" panose="020B0609020204030204" pitchFamily="49" charset="0"/>
                <a:cs typeface="Consolas" panose="020B0609020204030204" pitchFamily="49" charset="0"/>
              </a:rPr>
              <a:t>] &gt; </a:t>
            </a:r>
            <a:r>
              <a:rPr lang="en-GB" b="1" dirty="0" err="1">
                <a:latin typeface="Consolas" panose="020B0609020204030204" pitchFamily="49" charset="0"/>
                <a:cs typeface="Consolas" panose="020B0609020204030204" pitchFamily="49" charset="0"/>
              </a:rPr>
              <a:t>arr</a:t>
            </a:r>
            <a:r>
              <a:rPr lang="en-GB" b="1" dirty="0">
                <a:latin typeface="Consolas" panose="020B0609020204030204" pitchFamily="49" charset="0"/>
                <a:cs typeface="Consolas" panose="020B0609020204030204" pitchFamily="49" charset="0"/>
              </a:rPr>
              <a:t>[j]:</a:t>
            </a:r>
          </a:p>
          <a:p>
            <a:endParaRPr lang="en-GB" dirty="0">
              <a:latin typeface="Consolas" panose="020B0609020204030204" pitchFamily="49" charset="0"/>
              <a:cs typeface="Consolas" panose="020B0609020204030204" pitchFamily="49" charset="0"/>
            </a:endParaRPr>
          </a:p>
          <a:p>
            <a:r>
              <a:rPr lang="en-GB" dirty="0">
                <a:latin typeface="Consolas" panose="020B0609020204030204" pitchFamily="49" charset="0"/>
                <a:cs typeface="Consolas" panose="020B0609020204030204" pitchFamily="49" charset="0"/>
              </a:rPr>
              <a:t>                swap(</a:t>
            </a:r>
            <a:r>
              <a:rPr lang="en-GB" dirty="0" err="1">
                <a:latin typeface="Consolas" panose="020B0609020204030204" pitchFamily="49" charset="0"/>
                <a:cs typeface="Consolas" panose="020B0609020204030204" pitchFamily="49" charset="0"/>
              </a:rPr>
              <a:t>arr</a:t>
            </a:r>
            <a:r>
              <a:rPr lang="en-GB" dirty="0">
                <a:latin typeface="Consolas" panose="020B0609020204030204" pitchFamily="49" charset="0"/>
                <a:cs typeface="Consolas" panose="020B0609020204030204" pitchFamily="49" charset="0"/>
              </a:rPr>
              <a:t>[</a:t>
            </a:r>
            <a:r>
              <a:rPr lang="en-GB" dirty="0" err="1">
                <a:latin typeface="Consolas" panose="020B0609020204030204" pitchFamily="49" charset="0"/>
                <a:cs typeface="Consolas" panose="020B0609020204030204" pitchFamily="49" charset="0"/>
              </a:rPr>
              <a:t>i</a:t>
            </a:r>
            <a:r>
              <a:rPr lang="en-GB" dirty="0">
                <a:latin typeface="Consolas" panose="020B0609020204030204" pitchFamily="49" charset="0"/>
                <a:cs typeface="Consolas" panose="020B0609020204030204" pitchFamily="49" charset="0"/>
              </a:rPr>
              <a:t>], </a:t>
            </a:r>
            <a:r>
              <a:rPr lang="en-GB" dirty="0" err="1">
                <a:latin typeface="Consolas" panose="020B0609020204030204" pitchFamily="49" charset="0"/>
                <a:cs typeface="Consolas" panose="020B0609020204030204" pitchFamily="49" charset="0"/>
              </a:rPr>
              <a:t>arr</a:t>
            </a:r>
            <a:r>
              <a:rPr lang="en-GB" dirty="0">
                <a:latin typeface="Consolas" panose="020B0609020204030204" pitchFamily="49" charset="0"/>
                <a:cs typeface="Consolas" panose="020B0609020204030204" pitchFamily="49" charset="0"/>
              </a:rPr>
              <a:t>[j])</a:t>
            </a:r>
          </a:p>
          <a:p>
            <a:r>
              <a:rPr lang="en-GB" dirty="0">
                <a:latin typeface="Consolas" panose="020B0609020204030204" pitchFamily="49" charset="0"/>
                <a:cs typeface="Consolas" panose="020B0609020204030204" pitchFamily="49" charset="0"/>
              </a:rPr>
              <a:t>                </a:t>
            </a:r>
            <a:r>
              <a:rPr lang="en-GB" b="1" dirty="0" err="1">
                <a:latin typeface="Consolas" panose="020B0609020204030204" pitchFamily="49" charset="0"/>
                <a:cs typeface="Consolas" panose="020B0609020204030204" pitchFamily="49" charset="0"/>
              </a:rPr>
              <a:t>sortArray</a:t>
            </a:r>
            <a:r>
              <a:rPr lang="en-GB" b="1" dirty="0">
                <a:latin typeface="Consolas" panose="020B0609020204030204" pitchFamily="49" charset="0"/>
                <a:cs typeface="Consolas" panose="020B0609020204030204" pitchFamily="49" charset="0"/>
              </a:rPr>
              <a:t>(</a:t>
            </a:r>
            <a:r>
              <a:rPr lang="en-GB" b="1" dirty="0" err="1">
                <a:latin typeface="Consolas" panose="020B0609020204030204" pitchFamily="49" charset="0"/>
                <a:cs typeface="Consolas" panose="020B0609020204030204" pitchFamily="49" charset="0"/>
              </a:rPr>
              <a:t>arr</a:t>
            </a:r>
            <a:r>
              <a:rPr lang="en-GB" b="1" dirty="0">
                <a:latin typeface="Consolas" panose="020B0609020204030204" pitchFamily="49" charset="0"/>
                <a:cs typeface="Consolas" panose="020B0609020204030204" pitchFamily="49" charset="0"/>
              </a:rPr>
              <a:t>)</a:t>
            </a:r>
          </a:p>
          <a:p>
            <a:r>
              <a:rPr lang="en-GB" dirty="0">
                <a:latin typeface="Consolas" panose="020B0609020204030204" pitchFamily="49" charset="0"/>
                <a:cs typeface="Consolas" panose="020B0609020204030204" pitchFamily="49" charset="0"/>
              </a:rPr>
              <a:t>                swap(</a:t>
            </a:r>
            <a:r>
              <a:rPr lang="en-GB" dirty="0" err="1">
                <a:latin typeface="Consolas" panose="020B0609020204030204" pitchFamily="49" charset="0"/>
                <a:cs typeface="Consolas" panose="020B0609020204030204" pitchFamily="49" charset="0"/>
              </a:rPr>
              <a:t>arr</a:t>
            </a:r>
            <a:r>
              <a:rPr lang="en-GB" dirty="0">
                <a:latin typeface="Consolas" panose="020B0609020204030204" pitchFamily="49" charset="0"/>
                <a:cs typeface="Consolas" panose="020B0609020204030204" pitchFamily="49" charset="0"/>
              </a:rPr>
              <a:t>[</a:t>
            </a:r>
            <a:r>
              <a:rPr lang="en-GB" dirty="0" err="1">
                <a:latin typeface="Consolas" panose="020B0609020204030204" pitchFamily="49" charset="0"/>
                <a:cs typeface="Consolas" panose="020B0609020204030204" pitchFamily="49" charset="0"/>
              </a:rPr>
              <a:t>i</a:t>
            </a:r>
            <a:r>
              <a:rPr lang="en-GB" dirty="0">
                <a:latin typeface="Consolas" panose="020B0609020204030204" pitchFamily="49" charset="0"/>
                <a:cs typeface="Consolas" panose="020B0609020204030204" pitchFamily="49" charset="0"/>
              </a:rPr>
              <a:t>], </a:t>
            </a:r>
            <a:r>
              <a:rPr lang="en-GB" dirty="0" err="1">
                <a:latin typeface="Consolas" panose="020B0609020204030204" pitchFamily="49" charset="0"/>
                <a:cs typeface="Consolas" panose="020B0609020204030204" pitchFamily="49" charset="0"/>
              </a:rPr>
              <a:t>arr</a:t>
            </a:r>
            <a:r>
              <a:rPr lang="en-GB" dirty="0">
                <a:latin typeface="Consolas" panose="020B0609020204030204" pitchFamily="49" charset="0"/>
                <a:cs typeface="Consolas" panose="020B0609020204030204" pitchFamily="49" charset="0"/>
              </a:rPr>
              <a:t>[j])</a:t>
            </a:r>
            <a:endParaRPr lang="en-NL"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971503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4B2AE021-39D9-33BD-EA1B-1627078018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1450" b="47764"/>
          <a:stretch/>
        </p:blipFill>
        <p:spPr bwMode="auto">
          <a:xfrm>
            <a:off x="2413498" y="2265972"/>
            <a:ext cx="7136902" cy="2326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40850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F2AA4-A81C-A48C-C06B-3F4C2F696093}"/>
              </a:ext>
            </a:extLst>
          </p:cNvPr>
          <p:cNvSpPr>
            <a:spLocks noGrp="1"/>
          </p:cNvSpPr>
          <p:nvPr>
            <p:ph type="title"/>
          </p:nvPr>
        </p:nvSpPr>
        <p:spPr/>
        <p:txBody>
          <a:bodyPr/>
          <a:lstStyle/>
          <a:p>
            <a:r>
              <a:rPr lang="en-NL" dirty="0"/>
              <a:t>Lower Bound</a:t>
            </a:r>
          </a:p>
        </p:txBody>
      </p:sp>
      <p:pic>
        <p:nvPicPr>
          <p:cNvPr id="12292" name="Picture 4">
            <a:extLst>
              <a:ext uri="{FF2B5EF4-FFF2-40B4-BE49-F238E27FC236}">
                <a16:creationId xmlns:a16="http://schemas.microsoft.com/office/drawing/2014/main" id="{7A52744A-0B10-D272-3818-C77F9482E4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1359" y="767099"/>
            <a:ext cx="8059769" cy="445302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A83DEAD-2D1D-8C88-2C22-6A1A561BE742}"/>
              </a:ext>
            </a:extLst>
          </p:cNvPr>
          <p:cNvPicPr>
            <a:picLocks noChangeAspect="1"/>
          </p:cNvPicPr>
          <p:nvPr/>
        </p:nvPicPr>
        <p:blipFill>
          <a:blip r:embed="rId4"/>
          <a:stretch>
            <a:fillRect/>
          </a:stretch>
        </p:blipFill>
        <p:spPr>
          <a:xfrm>
            <a:off x="4148728" y="5474130"/>
            <a:ext cx="7772400" cy="1233541"/>
          </a:xfrm>
          <a:prstGeom prst="rect">
            <a:avLst/>
          </a:prstGeom>
        </p:spPr>
      </p:pic>
      <p:sp>
        <p:nvSpPr>
          <p:cNvPr id="6" name="TextBox 5">
            <a:extLst>
              <a:ext uri="{FF2B5EF4-FFF2-40B4-BE49-F238E27FC236}">
                <a16:creationId xmlns:a16="http://schemas.microsoft.com/office/drawing/2014/main" id="{37F7B370-A972-0165-EB63-6BA21DFA746C}"/>
              </a:ext>
            </a:extLst>
          </p:cNvPr>
          <p:cNvSpPr txBox="1"/>
          <p:nvPr/>
        </p:nvSpPr>
        <p:spPr>
          <a:xfrm>
            <a:off x="270872" y="1643896"/>
            <a:ext cx="2864887" cy="1785104"/>
          </a:xfrm>
          <a:prstGeom prst="rect">
            <a:avLst/>
          </a:prstGeom>
          <a:solidFill>
            <a:schemeClr val="bg1"/>
          </a:solidFill>
        </p:spPr>
        <p:txBody>
          <a:bodyPr wrap="none" rtlCol="0">
            <a:spAutoFit/>
          </a:bodyPr>
          <a:lstStyle/>
          <a:p>
            <a:r>
              <a:rPr lang="en-GB" sz="1000" dirty="0">
                <a:latin typeface="Consolas" panose="020B0609020204030204" pitchFamily="49" charset="0"/>
                <a:cs typeface="Consolas" panose="020B0609020204030204" pitchFamily="49" charset="0"/>
              </a:rPr>
              <a:t>function </a:t>
            </a:r>
            <a:r>
              <a:rPr lang="en-GB" sz="1000" b="1" dirty="0" err="1">
                <a:latin typeface="Consolas" panose="020B0609020204030204" pitchFamily="49" charset="0"/>
                <a:cs typeface="Consolas" panose="020B0609020204030204" pitchFamily="49" charset="0"/>
              </a:rPr>
              <a:t>sortArray</a:t>
            </a:r>
            <a:r>
              <a:rPr lang="en-GB" sz="1000" dirty="0">
                <a:latin typeface="Consolas" panose="020B0609020204030204" pitchFamily="49" charset="0"/>
                <a:cs typeface="Consolas" panose="020B0609020204030204" pitchFamily="49" charset="0"/>
              </a:rPr>
              <a:t>(</a:t>
            </a:r>
            <a:r>
              <a:rPr lang="en-GB" sz="1000" dirty="0" err="1">
                <a:latin typeface="Consolas" panose="020B0609020204030204" pitchFamily="49" charset="0"/>
                <a:cs typeface="Consolas" panose="020B0609020204030204" pitchFamily="49" charset="0"/>
              </a:rPr>
              <a:t>arr</a:t>
            </a:r>
            <a:r>
              <a:rPr lang="en-GB" sz="1000" dirty="0">
                <a:latin typeface="Consolas" panose="020B0609020204030204" pitchFamily="49" charset="0"/>
                <a:cs typeface="Consolas" panose="020B0609020204030204" pitchFamily="49" charset="0"/>
              </a:rPr>
              <a:t>):</a:t>
            </a:r>
          </a:p>
          <a:p>
            <a:r>
              <a:rPr lang="en-GB" sz="1000" dirty="0">
                <a:latin typeface="Consolas" panose="020B0609020204030204" pitchFamily="49" charset="0"/>
                <a:cs typeface="Consolas" panose="020B0609020204030204" pitchFamily="49" charset="0"/>
              </a:rPr>
              <a:t>    if </a:t>
            </a:r>
            <a:r>
              <a:rPr lang="en-GB" sz="1000" dirty="0" err="1">
                <a:latin typeface="Consolas" panose="020B0609020204030204" pitchFamily="49" charset="0"/>
                <a:cs typeface="Consolas" panose="020B0609020204030204" pitchFamily="49" charset="0"/>
              </a:rPr>
              <a:t>arr</a:t>
            </a:r>
            <a:r>
              <a:rPr lang="en-GB" sz="1000" dirty="0">
                <a:latin typeface="Consolas" panose="020B0609020204030204" pitchFamily="49" charset="0"/>
                <a:cs typeface="Consolas" panose="020B0609020204030204" pitchFamily="49" charset="0"/>
              </a:rPr>
              <a:t> is sorted:</a:t>
            </a:r>
          </a:p>
          <a:p>
            <a:r>
              <a:rPr lang="en-GB" sz="1000" dirty="0">
                <a:latin typeface="Consolas" panose="020B0609020204030204" pitchFamily="49" charset="0"/>
                <a:cs typeface="Consolas" panose="020B0609020204030204" pitchFamily="49" charset="0"/>
              </a:rPr>
              <a:t>        print "Sorted array:", </a:t>
            </a:r>
            <a:r>
              <a:rPr lang="en-GB" sz="1000" dirty="0" err="1">
                <a:latin typeface="Consolas" panose="020B0609020204030204" pitchFamily="49" charset="0"/>
                <a:cs typeface="Consolas" panose="020B0609020204030204" pitchFamily="49" charset="0"/>
              </a:rPr>
              <a:t>arr</a:t>
            </a:r>
            <a:endParaRPr lang="en-GB" sz="1000" dirty="0">
              <a:latin typeface="Consolas" panose="020B0609020204030204" pitchFamily="49" charset="0"/>
              <a:cs typeface="Consolas" panose="020B0609020204030204" pitchFamily="49" charset="0"/>
            </a:endParaRPr>
          </a:p>
          <a:p>
            <a:r>
              <a:rPr lang="en-GB" sz="1000" dirty="0">
                <a:latin typeface="Consolas" panose="020B0609020204030204" pitchFamily="49" charset="0"/>
                <a:cs typeface="Consolas" panose="020B0609020204030204" pitchFamily="49" charset="0"/>
              </a:rPr>
              <a:t>        return</a:t>
            </a:r>
          </a:p>
          <a:p>
            <a:endParaRPr lang="en-GB" sz="1000" dirty="0">
              <a:latin typeface="Consolas" panose="020B0609020204030204" pitchFamily="49" charset="0"/>
              <a:cs typeface="Consolas" panose="020B0609020204030204" pitchFamily="49" charset="0"/>
            </a:endParaRPr>
          </a:p>
          <a:p>
            <a:r>
              <a:rPr lang="en-GB" sz="1000" dirty="0">
                <a:latin typeface="Consolas" panose="020B0609020204030204" pitchFamily="49" charset="0"/>
                <a:cs typeface="Consolas" panose="020B0609020204030204" pitchFamily="49" charset="0"/>
              </a:rPr>
              <a:t>    for </a:t>
            </a:r>
            <a:r>
              <a:rPr lang="en-GB" sz="1000" dirty="0" err="1">
                <a:latin typeface="Consolas" panose="020B0609020204030204" pitchFamily="49" charset="0"/>
                <a:cs typeface="Consolas" panose="020B0609020204030204" pitchFamily="49" charset="0"/>
              </a:rPr>
              <a:t>i</a:t>
            </a:r>
            <a:r>
              <a:rPr lang="en-GB" sz="1000" dirty="0">
                <a:latin typeface="Consolas" panose="020B0609020204030204" pitchFamily="49" charset="0"/>
                <a:cs typeface="Consolas" panose="020B0609020204030204" pitchFamily="49" charset="0"/>
              </a:rPr>
              <a:t> from 0 to length(</a:t>
            </a:r>
            <a:r>
              <a:rPr lang="en-GB" sz="1000" dirty="0" err="1">
                <a:latin typeface="Consolas" panose="020B0609020204030204" pitchFamily="49" charset="0"/>
                <a:cs typeface="Consolas" panose="020B0609020204030204" pitchFamily="49" charset="0"/>
              </a:rPr>
              <a:t>arr</a:t>
            </a:r>
            <a:r>
              <a:rPr lang="en-GB" sz="1000" dirty="0">
                <a:latin typeface="Consolas" panose="020B0609020204030204" pitchFamily="49" charset="0"/>
                <a:cs typeface="Consolas" panose="020B0609020204030204" pitchFamily="49" charset="0"/>
              </a:rPr>
              <a:t>)-1:</a:t>
            </a:r>
          </a:p>
          <a:p>
            <a:r>
              <a:rPr lang="en-GB" sz="1000" dirty="0">
                <a:latin typeface="Consolas" panose="020B0609020204030204" pitchFamily="49" charset="0"/>
                <a:cs typeface="Consolas" panose="020B0609020204030204" pitchFamily="49" charset="0"/>
              </a:rPr>
              <a:t>        for j from i+1 to length(</a:t>
            </a:r>
            <a:r>
              <a:rPr lang="en-GB" sz="1000" dirty="0" err="1">
                <a:latin typeface="Consolas" panose="020B0609020204030204" pitchFamily="49" charset="0"/>
                <a:cs typeface="Consolas" panose="020B0609020204030204" pitchFamily="49" charset="0"/>
              </a:rPr>
              <a:t>arr</a:t>
            </a:r>
            <a:r>
              <a:rPr lang="en-GB" sz="1000" dirty="0">
                <a:latin typeface="Consolas" panose="020B0609020204030204" pitchFamily="49" charset="0"/>
                <a:cs typeface="Consolas" panose="020B0609020204030204" pitchFamily="49" charset="0"/>
              </a:rPr>
              <a:t>):</a:t>
            </a:r>
          </a:p>
          <a:p>
            <a:r>
              <a:rPr lang="en-GB" sz="1000" dirty="0">
                <a:latin typeface="Consolas" panose="020B0609020204030204" pitchFamily="49" charset="0"/>
                <a:cs typeface="Consolas" panose="020B0609020204030204" pitchFamily="49" charset="0"/>
              </a:rPr>
              <a:t>            </a:t>
            </a:r>
            <a:r>
              <a:rPr lang="en-GB" sz="1000" b="1" dirty="0">
                <a:latin typeface="Consolas" panose="020B0609020204030204" pitchFamily="49" charset="0"/>
                <a:cs typeface="Consolas" panose="020B0609020204030204" pitchFamily="49" charset="0"/>
              </a:rPr>
              <a:t>if </a:t>
            </a:r>
            <a:r>
              <a:rPr lang="en-GB" sz="1000" b="1" dirty="0" err="1">
                <a:latin typeface="Consolas" panose="020B0609020204030204" pitchFamily="49" charset="0"/>
                <a:cs typeface="Consolas" panose="020B0609020204030204" pitchFamily="49" charset="0"/>
              </a:rPr>
              <a:t>arr</a:t>
            </a:r>
            <a:r>
              <a:rPr lang="en-GB" sz="1000" b="1" dirty="0">
                <a:latin typeface="Consolas" panose="020B0609020204030204" pitchFamily="49" charset="0"/>
                <a:cs typeface="Consolas" panose="020B0609020204030204" pitchFamily="49" charset="0"/>
              </a:rPr>
              <a:t>[</a:t>
            </a:r>
            <a:r>
              <a:rPr lang="en-GB" sz="1000" b="1" dirty="0" err="1">
                <a:latin typeface="Consolas" panose="020B0609020204030204" pitchFamily="49" charset="0"/>
                <a:cs typeface="Consolas" panose="020B0609020204030204" pitchFamily="49" charset="0"/>
              </a:rPr>
              <a:t>i</a:t>
            </a:r>
            <a:r>
              <a:rPr lang="en-GB" sz="1000" b="1" dirty="0">
                <a:latin typeface="Consolas" panose="020B0609020204030204" pitchFamily="49" charset="0"/>
                <a:cs typeface="Consolas" panose="020B0609020204030204" pitchFamily="49" charset="0"/>
              </a:rPr>
              <a:t>] &gt; </a:t>
            </a:r>
            <a:r>
              <a:rPr lang="en-GB" sz="1000" b="1" dirty="0" err="1">
                <a:latin typeface="Consolas" panose="020B0609020204030204" pitchFamily="49" charset="0"/>
                <a:cs typeface="Consolas" panose="020B0609020204030204" pitchFamily="49" charset="0"/>
              </a:rPr>
              <a:t>arr</a:t>
            </a:r>
            <a:r>
              <a:rPr lang="en-GB" sz="1000" b="1" dirty="0">
                <a:latin typeface="Consolas" panose="020B0609020204030204" pitchFamily="49" charset="0"/>
                <a:cs typeface="Consolas" panose="020B0609020204030204" pitchFamily="49" charset="0"/>
              </a:rPr>
              <a:t>[j]:</a:t>
            </a:r>
          </a:p>
          <a:p>
            <a:r>
              <a:rPr lang="en-GB" sz="1000" dirty="0">
                <a:latin typeface="Consolas" panose="020B0609020204030204" pitchFamily="49" charset="0"/>
                <a:cs typeface="Consolas" panose="020B0609020204030204" pitchFamily="49" charset="0"/>
              </a:rPr>
              <a:t>                swap(</a:t>
            </a:r>
            <a:r>
              <a:rPr lang="en-GB" sz="1000" dirty="0" err="1">
                <a:latin typeface="Consolas" panose="020B0609020204030204" pitchFamily="49" charset="0"/>
                <a:cs typeface="Consolas" panose="020B0609020204030204" pitchFamily="49" charset="0"/>
              </a:rPr>
              <a:t>arr</a:t>
            </a:r>
            <a:r>
              <a:rPr lang="en-GB" sz="1000" dirty="0">
                <a:latin typeface="Consolas" panose="020B0609020204030204" pitchFamily="49" charset="0"/>
                <a:cs typeface="Consolas" panose="020B0609020204030204" pitchFamily="49" charset="0"/>
              </a:rPr>
              <a:t>[</a:t>
            </a:r>
            <a:r>
              <a:rPr lang="en-GB" sz="1000" dirty="0" err="1">
                <a:latin typeface="Consolas" panose="020B0609020204030204" pitchFamily="49" charset="0"/>
                <a:cs typeface="Consolas" panose="020B0609020204030204" pitchFamily="49" charset="0"/>
              </a:rPr>
              <a:t>i</a:t>
            </a:r>
            <a:r>
              <a:rPr lang="en-GB" sz="1000" dirty="0">
                <a:latin typeface="Consolas" panose="020B0609020204030204" pitchFamily="49" charset="0"/>
                <a:cs typeface="Consolas" panose="020B0609020204030204" pitchFamily="49" charset="0"/>
              </a:rPr>
              <a:t>], </a:t>
            </a:r>
            <a:r>
              <a:rPr lang="en-GB" sz="1000" dirty="0" err="1">
                <a:latin typeface="Consolas" panose="020B0609020204030204" pitchFamily="49" charset="0"/>
                <a:cs typeface="Consolas" panose="020B0609020204030204" pitchFamily="49" charset="0"/>
              </a:rPr>
              <a:t>arr</a:t>
            </a:r>
            <a:r>
              <a:rPr lang="en-GB" sz="1000" dirty="0">
                <a:latin typeface="Consolas" panose="020B0609020204030204" pitchFamily="49" charset="0"/>
                <a:cs typeface="Consolas" panose="020B0609020204030204" pitchFamily="49" charset="0"/>
              </a:rPr>
              <a:t>[j])</a:t>
            </a:r>
          </a:p>
          <a:p>
            <a:r>
              <a:rPr lang="en-GB" sz="1000" dirty="0">
                <a:latin typeface="Consolas" panose="020B0609020204030204" pitchFamily="49" charset="0"/>
                <a:cs typeface="Consolas" panose="020B0609020204030204" pitchFamily="49" charset="0"/>
              </a:rPr>
              <a:t>                </a:t>
            </a:r>
            <a:r>
              <a:rPr lang="en-GB" sz="1000" b="1" dirty="0" err="1">
                <a:latin typeface="Consolas" panose="020B0609020204030204" pitchFamily="49" charset="0"/>
                <a:cs typeface="Consolas" panose="020B0609020204030204" pitchFamily="49" charset="0"/>
              </a:rPr>
              <a:t>sortArray</a:t>
            </a:r>
            <a:r>
              <a:rPr lang="en-GB" sz="1000" b="1" dirty="0">
                <a:latin typeface="Consolas" panose="020B0609020204030204" pitchFamily="49" charset="0"/>
                <a:cs typeface="Consolas" panose="020B0609020204030204" pitchFamily="49" charset="0"/>
              </a:rPr>
              <a:t>(</a:t>
            </a:r>
            <a:r>
              <a:rPr lang="en-GB" sz="1000" b="1" dirty="0" err="1">
                <a:latin typeface="Consolas" panose="020B0609020204030204" pitchFamily="49" charset="0"/>
                <a:cs typeface="Consolas" panose="020B0609020204030204" pitchFamily="49" charset="0"/>
              </a:rPr>
              <a:t>arr</a:t>
            </a:r>
            <a:r>
              <a:rPr lang="en-GB" sz="1000" b="1" dirty="0">
                <a:latin typeface="Consolas" panose="020B0609020204030204" pitchFamily="49" charset="0"/>
                <a:cs typeface="Consolas" panose="020B0609020204030204" pitchFamily="49" charset="0"/>
              </a:rPr>
              <a:t>)</a:t>
            </a:r>
          </a:p>
          <a:p>
            <a:r>
              <a:rPr lang="en-GB" sz="1000" dirty="0">
                <a:latin typeface="Consolas" panose="020B0609020204030204" pitchFamily="49" charset="0"/>
                <a:cs typeface="Consolas" panose="020B0609020204030204" pitchFamily="49" charset="0"/>
              </a:rPr>
              <a:t>                swap(</a:t>
            </a:r>
            <a:r>
              <a:rPr lang="en-GB" sz="1000" dirty="0" err="1">
                <a:latin typeface="Consolas" panose="020B0609020204030204" pitchFamily="49" charset="0"/>
                <a:cs typeface="Consolas" panose="020B0609020204030204" pitchFamily="49" charset="0"/>
              </a:rPr>
              <a:t>arr</a:t>
            </a:r>
            <a:r>
              <a:rPr lang="en-GB" sz="1000" dirty="0">
                <a:latin typeface="Consolas" panose="020B0609020204030204" pitchFamily="49" charset="0"/>
                <a:cs typeface="Consolas" panose="020B0609020204030204" pitchFamily="49" charset="0"/>
              </a:rPr>
              <a:t>[</a:t>
            </a:r>
            <a:r>
              <a:rPr lang="en-GB" sz="1000" dirty="0" err="1">
                <a:latin typeface="Consolas" panose="020B0609020204030204" pitchFamily="49" charset="0"/>
                <a:cs typeface="Consolas" panose="020B0609020204030204" pitchFamily="49" charset="0"/>
              </a:rPr>
              <a:t>i</a:t>
            </a:r>
            <a:r>
              <a:rPr lang="en-GB" sz="1000" dirty="0">
                <a:latin typeface="Consolas" panose="020B0609020204030204" pitchFamily="49" charset="0"/>
                <a:cs typeface="Consolas" panose="020B0609020204030204" pitchFamily="49" charset="0"/>
              </a:rPr>
              <a:t>], </a:t>
            </a:r>
            <a:r>
              <a:rPr lang="en-GB" sz="1000" dirty="0" err="1">
                <a:latin typeface="Consolas" panose="020B0609020204030204" pitchFamily="49" charset="0"/>
                <a:cs typeface="Consolas" panose="020B0609020204030204" pitchFamily="49" charset="0"/>
              </a:rPr>
              <a:t>arr</a:t>
            </a:r>
            <a:r>
              <a:rPr lang="en-GB" sz="1000" dirty="0">
                <a:latin typeface="Consolas" panose="020B0609020204030204" pitchFamily="49" charset="0"/>
                <a:cs typeface="Consolas" panose="020B0609020204030204" pitchFamily="49" charset="0"/>
              </a:rPr>
              <a:t>[j])</a:t>
            </a:r>
            <a:endParaRPr lang="en-NL" sz="1000" dirty="0">
              <a:latin typeface="Consolas" panose="020B0609020204030204" pitchFamily="49" charset="0"/>
              <a:cs typeface="Consolas" panose="020B0609020204030204" pitchFamily="49" charset="0"/>
            </a:endParaRPr>
          </a:p>
        </p:txBody>
      </p:sp>
      <p:grpSp>
        <p:nvGrpSpPr>
          <p:cNvPr id="9" name="Group 8">
            <a:extLst>
              <a:ext uri="{FF2B5EF4-FFF2-40B4-BE49-F238E27FC236}">
                <a16:creationId xmlns:a16="http://schemas.microsoft.com/office/drawing/2014/main" id="{18E7C644-3434-62BF-51F8-D0A7E15A476C}"/>
              </a:ext>
            </a:extLst>
          </p:cNvPr>
          <p:cNvGrpSpPr/>
          <p:nvPr/>
        </p:nvGrpSpPr>
        <p:grpSpPr>
          <a:xfrm>
            <a:off x="3821528" y="654756"/>
            <a:ext cx="8139431" cy="4064091"/>
            <a:chOff x="3821528" y="654756"/>
            <a:chExt cx="8139431" cy="4064091"/>
          </a:xfrm>
        </p:grpSpPr>
        <p:sp>
          <p:nvSpPr>
            <p:cNvPr id="4" name="Rectangle 3">
              <a:extLst>
                <a:ext uri="{FF2B5EF4-FFF2-40B4-BE49-F238E27FC236}">
                  <a16:creationId xmlns:a16="http://schemas.microsoft.com/office/drawing/2014/main" id="{7378BF03-5632-147F-226A-9463F872D925}"/>
                </a:ext>
              </a:extLst>
            </p:cNvPr>
            <p:cNvSpPr/>
            <p:nvPr/>
          </p:nvSpPr>
          <p:spPr>
            <a:xfrm>
              <a:off x="4989689" y="654756"/>
              <a:ext cx="6931439" cy="26416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sp>
          <p:nvSpPr>
            <p:cNvPr id="5" name="Rectangle 4">
              <a:extLst>
                <a:ext uri="{FF2B5EF4-FFF2-40B4-BE49-F238E27FC236}">
                  <a16:creationId xmlns:a16="http://schemas.microsoft.com/office/drawing/2014/main" id="{9434B86C-AEF0-3727-60EE-5BE64D0F2DB7}"/>
                </a:ext>
              </a:extLst>
            </p:cNvPr>
            <p:cNvSpPr/>
            <p:nvPr/>
          </p:nvSpPr>
          <p:spPr>
            <a:xfrm>
              <a:off x="3821528" y="1637878"/>
              <a:ext cx="6931439" cy="179112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sp>
          <p:nvSpPr>
            <p:cNvPr id="7" name="Rectangle 6">
              <a:extLst>
                <a:ext uri="{FF2B5EF4-FFF2-40B4-BE49-F238E27FC236}">
                  <a16:creationId xmlns:a16="http://schemas.microsoft.com/office/drawing/2014/main" id="{61A42AB7-158C-60C2-94E4-709AAC0CD4D9}"/>
                </a:ext>
              </a:extLst>
            </p:cNvPr>
            <p:cNvSpPr/>
            <p:nvPr/>
          </p:nvSpPr>
          <p:spPr>
            <a:xfrm>
              <a:off x="5148243" y="3370705"/>
              <a:ext cx="2392735" cy="132556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sp>
          <p:nvSpPr>
            <p:cNvPr id="8" name="Rectangle 7">
              <a:extLst>
                <a:ext uri="{FF2B5EF4-FFF2-40B4-BE49-F238E27FC236}">
                  <a16:creationId xmlns:a16="http://schemas.microsoft.com/office/drawing/2014/main" id="{A2C112B8-FF09-556B-7DFB-B812EFDD1233}"/>
                </a:ext>
              </a:extLst>
            </p:cNvPr>
            <p:cNvSpPr/>
            <p:nvPr/>
          </p:nvSpPr>
          <p:spPr>
            <a:xfrm>
              <a:off x="9195310" y="3318935"/>
              <a:ext cx="2765649" cy="139991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grpSp>
    </p:spTree>
    <p:extLst>
      <p:ext uri="{BB962C8B-B14F-4D97-AF65-F5344CB8AC3E}">
        <p14:creationId xmlns:p14="http://schemas.microsoft.com/office/powerpoint/2010/main" val="2816097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mph" presetSubtype="0" nodeType="clickEffect">
                                  <p:stCondLst>
                                    <p:cond delay="0"/>
                                  </p:stCondLst>
                                  <p:childTnLst>
                                    <p:set>
                                      <p:cBhvr>
                                        <p:cTn id="11" dur="indefinite"/>
                                        <p:tgtEl>
                                          <p:spTgt spid="9"/>
                                        </p:tgtEl>
                                        <p:attrNameLst>
                                          <p:attrName>style.opacity</p:attrName>
                                        </p:attrNameLst>
                                      </p:cBhvr>
                                      <p:to>
                                        <p:strVal val="0"/>
                                      </p:to>
                                    </p:set>
                                    <p:animEffect filter="image" prLst="opacity: 0">
                                      <p:cBhvr rctx="IE">
                                        <p:cTn id="12" dur="indefinite"/>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7076C-F6F7-4C2D-B4FB-1F4233939C9F}"/>
              </a:ext>
            </a:extLst>
          </p:cNvPr>
          <p:cNvSpPr>
            <a:spLocks noGrp="1"/>
          </p:cNvSpPr>
          <p:nvPr>
            <p:ph type="title"/>
          </p:nvPr>
        </p:nvSpPr>
        <p:spPr/>
        <p:txBody>
          <a:bodyPr/>
          <a:lstStyle/>
          <a:p>
            <a:r>
              <a:rPr lang="en-NL" dirty="0"/>
              <a:t>Bucket Sort</a:t>
            </a:r>
          </a:p>
        </p:txBody>
      </p:sp>
      <p:pic>
        <p:nvPicPr>
          <p:cNvPr id="11266" name="Picture 2" descr="undefined">
            <a:extLst>
              <a:ext uri="{FF2B5EF4-FFF2-40B4-BE49-F238E27FC236}">
                <a16:creationId xmlns:a16="http://schemas.microsoft.com/office/drawing/2014/main" id="{FECD3C9E-BF7F-3295-4EA3-5BEFF06DFE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372" y="1496127"/>
            <a:ext cx="5519058" cy="2324759"/>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undefined">
            <a:extLst>
              <a:ext uri="{FF2B5EF4-FFF2-40B4-BE49-F238E27FC236}">
                <a16:creationId xmlns:a16="http://schemas.microsoft.com/office/drawing/2014/main" id="{FAA673C5-FE7A-3868-59FD-B6E187AD92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2629" y="4015447"/>
            <a:ext cx="5519058" cy="2324759"/>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99DE790B-DCD1-D891-D4C7-7ABB11754166}"/>
              </a:ext>
            </a:extLst>
          </p:cNvPr>
          <p:cNvCxnSpPr/>
          <p:nvPr/>
        </p:nvCxnSpPr>
        <p:spPr>
          <a:xfrm>
            <a:off x="6075430" y="3671162"/>
            <a:ext cx="457199" cy="347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1245BE0-4B46-5C39-D48C-0FB69BB84FD4}"/>
              </a:ext>
            </a:extLst>
          </p:cNvPr>
          <p:cNvSpPr txBox="1"/>
          <p:nvPr/>
        </p:nvSpPr>
        <p:spPr>
          <a:xfrm>
            <a:off x="250372" y="4015447"/>
            <a:ext cx="6293041" cy="2800767"/>
          </a:xfrm>
          <a:prstGeom prst="rect">
            <a:avLst/>
          </a:prstGeom>
          <a:noFill/>
        </p:spPr>
        <p:txBody>
          <a:bodyPr wrap="square">
            <a:spAutoFit/>
          </a:bodyPr>
          <a:lstStyle/>
          <a:p>
            <a:r>
              <a:rPr lang="en-NL" sz="1100" dirty="0">
                <a:latin typeface="Consolas" panose="020B0609020204030204" pitchFamily="49" charset="0"/>
                <a:cs typeface="Consolas" panose="020B0609020204030204" pitchFamily="49" charset="0"/>
              </a:rPr>
              <a:t>function </a:t>
            </a:r>
            <a:r>
              <a:rPr lang="en-NL" sz="1100" b="1" dirty="0">
                <a:latin typeface="Consolas" panose="020B0609020204030204" pitchFamily="49" charset="0"/>
                <a:cs typeface="Consolas" panose="020B0609020204030204" pitchFamily="49" charset="0"/>
              </a:rPr>
              <a:t>bucketSort</a:t>
            </a:r>
            <a:r>
              <a:rPr lang="en-NL" sz="1100" dirty="0">
                <a:latin typeface="Consolas" panose="020B0609020204030204" pitchFamily="49" charset="0"/>
                <a:cs typeface="Consolas" panose="020B0609020204030204" pitchFamily="49" charset="0"/>
              </a:rPr>
              <a:t>(</a:t>
            </a:r>
            <a:r>
              <a:rPr lang="en-NL" sz="1100" b="1" dirty="0">
                <a:latin typeface="Consolas" panose="020B0609020204030204" pitchFamily="49" charset="0"/>
                <a:cs typeface="Consolas" panose="020B0609020204030204" pitchFamily="49" charset="0"/>
              </a:rPr>
              <a:t>array</a:t>
            </a:r>
            <a:r>
              <a:rPr lang="en-NL" sz="1100" dirty="0">
                <a:latin typeface="Consolas" panose="020B0609020204030204" pitchFamily="49" charset="0"/>
                <a:cs typeface="Consolas" panose="020B0609020204030204" pitchFamily="49" charset="0"/>
              </a:rPr>
              <a:t>, </a:t>
            </a:r>
            <a:r>
              <a:rPr lang="en-NL" sz="1100" b="1" dirty="0">
                <a:latin typeface="Consolas" panose="020B0609020204030204" pitchFamily="49" charset="0"/>
                <a:cs typeface="Consolas" panose="020B0609020204030204" pitchFamily="49" charset="0"/>
              </a:rPr>
              <a:t>bucketSize</a:t>
            </a:r>
            <a:r>
              <a:rPr lang="en-NL" sz="1100" dirty="0">
                <a:latin typeface="Consolas" panose="020B0609020204030204" pitchFamily="49" charset="0"/>
                <a:cs typeface="Consolas" panose="020B0609020204030204" pitchFamily="49" charset="0"/>
              </a:rPr>
              <a:t>):</a:t>
            </a:r>
          </a:p>
          <a:p>
            <a:r>
              <a:rPr lang="en-NL" sz="1100" dirty="0">
                <a:solidFill>
                  <a:schemeClr val="tx1">
                    <a:lumMod val="50000"/>
                    <a:lumOff val="50000"/>
                  </a:schemeClr>
                </a:solidFill>
                <a:latin typeface="Consolas" panose="020B0609020204030204" pitchFamily="49" charset="0"/>
                <a:cs typeface="Consolas" panose="020B0609020204030204" pitchFamily="49" charset="0"/>
              </a:rPr>
              <a:t>    // 1. Create buckets and distribute the elements of the array into buckets</a:t>
            </a:r>
          </a:p>
          <a:p>
            <a:r>
              <a:rPr lang="en-NL" sz="1100" dirty="0">
                <a:latin typeface="Consolas" panose="020B0609020204030204" pitchFamily="49" charset="0"/>
                <a:cs typeface="Consolas" panose="020B0609020204030204" pitchFamily="49" charset="0"/>
              </a:rPr>
              <a:t>    buckets = create array of bucketSize lists</a:t>
            </a:r>
          </a:p>
          <a:p>
            <a:r>
              <a:rPr lang="en-NL" sz="1100" dirty="0">
                <a:latin typeface="Consolas" panose="020B0609020204030204" pitchFamily="49" charset="0"/>
                <a:cs typeface="Consolas" panose="020B0609020204030204" pitchFamily="49" charset="0"/>
              </a:rPr>
              <a:t>    for each </a:t>
            </a:r>
            <a:r>
              <a:rPr lang="en-NL" sz="1100" b="1" dirty="0">
                <a:latin typeface="Consolas" panose="020B0609020204030204" pitchFamily="49" charset="0"/>
                <a:cs typeface="Consolas" panose="020B0609020204030204" pitchFamily="49" charset="0"/>
              </a:rPr>
              <a:t>element</a:t>
            </a:r>
            <a:r>
              <a:rPr lang="en-NL" sz="1100" dirty="0">
                <a:latin typeface="Consolas" panose="020B0609020204030204" pitchFamily="49" charset="0"/>
                <a:cs typeface="Consolas" panose="020B0609020204030204" pitchFamily="49" charset="0"/>
              </a:rPr>
              <a:t> in </a:t>
            </a:r>
            <a:r>
              <a:rPr lang="en-NL" sz="1100" b="1" dirty="0">
                <a:latin typeface="Consolas" panose="020B0609020204030204" pitchFamily="49" charset="0"/>
                <a:cs typeface="Consolas" panose="020B0609020204030204" pitchFamily="49" charset="0"/>
              </a:rPr>
              <a:t>array</a:t>
            </a:r>
            <a:r>
              <a:rPr lang="en-NL" sz="1100" dirty="0">
                <a:latin typeface="Consolas" panose="020B0609020204030204" pitchFamily="49" charset="0"/>
                <a:cs typeface="Consolas" panose="020B0609020204030204" pitchFamily="49" charset="0"/>
              </a:rPr>
              <a:t>:</a:t>
            </a:r>
          </a:p>
          <a:p>
            <a:r>
              <a:rPr lang="en-NL" sz="1100" dirty="0">
                <a:latin typeface="Consolas" panose="020B0609020204030204" pitchFamily="49" charset="0"/>
                <a:cs typeface="Consolas" panose="020B0609020204030204" pitchFamily="49" charset="0"/>
              </a:rPr>
              <a:t>        index = determine the appropriate bucket for element</a:t>
            </a:r>
          </a:p>
          <a:p>
            <a:r>
              <a:rPr lang="en-NL" sz="1100" dirty="0">
                <a:latin typeface="Consolas" panose="020B0609020204030204" pitchFamily="49" charset="0"/>
                <a:cs typeface="Consolas" panose="020B0609020204030204" pitchFamily="49" charset="0"/>
              </a:rPr>
              <a:t>        add element to buckets[index]</a:t>
            </a:r>
          </a:p>
          <a:p>
            <a:r>
              <a:rPr lang="en-NL" sz="1100" dirty="0">
                <a:latin typeface="Consolas" panose="020B0609020204030204" pitchFamily="49" charset="0"/>
                <a:cs typeface="Consolas" panose="020B0609020204030204" pitchFamily="49" charset="0"/>
              </a:rPr>
              <a:t>    </a:t>
            </a:r>
          </a:p>
          <a:p>
            <a:r>
              <a:rPr lang="en-NL" sz="1100" dirty="0">
                <a:solidFill>
                  <a:schemeClr val="tx1">
                    <a:lumMod val="50000"/>
                    <a:lumOff val="50000"/>
                  </a:schemeClr>
                </a:solidFill>
                <a:latin typeface="Consolas" panose="020B0609020204030204" pitchFamily="49" charset="0"/>
                <a:cs typeface="Consolas" panose="020B0609020204030204" pitchFamily="49" charset="0"/>
              </a:rPr>
              <a:t>    // 2. Sort individual buckets</a:t>
            </a:r>
          </a:p>
          <a:p>
            <a:r>
              <a:rPr lang="en-NL" sz="1100" dirty="0">
                <a:latin typeface="Consolas" panose="020B0609020204030204" pitchFamily="49" charset="0"/>
                <a:cs typeface="Consolas" panose="020B0609020204030204" pitchFamily="49" charset="0"/>
              </a:rPr>
              <a:t>    for each </a:t>
            </a:r>
            <a:r>
              <a:rPr lang="en-NL" sz="1100" b="1" dirty="0">
                <a:latin typeface="Consolas" panose="020B0609020204030204" pitchFamily="49" charset="0"/>
                <a:cs typeface="Consolas" panose="020B0609020204030204" pitchFamily="49" charset="0"/>
              </a:rPr>
              <a:t>bucket</a:t>
            </a:r>
            <a:r>
              <a:rPr lang="en-NL" sz="1100" dirty="0">
                <a:latin typeface="Consolas" panose="020B0609020204030204" pitchFamily="49" charset="0"/>
                <a:cs typeface="Consolas" panose="020B0609020204030204" pitchFamily="49" charset="0"/>
              </a:rPr>
              <a:t> in </a:t>
            </a:r>
            <a:r>
              <a:rPr lang="en-NL" sz="1100" b="1" dirty="0">
                <a:latin typeface="Consolas" panose="020B0609020204030204" pitchFamily="49" charset="0"/>
                <a:cs typeface="Consolas" panose="020B0609020204030204" pitchFamily="49" charset="0"/>
              </a:rPr>
              <a:t>buckets</a:t>
            </a:r>
            <a:r>
              <a:rPr lang="en-NL" sz="1100" dirty="0">
                <a:latin typeface="Consolas" panose="020B0609020204030204" pitchFamily="49" charset="0"/>
                <a:cs typeface="Consolas" panose="020B0609020204030204" pitchFamily="49" charset="0"/>
              </a:rPr>
              <a:t>:</a:t>
            </a:r>
          </a:p>
          <a:p>
            <a:r>
              <a:rPr lang="en-NL" sz="1100" dirty="0">
                <a:latin typeface="Consolas" panose="020B0609020204030204" pitchFamily="49" charset="0"/>
                <a:cs typeface="Consolas" panose="020B0609020204030204" pitchFamily="49" charset="0"/>
              </a:rPr>
              <a:t>        sort(bucket) // Use a different sorting algorithm</a:t>
            </a:r>
          </a:p>
          <a:p>
            <a:endParaRPr lang="en-NL" sz="1100" dirty="0">
              <a:latin typeface="Consolas" panose="020B0609020204030204" pitchFamily="49" charset="0"/>
              <a:cs typeface="Consolas" panose="020B0609020204030204" pitchFamily="49" charset="0"/>
            </a:endParaRPr>
          </a:p>
          <a:p>
            <a:r>
              <a:rPr lang="en-NL" sz="1100" dirty="0">
                <a:solidFill>
                  <a:schemeClr val="tx1">
                    <a:lumMod val="50000"/>
                    <a:lumOff val="50000"/>
                  </a:schemeClr>
                </a:solidFill>
                <a:latin typeface="Consolas" panose="020B0609020204030204" pitchFamily="49" charset="0"/>
                <a:cs typeface="Consolas" panose="020B0609020204030204" pitchFamily="49" charset="0"/>
              </a:rPr>
              <a:t>    // 3. Concatenate all buckets back into original array</a:t>
            </a:r>
          </a:p>
          <a:p>
            <a:r>
              <a:rPr lang="en-NL" sz="1100" dirty="0">
                <a:latin typeface="Consolas" panose="020B0609020204030204" pitchFamily="49" charset="0"/>
                <a:cs typeface="Consolas" panose="020B0609020204030204" pitchFamily="49" charset="0"/>
              </a:rPr>
              <a:t>    index = 0</a:t>
            </a:r>
          </a:p>
          <a:p>
            <a:r>
              <a:rPr lang="en-NL" sz="1100" dirty="0">
                <a:latin typeface="Consolas" panose="020B0609020204030204" pitchFamily="49" charset="0"/>
                <a:cs typeface="Consolas" panose="020B0609020204030204" pitchFamily="49" charset="0"/>
              </a:rPr>
              <a:t>    for each </a:t>
            </a:r>
            <a:r>
              <a:rPr lang="en-NL" sz="1100" b="1" dirty="0">
                <a:latin typeface="Consolas" panose="020B0609020204030204" pitchFamily="49" charset="0"/>
                <a:cs typeface="Consolas" panose="020B0609020204030204" pitchFamily="49" charset="0"/>
              </a:rPr>
              <a:t>bucket</a:t>
            </a:r>
            <a:r>
              <a:rPr lang="en-NL" sz="1100" dirty="0">
                <a:latin typeface="Consolas" panose="020B0609020204030204" pitchFamily="49" charset="0"/>
                <a:cs typeface="Consolas" panose="020B0609020204030204" pitchFamily="49" charset="0"/>
              </a:rPr>
              <a:t> in </a:t>
            </a:r>
            <a:r>
              <a:rPr lang="en-NL" sz="1100" b="1" dirty="0">
                <a:latin typeface="Consolas" panose="020B0609020204030204" pitchFamily="49" charset="0"/>
                <a:cs typeface="Consolas" panose="020B0609020204030204" pitchFamily="49" charset="0"/>
              </a:rPr>
              <a:t>buckets</a:t>
            </a:r>
            <a:r>
              <a:rPr lang="en-NL" sz="1100" dirty="0">
                <a:latin typeface="Consolas" panose="020B0609020204030204" pitchFamily="49" charset="0"/>
                <a:cs typeface="Consolas" panose="020B0609020204030204" pitchFamily="49" charset="0"/>
              </a:rPr>
              <a:t>:</a:t>
            </a:r>
          </a:p>
          <a:p>
            <a:r>
              <a:rPr lang="en-NL" sz="1100" dirty="0">
                <a:latin typeface="Consolas" panose="020B0609020204030204" pitchFamily="49" charset="0"/>
                <a:cs typeface="Consolas" panose="020B0609020204030204" pitchFamily="49" charset="0"/>
              </a:rPr>
              <a:t>        for each </a:t>
            </a:r>
            <a:r>
              <a:rPr lang="en-NL" sz="1100" b="1" dirty="0">
                <a:latin typeface="Consolas" panose="020B0609020204030204" pitchFamily="49" charset="0"/>
                <a:cs typeface="Consolas" panose="020B0609020204030204" pitchFamily="49" charset="0"/>
              </a:rPr>
              <a:t>element</a:t>
            </a:r>
            <a:r>
              <a:rPr lang="en-NL" sz="1100" dirty="0">
                <a:latin typeface="Consolas" panose="020B0609020204030204" pitchFamily="49" charset="0"/>
                <a:cs typeface="Consolas" panose="020B0609020204030204" pitchFamily="49" charset="0"/>
              </a:rPr>
              <a:t> in </a:t>
            </a:r>
            <a:r>
              <a:rPr lang="en-NL" sz="1100" b="1" dirty="0">
                <a:latin typeface="Consolas" panose="020B0609020204030204" pitchFamily="49" charset="0"/>
                <a:cs typeface="Consolas" panose="020B0609020204030204" pitchFamily="49" charset="0"/>
              </a:rPr>
              <a:t>bucket</a:t>
            </a:r>
            <a:r>
              <a:rPr lang="en-NL" sz="1100" dirty="0">
                <a:latin typeface="Consolas" panose="020B0609020204030204" pitchFamily="49" charset="0"/>
                <a:cs typeface="Consolas" panose="020B0609020204030204" pitchFamily="49" charset="0"/>
              </a:rPr>
              <a:t>:</a:t>
            </a:r>
          </a:p>
          <a:p>
            <a:r>
              <a:rPr lang="en-NL" sz="1100" dirty="0">
                <a:latin typeface="Consolas" panose="020B0609020204030204" pitchFamily="49" charset="0"/>
                <a:cs typeface="Consolas" panose="020B0609020204030204" pitchFamily="49" charset="0"/>
              </a:rPr>
              <a:t>            array[index++] = element</a:t>
            </a:r>
          </a:p>
        </p:txBody>
      </p:sp>
    </p:spTree>
    <p:extLst>
      <p:ext uri="{BB962C8B-B14F-4D97-AF65-F5344CB8AC3E}">
        <p14:creationId xmlns:p14="http://schemas.microsoft.com/office/powerpoint/2010/main" val="3011793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2296D-B968-2080-2596-A4178597405E}"/>
              </a:ext>
            </a:extLst>
          </p:cNvPr>
          <p:cNvSpPr>
            <a:spLocks noGrp="1"/>
          </p:cNvSpPr>
          <p:nvPr>
            <p:ph type="title"/>
          </p:nvPr>
        </p:nvSpPr>
        <p:spPr/>
        <p:txBody>
          <a:bodyPr/>
          <a:lstStyle/>
          <a:p>
            <a:r>
              <a:rPr lang="en-NL" dirty="0"/>
              <a:t>Counting Sort</a:t>
            </a:r>
          </a:p>
        </p:txBody>
      </p:sp>
      <p:pic>
        <p:nvPicPr>
          <p:cNvPr id="10242" name="Picture 2" descr="typescript-algorithms/README.md at master · Lugriz/typescript-algorithms ·  GitHub">
            <a:extLst>
              <a:ext uri="{FF2B5EF4-FFF2-40B4-BE49-F238E27FC236}">
                <a16:creationId xmlns:a16="http://schemas.microsoft.com/office/drawing/2014/main" id="{36AB1115-E39C-6A3E-4A2E-180665FDAC9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1690688"/>
            <a:ext cx="7423896" cy="4013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23111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06384-5809-5FAD-E520-BA80B9D1C683}"/>
              </a:ext>
            </a:extLst>
          </p:cNvPr>
          <p:cNvSpPr>
            <a:spLocks noGrp="1"/>
          </p:cNvSpPr>
          <p:nvPr>
            <p:ph type="title"/>
          </p:nvPr>
        </p:nvSpPr>
        <p:spPr/>
        <p:txBody>
          <a:bodyPr/>
          <a:lstStyle/>
          <a:p>
            <a:r>
              <a:rPr lang="en-NL" dirty="0"/>
              <a:t>Radix Sort</a:t>
            </a:r>
          </a:p>
        </p:txBody>
      </p:sp>
      <p:pic>
        <p:nvPicPr>
          <p:cNvPr id="2050" name="Picture 2">
            <a:extLst>
              <a:ext uri="{FF2B5EF4-FFF2-40B4-BE49-F238E27FC236}">
                <a16:creationId xmlns:a16="http://schemas.microsoft.com/office/drawing/2014/main" id="{2446F5BF-017B-30F8-5C01-79B15CE20A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4650" y="1690688"/>
            <a:ext cx="8902700" cy="4229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81563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2CDBE5-A3C6-81A3-95C2-A6F93E7C34EA}"/>
              </a:ext>
            </a:extLst>
          </p:cNvPr>
          <p:cNvSpPr>
            <a:spLocks noGrp="1"/>
          </p:cNvSpPr>
          <p:nvPr>
            <p:ph idx="1"/>
          </p:nvPr>
        </p:nvSpPr>
        <p:spPr>
          <a:xfrm>
            <a:off x="838200" y="981512"/>
            <a:ext cx="10515600" cy="5195451"/>
          </a:xfrm>
        </p:spPr>
        <p:txBody>
          <a:bodyPr/>
          <a:lstStyle/>
          <a:p>
            <a:pPr algn="l">
              <a:buFont typeface="Arial" panose="020B0604020202020204" pitchFamily="34" charset="0"/>
              <a:buChar char="•"/>
            </a:pPr>
            <a:r>
              <a:rPr lang="en-GB" b="1" i="1" dirty="0">
                <a:solidFill>
                  <a:srgbClr val="0D0D0D"/>
                </a:solidFill>
                <a:effectLst/>
                <a:latin typeface="KaTeX_Math"/>
              </a:rPr>
              <a:t>n</a:t>
            </a:r>
            <a:r>
              <a:rPr lang="en-GB" b="0" i="0" dirty="0">
                <a:solidFill>
                  <a:srgbClr val="0D0D0D"/>
                </a:solidFill>
                <a:effectLst/>
                <a:latin typeface="Söhne"/>
              </a:rPr>
              <a:t>: The number of elements in the array.</a:t>
            </a:r>
          </a:p>
          <a:p>
            <a:pPr algn="l">
              <a:buFont typeface="Arial" panose="020B0604020202020204" pitchFamily="34" charset="0"/>
              <a:buChar char="•"/>
            </a:pPr>
            <a:r>
              <a:rPr lang="en-GB" b="1" i="1" dirty="0">
                <a:solidFill>
                  <a:srgbClr val="0D0D0D"/>
                </a:solidFill>
                <a:effectLst/>
                <a:latin typeface="KaTeX_Math"/>
              </a:rPr>
              <a:t>b</a:t>
            </a:r>
            <a:r>
              <a:rPr lang="en-GB" b="0" i="0" dirty="0">
                <a:solidFill>
                  <a:srgbClr val="0D0D0D"/>
                </a:solidFill>
                <a:effectLst/>
                <a:latin typeface="Söhne"/>
              </a:rPr>
              <a:t>: The base of the numbering system. In the case of decimal numbers, </a:t>
            </a:r>
            <a:r>
              <a:rPr lang="en-GB" b="0" i="1" dirty="0">
                <a:solidFill>
                  <a:srgbClr val="0D0D0D"/>
                </a:solidFill>
                <a:effectLst/>
                <a:latin typeface="KaTeX_Math"/>
              </a:rPr>
              <a:t>b</a:t>
            </a:r>
            <a:r>
              <a:rPr lang="en-GB" b="0" i="0" dirty="0">
                <a:solidFill>
                  <a:srgbClr val="0D0D0D"/>
                </a:solidFill>
                <a:effectLst/>
                <a:latin typeface="KaTeX_Main"/>
              </a:rPr>
              <a:t>=10</a:t>
            </a:r>
            <a:r>
              <a:rPr lang="en-GB" b="0" i="0" dirty="0">
                <a:solidFill>
                  <a:srgbClr val="0D0D0D"/>
                </a:solidFill>
                <a:effectLst/>
                <a:latin typeface="Söhne"/>
              </a:rPr>
              <a:t>.</a:t>
            </a:r>
          </a:p>
          <a:p>
            <a:pPr algn="l">
              <a:buFont typeface="Arial" panose="020B0604020202020204" pitchFamily="34" charset="0"/>
              <a:buChar char="•"/>
            </a:pPr>
            <a:r>
              <a:rPr lang="en-GB" b="1" i="1" dirty="0">
                <a:solidFill>
                  <a:srgbClr val="0D0D0D"/>
                </a:solidFill>
                <a:effectLst/>
                <a:latin typeface="KaTeX_Math"/>
              </a:rPr>
              <a:t>d</a:t>
            </a:r>
            <a:r>
              <a:rPr lang="en-GB" b="0" i="0" dirty="0">
                <a:solidFill>
                  <a:srgbClr val="0D0D0D"/>
                </a:solidFill>
                <a:effectLst/>
                <a:latin typeface="Söhne"/>
              </a:rPr>
              <a:t>: The number of digits in the maximum number in the array, which determines how many passes Radix Sort makes over the data.</a:t>
            </a:r>
          </a:p>
          <a:p>
            <a:endParaRPr lang="en-NL" dirty="0"/>
          </a:p>
          <a:p>
            <a:pPr marL="0" indent="0">
              <a:buNone/>
            </a:pPr>
            <a:r>
              <a:rPr lang="en-GB" b="1" i="1" dirty="0">
                <a:solidFill>
                  <a:srgbClr val="0D0D0D"/>
                </a:solidFill>
                <a:effectLst/>
                <a:latin typeface="KaTeX_Math"/>
              </a:rPr>
              <a:t>Complexity: O</a:t>
            </a:r>
            <a:r>
              <a:rPr lang="en-GB" b="1" i="0" dirty="0">
                <a:solidFill>
                  <a:srgbClr val="0D0D0D"/>
                </a:solidFill>
                <a:effectLst/>
                <a:latin typeface="KaTeX_Main"/>
              </a:rPr>
              <a:t>(</a:t>
            </a:r>
            <a:r>
              <a:rPr lang="en-GB" b="1" i="1" dirty="0">
                <a:solidFill>
                  <a:srgbClr val="0D0D0D"/>
                </a:solidFill>
                <a:effectLst/>
                <a:latin typeface="KaTeX_Math"/>
              </a:rPr>
              <a:t>d</a:t>
            </a:r>
            <a:r>
              <a:rPr lang="en-GB" b="1" i="0" dirty="0">
                <a:solidFill>
                  <a:srgbClr val="0D0D0D"/>
                </a:solidFill>
                <a:effectLst/>
                <a:latin typeface="KaTeX_Main"/>
              </a:rPr>
              <a:t>(</a:t>
            </a:r>
            <a:r>
              <a:rPr lang="en-GB" b="1" i="1" dirty="0" err="1">
                <a:solidFill>
                  <a:srgbClr val="0D0D0D"/>
                </a:solidFill>
                <a:effectLst/>
                <a:latin typeface="KaTeX_Math"/>
              </a:rPr>
              <a:t>n</a:t>
            </a:r>
            <a:r>
              <a:rPr lang="en-GB" b="1" i="0" dirty="0" err="1">
                <a:solidFill>
                  <a:srgbClr val="0D0D0D"/>
                </a:solidFill>
                <a:effectLst/>
                <a:latin typeface="KaTeX_Main"/>
              </a:rPr>
              <a:t>+</a:t>
            </a:r>
            <a:r>
              <a:rPr lang="en-GB" b="1" i="1" dirty="0" err="1">
                <a:solidFill>
                  <a:srgbClr val="0D0D0D"/>
                </a:solidFill>
                <a:effectLst/>
                <a:latin typeface="KaTeX_Math"/>
              </a:rPr>
              <a:t>b</a:t>
            </a:r>
            <a:r>
              <a:rPr lang="en-GB" b="1" i="0" dirty="0">
                <a:solidFill>
                  <a:srgbClr val="0D0D0D"/>
                </a:solidFill>
                <a:effectLst/>
                <a:latin typeface="KaTeX_Main"/>
              </a:rPr>
              <a:t>))</a:t>
            </a:r>
            <a:endParaRPr lang="en-GB" b="1" i="0" dirty="0">
              <a:solidFill>
                <a:srgbClr val="0D0D0D"/>
              </a:solidFill>
              <a:effectLst/>
              <a:latin typeface="Söhne"/>
            </a:endParaRPr>
          </a:p>
        </p:txBody>
      </p:sp>
    </p:spTree>
    <p:extLst>
      <p:ext uri="{BB962C8B-B14F-4D97-AF65-F5344CB8AC3E}">
        <p14:creationId xmlns:p14="http://schemas.microsoft.com/office/powerpoint/2010/main" val="3491085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863</TotalTime>
  <Words>2302</Words>
  <Application>Microsoft Macintosh PowerPoint</Application>
  <PresentationFormat>Widescreen</PresentationFormat>
  <Paragraphs>203</Paragraphs>
  <Slides>39</Slides>
  <Notes>14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39</vt:i4>
      </vt:variant>
    </vt:vector>
  </HeadingPairs>
  <TitlesOfParts>
    <vt:vector size="51" baseType="lpstr">
      <vt:lpstr>Aptos</vt:lpstr>
      <vt:lpstr>Arial</vt:lpstr>
      <vt:lpstr>Calibri</vt:lpstr>
      <vt:lpstr>Calibri Light</vt:lpstr>
      <vt:lpstr>Consolas</vt:lpstr>
      <vt:lpstr>inherit</vt:lpstr>
      <vt:lpstr>KaTeX_Main</vt:lpstr>
      <vt:lpstr>KaTeX_Math</vt:lpstr>
      <vt:lpstr>Söhne</vt:lpstr>
      <vt:lpstr>times new roman</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Exploitable Properties</vt:lpstr>
      <vt:lpstr>PowerPoint Presentation</vt:lpstr>
      <vt:lpstr>PowerPoint Presentation</vt:lpstr>
      <vt:lpstr>PowerPoint Presentation</vt:lpstr>
      <vt:lpstr>PowerPoint Presentation</vt:lpstr>
      <vt:lpstr>Quick Sort</vt:lpstr>
      <vt:lpstr>PowerPoint Presentation</vt:lpstr>
      <vt:lpstr>Quick Sort - Pivot</vt:lpstr>
      <vt:lpstr>Quick Sort Complexity (best case)</vt:lpstr>
      <vt:lpstr>QuickSort Complexity (worst case)</vt:lpstr>
      <vt:lpstr>QuickSort Complexity (‘example’ case)</vt:lpstr>
      <vt:lpstr>Merge Sort</vt:lpstr>
      <vt:lpstr>Merge Sort - Merging</vt:lpstr>
      <vt:lpstr>Merge Sort - Merging</vt:lpstr>
      <vt:lpstr>PowerPoint Presentation</vt:lpstr>
      <vt:lpstr>Merge Sort Complexity</vt:lpstr>
      <vt:lpstr>PowerPoint Presentation</vt:lpstr>
      <vt:lpstr>Heap</vt:lpstr>
      <vt:lpstr>PowerPoint Presentation</vt:lpstr>
      <vt:lpstr>PowerPoint Presentation</vt:lpstr>
      <vt:lpstr>Heap Insertion</vt:lpstr>
      <vt:lpstr>Heap Deletion</vt:lpstr>
      <vt:lpstr>Lower Bound</vt:lpstr>
      <vt:lpstr>PowerPoint Presentation</vt:lpstr>
      <vt:lpstr>Lower Bound</vt:lpstr>
      <vt:lpstr>Bucket Sort</vt:lpstr>
      <vt:lpstr>Counting Sort</vt:lpstr>
      <vt:lpstr>Radix Sort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 Sort Complexity (best case)</dc:title>
  <dc:creator>Pepels, Tom (DACS)</dc:creator>
  <cp:lastModifiedBy>Pepels, Tom (DACS)</cp:lastModifiedBy>
  <cp:revision>83</cp:revision>
  <dcterms:created xsi:type="dcterms:W3CDTF">2023-03-07T09:24:38Z</dcterms:created>
  <dcterms:modified xsi:type="dcterms:W3CDTF">2024-03-05T16:58:28Z</dcterms:modified>
</cp:coreProperties>
</file>