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88" r:id="rId2"/>
    <p:sldId id="256" r:id="rId3"/>
    <p:sldId id="280" r:id="rId4"/>
    <p:sldId id="281" r:id="rId5"/>
    <p:sldId id="282" r:id="rId6"/>
    <p:sldId id="257" r:id="rId7"/>
    <p:sldId id="258" r:id="rId8"/>
    <p:sldId id="259" r:id="rId9"/>
    <p:sldId id="260" r:id="rId10"/>
    <p:sldId id="261" r:id="rId11"/>
    <p:sldId id="273" r:id="rId12"/>
    <p:sldId id="275" r:id="rId13"/>
    <p:sldId id="274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76" r:id="rId22"/>
    <p:sldId id="277" r:id="rId23"/>
    <p:sldId id="269" r:id="rId24"/>
    <p:sldId id="270" r:id="rId25"/>
    <p:sldId id="271" r:id="rId26"/>
    <p:sldId id="279" r:id="rId27"/>
    <p:sldId id="283" r:id="rId28"/>
    <p:sldId id="284" r:id="rId29"/>
    <p:sldId id="286" r:id="rId30"/>
    <p:sldId id="285" r:id="rId31"/>
    <p:sldId id="287" r:id="rId32"/>
  </p:sldIdLst>
  <p:sldSz cx="12192000" cy="6858000"/>
  <p:notesSz cx="6858000" cy="9144000"/>
  <p:defaultTextStyle>
    <a:defPPr>
      <a:defRPr lang="en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–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66"/>
    <p:restoredTop sz="94582"/>
  </p:normalViewPr>
  <p:slideViewPr>
    <p:cSldViewPr snapToGrid="0">
      <p:cViewPr varScale="1">
        <p:scale>
          <a:sx n="115" d="100"/>
          <a:sy n="115" d="100"/>
        </p:scale>
        <p:origin x="280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1C79D5-ECF3-9249-68BD-916244AA32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A1C25B-3587-B78A-85C0-21B815652C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14C7DA-2441-31D7-2A5C-86F081AE48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D13301-0C87-BF41-AD40-0D46083915B6}" type="datetimeFigureOut">
              <a:rPr lang="en-NL" smtClean="0"/>
              <a:t>26/03/2024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F19404-D92F-5B25-B0CD-B220F5F9E7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E4574D-D593-DE61-D738-8FC3F04453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E5E6CD-20C3-214C-9FAD-546B4BAC24A6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578721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05E201-AD0A-6CAD-0FF1-15375CF789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455A83-E1E2-3678-1011-E639D58881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29E044-F9F8-EAC3-F1C1-75D7CA1EB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D13301-0C87-BF41-AD40-0D46083915B6}" type="datetimeFigureOut">
              <a:rPr lang="en-NL" smtClean="0"/>
              <a:t>26/03/2024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94EF85-381C-596B-3F94-2EA601DFA6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D32EA8-1B73-FF18-843D-0F6BCAE5F1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E5E6CD-20C3-214C-9FAD-546B4BAC24A6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906585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40C5E6-D883-3D18-14B9-A924A325FA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4EC295-0544-3032-80F3-F51FBA61B8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919BA9-47F1-F87F-7748-AFCC56ACC2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D13301-0C87-BF41-AD40-0D46083915B6}" type="datetimeFigureOut">
              <a:rPr lang="en-NL" smtClean="0"/>
              <a:t>26/03/2024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1C3977-9BA9-28B6-1F9C-088299B836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25D77B-F96D-5357-C9BD-20CC54C58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E5E6CD-20C3-214C-9FAD-546B4BAC24A6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6737477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C2DBAF-251F-34A9-2E19-1D64701152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18E967-22CD-DEC0-7097-A2FBD60482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37A3EA-BC1B-6928-D461-3D376116CD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46EFE5-6D33-2069-98F7-BF8A02D5A9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D13301-0C87-BF41-AD40-0D46083915B6}" type="datetimeFigureOut">
              <a:rPr lang="en-NL" smtClean="0"/>
              <a:t>26/03/2024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568D20-068A-DF18-129A-32B4372E7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2DD9EB-54E1-895D-0703-35A450C66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E5E6CD-20C3-214C-9FAD-546B4BAC24A6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656569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C24567-9F4D-38D3-4E80-4C6D8E363C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6E2C02-292D-4D89-51CE-50E20ABA69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C26B73-4A07-1877-EA4F-9817A0E436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D712D9-7FF2-DC55-F878-8FD705F2E3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11D5EC9-81EF-AA7F-870C-7B3E0C99088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C76A75-03A6-8D43-9B85-8A25F5A2AB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D13301-0C87-BF41-AD40-0D46083915B6}" type="datetimeFigureOut">
              <a:rPr lang="en-NL" smtClean="0"/>
              <a:t>26/03/2024</a:t>
            </a:fld>
            <a:endParaRPr lang="en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7CDAB48-632E-247A-1546-19DDC8535C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31D721C-4AC3-501F-19EF-192C8D558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E5E6CD-20C3-214C-9FAD-546B4BAC24A6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6923470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4E0C9E-DFB3-B6E4-9266-25B97ED01A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5BB162-0839-EE8A-DCCA-95EE681FCF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D13301-0C87-BF41-AD40-0D46083915B6}" type="datetimeFigureOut">
              <a:rPr lang="en-NL" smtClean="0"/>
              <a:t>26/03/2024</a:t>
            </a:fld>
            <a:endParaRPr lang="en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2ACEB6-86AD-5550-4D18-922580CAD7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C41349-2BCB-1E77-0215-55DA1E5FC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E5E6CD-20C3-214C-9FAD-546B4BAC24A6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5470571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E812B03-66A5-0423-31E5-5E46DA8C6B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D13301-0C87-BF41-AD40-0D46083915B6}" type="datetimeFigureOut">
              <a:rPr lang="en-NL" smtClean="0"/>
              <a:t>26/03/2024</a:t>
            </a:fld>
            <a:endParaRPr lang="en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24AC31C-19B1-8F52-8EE3-C38CFCB20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491EE5-22E0-BAF3-C58F-70101A3FE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E5E6CD-20C3-214C-9FAD-546B4BAC24A6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5909008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C9E93-25DF-57C9-FEA0-F2ACC37E7E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107931-D1B9-BA01-3EDC-73A2FD93ED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660B54-5207-F5A8-4376-572F55DE85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B292C8-18BB-E09F-2EEB-C07DD41881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D13301-0C87-BF41-AD40-0D46083915B6}" type="datetimeFigureOut">
              <a:rPr lang="en-NL" smtClean="0"/>
              <a:t>26/03/2024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DA2894-6716-E0DE-D644-80D635A5C2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E1910A-1A4D-7362-916B-EF4CC52F93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E5E6CD-20C3-214C-9FAD-546B4BAC24A6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7275376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6A23E3-143C-57E9-C0D8-95CE152742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44220F6-ADED-94E8-E4F5-B8287360F30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800AB6-9058-57B5-A6D3-1F7BCE0EF0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8AEB68-58BE-B373-48B3-82E17C43B0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D13301-0C87-BF41-AD40-0D46083915B6}" type="datetimeFigureOut">
              <a:rPr lang="en-NL" smtClean="0"/>
              <a:t>26/03/2024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C1AD1C-83AF-5CBE-6FEF-31C12D0982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EDB604-137F-ECD8-D37D-8F16F00F85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E5E6CD-20C3-214C-9FAD-546B4BAC24A6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1332971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D7B0C6-7702-8482-EC13-D01CEA3012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88D6C7-9C10-78AE-3B4D-684B0FBE88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F93CC0-BEF5-1817-5BF9-7A62F0FC6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D13301-0C87-BF41-AD40-0D46083915B6}" type="datetimeFigureOut">
              <a:rPr lang="en-NL" smtClean="0"/>
              <a:t>26/03/2024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83CFEC-7649-B93F-B96F-A1F0BA1D8A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3942A9-1258-D731-28B9-8B4A253410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E5E6CD-20C3-214C-9FAD-546B4BAC24A6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6512698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6761799-3CAC-2124-6E28-6D9B694E133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0EB153-B097-D273-A7DC-5D16CAD83F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9D61F8-ACA1-BB06-2657-783407043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D13301-0C87-BF41-AD40-0D46083915B6}" type="datetimeFigureOut">
              <a:rPr lang="en-NL" smtClean="0"/>
              <a:t>26/03/2024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7A79BD-0D3A-89BE-D017-64D2555C61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93D9B4-0A39-517F-38EC-D2FD9F108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E5E6CD-20C3-214C-9FAD-546B4BAC24A6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0790569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354940F-67B2-20E7-94BC-8EAA103551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C11E6F-5863-8250-706A-94D211ED0F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7E87C7-F64C-CD3F-9E6E-0174BBCEBA7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D13301-0C87-BF41-AD40-0D46083915B6}" type="datetimeFigureOut">
              <a:rPr lang="en-NL" smtClean="0"/>
              <a:t>26/03/2024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3801C8-7277-3404-63A7-06CB445CA3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798258-24C0-4273-5A69-270C36BBAC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CE5E6CD-20C3-214C-9FAD-546B4BAC24A6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1242408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wmf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tiff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A4D3FD-E11B-BE95-4FD8-5D59F01471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94360"/>
            <a:ext cx="10515600" cy="5582603"/>
          </a:xfrm>
        </p:spPr>
        <p:txBody>
          <a:bodyPr/>
          <a:lstStyle/>
          <a:p>
            <a:pPr marL="0" indent="0">
              <a:buNone/>
            </a:pPr>
            <a:r>
              <a:rPr lang="en-GB" i="1" dirty="0">
                <a:solidFill>
                  <a:srgbClr val="0D0D0D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GB" b="0" i="1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oung branches sprung</a:t>
            </a:r>
          </a:p>
          <a:p>
            <a:pPr marL="0" indent="0">
              <a:buNone/>
            </a:pPr>
            <a:r>
              <a:rPr lang="en-GB" i="1" dirty="0">
                <a:solidFill>
                  <a:srgbClr val="0D0D0D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GB" b="0" i="1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ines of script bloom</a:t>
            </a:r>
          </a:p>
          <a:p>
            <a:pPr marL="0" indent="0">
              <a:buNone/>
            </a:pPr>
            <a:r>
              <a:rPr lang="en-GB" i="1" dirty="0">
                <a:solidFill>
                  <a:srgbClr val="0D0D0D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Slow</a:t>
            </a:r>
            <a:r>
              <a:rPr lang="en-GB" b="0" i="1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algorithms hum</a:t>
            </a:r>
          </a:p>
        </p:txBody>
      </p:sp>
    </p:spTree>
    <p:extLst>
      <p:ext uri="{BB962C8B-B14F-4D97-AF65-F5344CB8AC3E}">
        <p14:creationId xmlns:p14="http://schemas.microsoft.com/office/powerpoint/2010/main" val="13337044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7A72E56-D107-2B0C-412F-891160CE15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L" dirty="0"/>
              <a:t>Algorithmic Methods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DB66A49-5C19-7025-9E54-7A240D1BCE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NL" dirty="0"/>
              <a:t>Dynamic Programming</a:t>
            </a:r>
          </a:p>
          <a:p>
            <a:r>
              <a:rPr lang="en-NL" dirty="0"/>
              <a:t>The Greedy Method</a:t>
            </a:r>
          </a:p>
          <a:p>
            <a:r>
              <a:rPr lang="en-NL" dirty="0"/>
              <a:t>Divide and Conquer</a:t>
            </a:r>
          </a:p>
        </p:txBody>
      </p:sp>
    </p:spTree>
    <p:extLst>
      <p:ext uri="{BB962C8B-B14F-4D97-AF65-F5344CB8AC3E}">
        <p14:creationId xmlns:p14="http://schemas.microsoft.com/office/powerpoint/2010/main" val="19253543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79CF1F-6DCF-D8F3-9A42-1177AECC3B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L" dirty="0"/>
              <a:t>What is a subproblem?</a:t>
            </a:r>
          </a:p>
        </p:txBody>
      </p:sp>
      <p:pic>
        <p:nvPicPr>
          <p:cNvPr id="10242" name="Picture 2">
            <a:extLst>
              <a:ext uri="{FF2B5EF4-FFF2-40B4-BE49-F238E27FC236}">
                <a16:creationId xmlns:a16="http://schemas.microsoft.com/office/drawing/2014/main" id="{C58B5D5F-C297-559E-1E1D-15F06A5DAE8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2364" y="2103120"/>
            <a:ext cx="7727271" cy="33891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A diagram of a pyramid&#10;&#10;Description automatically generated">
            <a:extLst>
              <a:ext uri="{FF2B5EF4-FFF2-40B4-BE49-F238E27FC236}">
                <a16:creationId xmlns:a16="http://schemas.microsoft.com/office/drawing/2014/main" id="{E796D6E1-58D8-815F-9FB2-6F2F43D109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6343" y="1690688"/>
            <a:ext cx="7723292" cy="4344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90928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CA91545-8CB4-B0F0-B2AC-59C749DDCD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85991"/>
            <a:ext cx="7772400" cy="6486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67285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27911F-A08F-AA0F-E791-DD158F6E81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5740" y="537210"/>
            <a:ext cx="11692890" cy="5639753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GB" b="1" dirty="0">
                <a:latin typeface="Consolas" panose="020B0609020204030204" pitchFamily="49" charset="0"/>
                <a:cs typeface="Consolas" panose="020B0609020204030204" pitchFamily="49" charset="0"/>
              </a:rPr>
              <a:t>function</a:t>
            </a:r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dirty="0" err="1">
                <a:latin typeface="Consolas" panose="020B0609020204030204" pitchFamily="49" charset="0"/>
                <a:cs typeface="Consolas" panose="020B0609020204030204" pitchFamily="49" charset="0"/>
              </a:rPr>
              <a:t>moveDisks</a:t>
            </a:r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(n, </a:t>
            </a:r>
            <a:r>
              <a:rPr lang="en-GB" b="1" dirty="0">
                <a:latin typeface="Consolas" panose="020B0609020204030204" pitchFamily="49" charset="0"/>
                <a:cs typeface="Consolas" panose="020B0609020204030204" pitchFamily="49" charset="0"/>
              </a:rPr>
              <a:t>SRC</a:t>
            </a:r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GB" b="1" dirty="0">
                <a:latin typeface="Consolas" panose="020B0609020204030204" pitchFamily="49" charset="0"/>
                <a:cs typeface="Consolas" panose="020B0609020204030204" pitchFamily="49" charset="0"/>
              </a:rPr>
              <a:t>DEST</a:t>
            </a:r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GB" b="1" dirty="0">
                <a:latin typeface="Consolas" panose="020B0609020204030204" pitchFamily="49" charset="0"/>
                <a:cs typeface="Consolas" panose="020B0609020204030204" pitchFamily="49" charset="0"/>
              </a:rPr>
              <a:t>SPARE</a:t>
            </a:r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):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	if </a:t>
            </a:r>
            <a:r>
              <a:rPr lang="en-GB" b="1" dirty="0">
                <a:latin typeface="Consolas" panose="020B0609020204030204" pitchFamily="49" charset="0"/>
                <a:cs typeface="Consolas" panose="020B0609020204030204" pitchFamily="49" charset="0"/>
              </a:rPr>
              <a:t>n</a:t>
            </a:r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 == 1: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		print("Move disk from", </a:t>
            </a:r>
            <a:r>
              <a:rPr lang="en-GB" b="1" dirty="0">
                <a:latin typeface="Consolas" panose="020B0609020204030204" pitchFamily="49" charset="0"/>
                <a:cs typeface="Consolas" panose="020B0609020204030204" pitchFamily="49" charset="0"/>
              </a:rPr>
              <a:t>SRC</a:t>
            </a:r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, "to", </a:t>
            </a:r>
            <a:r>
              <a:rPr lang="en-GB" b="1" dirty="0">
                <a:latin typeface="Consolas" panose="020B0609020204030204" pitchFamily="49" charset="0"/>
                <a:cs typeface="Consolas" panose="020B0609020204030204" pitchFamily="49" charset="0"/>
              </a:rPr>
              <a:t>DEST</a:t>
            </a:r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	else: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		</a:t>
            </a:r>
            <a:r>
              <a:rPr lang="en-GB" b="1" dirty="0" err="1">
                <a:latin typeface="Consolas" panose="020B0609020204030204" pitchFamily="49" charset="0"/>
                <a:cs typeface="Consolas" panose="020B0609020204030204" pitchFamily="49" charset="0"/>
              </a:rPr>
              <a:t>moveDisks</a:t>
            </a:r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(n-1, </a:t>
            </a:r>
            <a:r>
              <a:rPr lang="en-GB" b="1" dirty="0">
                <a:latin typeface="Consolas" panose="020B0609020204030204" pitchFamily="49" charset="0"/>
                <a:cs typeface="Consolas" panose="020B0609020204030204" pitchFamily="49" charset="0"/>
              </a:rPr>
              <a:t>SRC</a:t>
            </a:r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GB" b="1" dirty="0">
                <a:latin typeface="Consolas" panose="020B0609020204030204" pitchFamily="49" charset="0"/>
                <a:cs typeface="Consolas" panose="020B0609020204030204" pitchFamily="49" charset="0"/>
              </a:rPr>
              <a:t>SPARE</a:t>
            </a:r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GB" b="1" dirty="0">
                <a:latin typeface="Consolas" panose="020B0609020204030204" pitchFamily="49" charset="0"/>
                <a:cs typeface="Consolas" panose="020B0609020204030204" pitchFamily="49" charset="0"/>
              </a:rPr>
              <a:t>DEST</a:t>
            </a:r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		print("Move disk from", </a:t>
            </a:r>
            <a:r>
              <a:rPr lang="en-GB" b="1" dirty="0">
                <a:latin typeface="Consolas" panose="020B0609020204030204" pitchFamily="49" charset="0"/>
                <a:cs typeface="Consolas" panose="020B0609020204030204" pitchFamily="49" charset="0"/>
              </a:rPr>
              <a:t>SRC</a:t>
            </a:r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, "to", </a:t>
            </a:r>
            <a:r>
              <a:rPr lang="en-GB" b="1" dirty="0">
                <a:latin typeface="Consolas" panose="020B0609020204030204" pitchFamily="49" charset="0"/>
                <a:cs typeface="Consolas" panose="020B0609020204030204" pitchFamily="49" charset="0"/>
              </a:rPr>
              <a:t>DEST</a:t>
            </a:r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		</a:t>
            </a:r>
            <a:r>
              <a:rPr lang="en-GB" b="1" dirty="0" err="1">
                <a:latin typeface="Consolas" panose="020B0609020204030204" pitchFamily="49" charset="0"/>
                <a:cs typeface="Consolas" panose="020B0609020204030204" pitchFamily="49" charset="0"/>
              </a:rPr>
              <a:t>moveDisks</a:t>
            </a:r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(n-1, </a:t>
            </a:r>
            <a:r>
              <a:rPr lang="en-GB" b="1" dirty="0">
                <a:latin typeface="Consolas" panose="020B0609020204030204" pitchFamily="49" charset="0"/>
                <a:cs typeface="Consolas" panose="020B0609020204030204" pitchFamily="49" charset="0"/>
              </a:rPr>
              <a:t>SPARE</a:t>
            </a:r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GB" b="1" dirty="0">
                <a:latin typeface="Consolas" panose="020B0609020204030204" pitchFamily="49" charset="0"/>
                <a:cs typeface="Consolas" panose="020B0609020204030204" pitchFamily="49" charset="0"/>
              </a:rPr>
              <a:t>DEST</a:t>
            </a:r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GB" b="1" dirty="0">
                <a:latin typeface="Consolas" panose="020B0609020204030204" pitchFamily="49" charset="0"/>
                <a:cs typeface="Consolas" panose="020B0609020204030204" pitchFamily="49" charset="0"/>
              </a:rPr>
              <a:t>SRC</a:t>
            </a:r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 marL="0" indent="0">
              <a:lnSpc>
                <a:spcPct val="150000"/>
              </a:lnSpc>
              <a:buNone/>
            </a:pPr>
            <a:endParaRPr lang="en-NL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96594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E9ACE2-C3C6-8120-6858-371C723801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Dynamic Programming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50A600-4E20-FF1A-B8A2-BA75DC0E60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GB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Overlapping Subproblems: </a:t>
            </a:r>
            <a:r>
              <a:rPr lang="en-GB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The same </a:t>
            </a:r>
            <a:r>
              <a:rPr lang="en-GB" b="1" i="1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subproblems</a:t>
            </a:r>
            <a:r>
              <a:rPr lang="en-GB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are solved multiple times.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Optimal Substructure: </a:t>
            </a:r>
            <a:r>
              <a:rPr lang="en-GB" dirty="0">
                <a:solidFill>
                  <a:srgbClr val="0D0D0D"/>
                </a:solidFill>
                <a:highlight>
                  <a:srgbClr val="FFFFFF"/>
                </a:highlight>
                <a:latin typeface="Söhne"/>
              </a:rPr>
              <a:t>I</a:t>
            </a:r>
            <a:r>
              <a:rPr lang="en-GB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f an optimal solution can be constructed efficiently from optimal solutions of its subproblems.</a:t>
            </a:r>
            <a:endParaRPr lang="en-GB" dirty="0">
              <a:solidFill>
                <a:srgbClr val="0D0D0D"/>
              </a:solidFill>
              <a:highlight>
                <a:srgbClr val="FFFFFF"/>
              </a:highlight>
              <a:latin typeface="Söhne"/>
            </a:endParaRPr>
          </a:p>
          <a:p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41070151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4FFC49-582F-F28D-3853-9616345E2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Dynamic Programming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D80040-E16C-DF56-92A0-ED3DDAD9D0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Approaches:</a:t>
            </a:r>
          </a:p>
          <a:p>
            <a:r>
              <a:rPr lang="en-GB" b="1" dirty="0"/>
              <a:t>Top-Down (</a:t>
            </a:r>
            <a:r>
              <a:rPr lang="en-GB" b="1" dirty="0" err="1"/>
              <a:t>Memoization</a:t>
            </a:r>
            <a:r>
              <a:rPr lang="en-GB" b="1" dirty="0"/>
              <a:t>): </a:t>
            </a:r>
            <a:r>
              <a:rPr lang="en-GB" dirty="0"/>
              <a:t>Solve the problem by breaking it down into subproblems, </a:t>
            </a:r>
            <a:r>
              <a:rPr lang="en-GB" b="1" i="1" dirty="0"/>
              <a:t>solving each only once </a:t>
            </a:r>
            <a:r>
              <a:rPr lang="en-GB" dirty="0"/>
              <a:t>and storing their solutions.</a:t>
            </a:r>
          </a:p>
          <a:p>
            <a:r>
              <a:rPr lang="en-GB" b="1" dirty="0"/>
              <a:t>Bottom-Up (Tabulation): </a:t>
            </a:r>
            <a:r>
              <a:rPr lang="en-GB" dirty="0"/>
              <a:t>Start solving from the </a:t>
            </a:r>
            <a:r>
              <a:rPr lang="en-GB" b="1" dirty="0"/>
              <a:t>simplest</a:t>
            </a:r>
            <a:r>
              <a:rPr lang="en-GB" dirty="0"/>
              <a:t> </a:t>
            </a:r>
            <a:r>
              <a:rPr lang="en-GB" b="1" dirty="0"/>
              <a:t>subproblem</a:t>
            </a:r>
            <a:r>
              <a:rPr lang="en-GB" dirty="0"/>
              <a:t>, gradually combining solutions to build solutions to more complex problems.</a:t>
            </a:r>
          </a:p>
          <a:p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35155145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7E594-EA00-6537-A70D-97CCEC15CB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00735"/>
          </a:xfrm>
        </p:spPr>
        <p:txBody>
          <a:bodyPr/>
          <a:lstStyle/>
          <a:p>
            <a:r>
              <a:rPr lang="en-NL" dirty="0"/>
              <a:t>Fibonacci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0B0545C-9B03-5ED7-FF13-B9C8F314565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199" y="1462722"/>
            <a:ext cx="5736199" cy="1680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461873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7E594-EA00-6537-A70D-97CCEC15CB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00735"/>
          </a:xfrm>
        </p:spPr>
        <p:txBody>
          <a:bodyPr/>
          <a:lstStyle/>
          <a:p>
            <a:r>
              <a:rPr lang="en-NL" dirty="0"/>
              <a:t>Fibonacci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0B0545C-9B03-5ED7-FF13-B9C8F314565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199" y="1462722"/>
            <a:ext cx="5736199" cy="1680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DF5DFFA4-ABE6-5FEA-EFB6-87E90F3591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250" y="1165860"/>
            <a:ext cx="11747500" cy="5130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347009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8CFF88-6A97-ADC3-C91C-A260A21B12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8600"/>
            <a:ext cx="10515600" cy="1325563"/>
          </a:xfrm>
        </p:spPr>
        <p:txBody>
          <a:bodyPr/>
          <a:lstStyle/>
          <a:p>
            <a:r>
              <a:rPr lang="en-NL" dirty="0"/>
              <a:t>Gold Mine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A8BFC2C-BB68-79A7-6E7E-F301E032CD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5646171"/>
              </p:ext>
            </p:extLst>
          </p:nvPr>
        </p:nvGraphicFramePr>
        <p:xfrm>
          <a:off x="2377439" y="1485900"/>
          <a:ext cx="7703185" cy="5143500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1540637">
                  <a:extLst>
                    <a:ext uri="{9D8B030D-6E8A-4147-A177-3AD203B41FA5}">
                      <a16:colId xmlns:a16="http://schemas.microsoft.com/office/drawing/2014/main" val="2782068644"/>
                    </a:ext>
                  </a:extLst>
                </a:gridCol>
                <a:gridCol w="1540637">
                  <a:extLst>
                    <a:ext uri="{9D8B030D-6E8A-4147-A177-3AD203B41FA5}">
                      <a16:colId xmlns:a16="http://schemas.microsoft.com/office/drawing/2014/main" val="2672688555"/>
                    </a:ext>
                  </a:extLst>
                </a:gridCol>
                <a:gridCol w="1540637">
                  <a:extLst>
                    <a:ext uri="{9D8B030D-6E8A-4147-A177-3AD203B41FA5}">
                      <a16:colId xmlns:a16="http://schemas.microsoft.com/office/drawing/2014/main" val="2540020611"/>
                    </a:ext>
                  </a:extLst>
                </a:gridCol>
                <a:gridCol w="1540637">
                  <a:extLst>
                    <a:ext uri="{9D8B030D-6E8A-4147-A177-3AD203B41FA5}">
                      <a16:colId xmlns:a16="http://schemas.microsoft.com/office/drawing/2014/main" val="1175802313"/>
                    </a:ext>
                  </a:extLst>
                </a:gridCol>
                <a:gridCol w="1540637">
                  <a:extLst>
                    <a:ext uri="{9D8B030D-6E8A-4147-A177-3AD203B41FA5}">
                      <a16:colId xmlns:a16="http://schemas.microsoft.com/office/drawing/2014/main" val="3907797576"/>
                    </a:ext>
                  </a:extLst>
                </a:gridCol>
              </a:tblGrid>
              <a:tr h="1028700">
                <a:tc>
                  <a:txBody>
                    <a:bodyPr/>
                    <a:lstStyle/>
                    <a:p>
                      <a:pPr algn="ctr"/>
                      <a:r>
                        <a:rPr lang="en-NL" sz="32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NL" sz="3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NL" sz="3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L" sz="3200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NL" sz="32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343633"/>
                  </a:ext>
                </a:extLst>
              </a:tr>
              <a:tr h="1028700">
                <a:tc>
                  <a:txBody>
                    <a:bodyPr/>
                    <a:lstStyle/>
                    <a:p>
                      <a:pPr algn="ctr"/>
                      <a:endParaRPr lang="en-NL" sz="3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L" sz="3200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L" sz="320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NL" sz="3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NL" sz="32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46803605"/>
                  </a:ext>
                </a:extLst>
              </a:tr>
              <a:tr h="1028700">
                <a:tc>
                  <a:txBody>
                    <a:bodyPr/>
                    <a:lstStyle/>
                    <a:p>
                      <a:pPr algn="ctr"/>
                      <a:r>
                        <a:rPr lang="en-NL" sz="320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NL" sz="3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L" sz="32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L" sz="3200" dirty="0"/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NL" sz="32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41028335"/>
                  </a:ext>
                </a:extLst>
              </a:tr>
              <a:tr h="1028700">
                <a:tc>
                  <a:txBody>
                    <a:bodyPr/>
                    <a:lstStyle/>
                    <a:p>
                      <a:pPr algn="ctr"/>
                      <a:endParaRPr lang="en-NL" sz="3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L" sz="3200" dirty="0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NL" sz="3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L" sz="32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L" sz="3200" dirty="0"/>
                        <a:t>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82630977"/>
                  </a:ext>
                </a:extLst>
              </a:tr>
              <a:tr h="1028700">
                <a:tc>
                  <a:txBody>
                    <a:bodyPr/>
                    <a:lstStyle/>
                    <a:p>
                      <a:pPr algn="ctr"/>
                      <a:r>
                        <a:rPr lang="en-NL" sz="32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L" sz="3200" dirty="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NL" sz="3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L" sz="3200" dirty="0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NL" sz="3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71471640"/>
                  </a:ext>
                </a:extLst>
              </a:tr>
            </a:tbl>
          </a:graphicData>
        </a:graphic>
      </p:graphicFrame>
      <p:pic>
        <p:nvPicPr>
          <p:cNvPr id="3074" name="Picture 2" descr="gold-miner - Alaska Public Media">
            <a:extLst>
              <a:ext uri="{FF2B5EF4-FFF2-40B4-BE49-F238E27FC236}">
                <a16:creationId xmlns:a16="http://schemas.microsoft.com/office/drawing/2014/main" id="{D5E11584-6A1B-65D8-2E64-60B17698692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699" r="20825"/>
          <a:stretch/>
        </p:blipFill>
        <p:spPr bwMode="auto">
          <a:xfrm>
            <a:off x="408306" y="2451735"/>
            <a:ext cx="1805848" cy="32118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560768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C8B90B-E4E9-2E32-3DFD-C4BDE5B20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L" dirty="0"/>
              <a:t>Skipping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2A9218-B4E8-4FC0-BDF1-8FF57E38F5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>
                <a:solidFill>
                  <a:srgbClr val="0D0D0D"/>
                </a:solidFill>
                <a:highlight>
                  <a:srgbClr val="FFFFFF"/>
                </a:highlight>
              </a:rPr>
              <a:t>N</a:t>
            </a:r>
            <a:r>
              <a:rPr lang="en-GB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</a:rPr>
              <a:t>avigate through a sequence with the objective of minimizing total cost. </a:t>
            </a:r>
          </a:p>
          <a:p>
            <a:r>
              <a:rPr lang="en-GB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</a:rPr>
              <a:t>Each step has an associated cost, and the we can choose to either </a:t>
            </a:r>
            <a:r>
              <a:rPr lang="en-GB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</a:rPr>
              <a:t>take the step</a:t>
            </a:r>
            <a:r>
              <a:rPr lang="en-GB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</a:rPr>
              <a:t>, thereby incurring its cost, </a:t>
            </a:r>
            <a:br>
              <a:rPr lang="en-GB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</a:rPr>
            </a:br>
            <a:r>
              <a:rPr lang="en-GB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</a:rPr>
              <a:t>or skip it</a:t>
            </a:r>
            <a:r>
              <a:rPr lang="en-GB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</a:rPr>
              <a:t>, to potentially reduce overall expenditure.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GB" dirty="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0D0D0D"/>
                </a:solidFill>
                <a:highlight>
                  <a:srgbClr val="FFFFFF"/>
                </a:highlight>
              </a:rPr>
              <a:t>A s</a:t>
            </a:r>
            <a:r>
              <a:rPr lang="en-GB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</a:rPr>
              <a:t>implified model for various real-world scenarios, such as planning routes with tolls, or scheduling tasks with associated costs and flexible deadlines.</a:t>
            </a:r>
          </a:p>
        </p:txBody>
      </p:sp>
    </p:spTree>
    <p:extLst>
      <p:ext uri="{BB962C8B-B14F-4D97-AF65-F5344CB8AC3E}">
        <p14:creationId xmlns:p14="http://schemas.microsoft.com/office/powerpoint/2010/main" val="19856290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CFCADF-5AAD-0B66-5416-786995EB0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E065ED-3467-756A-54DF-D497F141C8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NL"/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A10C894A-24DB-7C2E-AE06-DA9B2A927A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95735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7A91FD-D412-55F2-54A5-622EBA5A34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350" y="457200"/>
            <a:ext cx="11109960" cy="57197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>
                <a:latin typeface="Consolas" panose="020B0609020204030204" pitchFamily="49" charset="0"/>
                <a:cs typeface="Consolas" panose="020B0609020204030204" pitchFamily="49" charset="0"/>
              </a:rPr>
              <a:t>Function</a:t>
            </a:r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GB" dirty="0" err="1">
                <a:latin typeface="Consolas" panose="020B0609020204030204" pitchFamily="49" charset="0"/>
                <a:cs typeface="Consolas" panose="020B0609020204030204" pitchFamily="49" charset="0"/>
              </a:rPr>
              <a:t>minimizeCost</a:t>
            </a:r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GB" b="1" dirty="0">
                <a:latin typeface="Consolas" panose="020B0609020204030204" pitchFamily="49" charset="0"/>
                <a:cs typeface="Consolas" panose="020B0609020204030204" pitchFamily="49" charset="0"/>
              </a:rPr>
              <a:t>steps</a:t>
            </a:r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):</a:t>
            </a:r>
          </a:p>
          <a:p>
            <a:pPr marL="0" indent="0">
              <a:buNone/>
            </a:pPr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    Initialize </a:t>
            </a:r>
            <a:r>
              <a:rPr lang="en-GB" b="1" dirty="0" err="1">
                <a:latin typeface="Consolas" panose="020B0609020204030204" pitchFamily="49" charset="0"/>
                <a:cs typeface="Consolas" panose="020B0609020204030204" pitchFamily="49" charset="0"/>
              </a:rPr>
              <a:t>dp</a:t>
            </a:r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 array of size equal to </a:t>
            </a:r>
            <a:r>
              <a:rPr lang="en-GB" b="1" dirty="0" err="1">
                <a:latin typeface="Consolas" panose="020B0609020204030204" pitchFamily="49" charset="0"/>
                <a:cs typeface="Consolas" panose="020B0609020204030204" pitchFamily="49" charset="0"/>
              </a:rPr>
              <a:t>steps</a:t>
            </a:r>
            <a:r>
              <a:rPr lang="en-GB" dirty="0" err="1">
                <a:latin typeface="Consolas" panose="020B0609020204030204" pitchFamily="49" charset="0"/>
                <a:cs typeface="Consolas" panose="020B0609020204030204" pitchFamily="49" charset="0"/>
              </a:rPr>
              <a:t>.length</a:t>
            </a:r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     </a:t>
            </a:r>
          </a:p>
          <a:p>
            <a:pPr marL="0" indent="0">
              <a:buNone/>
            </a:pPr>
            <a:endParaRPr lang="en-GB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GB" b="1" dirty="0" err="1">
                <a:latin typeface="Consolas" panose="020B0609020204030204" pitchFamily="49" charset="0"/>
                <a:cs typeface="Consolas" panose="020B0609020204030204" pitchFamily="49" charset="0"/>
              </a:rPr>
              <a:t>dp</a:t>
            </a:r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[0] = </a:t>
            </a:r>
            <a:r>
              <a:rPr lang="en-GB" b="1" dirty="0">
                <a:latin typeface="Consolas" panose="020B0609020204030204" pitchFamily="49" charset="0"/>
                <a:cs typeface="Consolas" panose="020B0609020204030204" pitchFamily="49" charset="0"/>
              </a:rPr>
              <a:t>steps</a:t>
            </a:r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[0]</a:t>
            </a:r>
          </a:p>
          <a:p>
            <a:pPr marL="0" indent="0">
              <a:buNone/>
            </a:pPr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GB" b="1" dirty="0" err="1">
                <a:latin typeface="Consolas" panose="020B0609020204030204" pitchFamily="49" charset="0"/>
                <a:cs typeface="Consolas" panose="020B0609020204030204" pitchFamily="49" charset="0"/>
              </a:rPr>
              <a:t>dp</a:t>
            </a:r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[1] = </a:t>
            </a:r>
            <a:r>
              <a:rPr lang="en-GB" b="1" dirty="0">
                <a:latin typeface="Consolas" panose="020B0609020204030204" pitchFamily="49" charset="0"/>
                <a:cs typeface="Consolas" panose="020B0609020204030204" pitchFamily="49" charset="0"/>
              </a:rPr>
              <a:t>min</a:t>
            </a:r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GB" b="1" dirty="0">
                <a:latin typeface="Consolas" panose="020B0609020204030204" pitchFamily="49" charset="0"/>
                <a:cs typeface="Consolas" panose="020B0609020204030204" pitchFamily="49" charset="0"/>
              </a:rPr>
              <a:t>steps</a:t>
            </a:r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[0], </a:t>
            </a:r>
            <a:r>
              <a:rPr lang="en-GB" b="1" dirty="0">
                <a:latin typeface="Consolas" panose="020B0609020204030204" pitchFamily="49" charset="0"/>
                <a:cs typeface="Consolas" panose="020B0609020204030204" pitchFamily="49" charset="0"/>
              </a:rPr>
              <a:t>steps</a:t>
            </a:r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[1])</a:t>
            </a:r>
          </a:p>
          <a:p>
            <a:pPr marL="0" indent="0">
              <a:buNone/>
            </a:pPr>
            <a:endParaRPr lang="en-GB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    For </a:t>
            </a:r>
            <a:r>
              <a:rPr lang="en-GB" b="1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 from 1 to </a:t>
            </a:r>
            <a:r>
              <a:rPr lang="en-GB" b="1" dirty="0" err="1">
                <a:latin typeface="Consolas" panose="020B0609020204030204" pitchFamily="49" charset="0"/>
                <a:cs typeface="Consolas" panose="020B0609020204030204" pitchFamily="49" charset="0"/>
              </a:rPr>
              <a:t>steps</a:t>
            </a:r>
            <a:r>
              <a:rPr lang="en-GB" dirty="0" err="1">
                <a:latin typeface="Consolas" panose="020B0609020204030204" pitchFamily="49" charset="0"/>
                <a:cs typeface="Consolas" panose="020B0609020204030204" pitchFamily="49" charset="0"/>
              </a:rPr>
              <a:t>.length</a:t>
            </a:r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 - 1:</a:t>
            </a:r>
          </a:p>
          <a:p>
            <a:pPr marL="0" indent="0">
              <a:buNone/>
            </a:pPr>
            <a:r>
              <a:rPr lang="en-GB" b="1" dirty="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GB" b="1" dirty="0" err="1">
                <a:latin typeface="Consolas" panose="020B0609020204030204" pitchFamily="49" charset="0"/>
                <a:cs typeface="Consolas" panose="020B0609020204030204" pitchFamily="49" charset="0"/>
              </a:rPr>
              <a:t>dp</a:t>
            </a:r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[</a:t>
            </a:r>
            <a:r>
              <a:rPr lang="en-GB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] = </a:t>
            </a:r>
            <a:r>
              <a:rPr lang="en-GB" b="1" dirty="0">
                <a:latin typeface="Consolas" panose="020B0609020204030204" pitchFamily="49" charset="0"/>
                <a:cs typeface="Consolas" panose="020B0609020204030204" pitchFamily="49" charset="0"/>
              </a:rPr>
              <a:t>steps</a:t>
            </a:r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[</a:t>
            </a:r>
            <a:r>
              <a:rPr lang="en-GB" b="1" dirty="0" err="1"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] + </a:t>
            </a:r>
            <a:r>
              <a:rPr lang="en-GB" b="1" dirty="0">
                <a:latin typeface="Consolas" panose="020B0609020204030204" pitchFamily="49" charset="0"/>
                <a:cs typeface="Consolas" panose="020B0609020204030204" pitchFamily="49" charset="0"/>
              </a:rPr>
              <a:t>min</a:t>
            </a:r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GB" b="1" dirty="0" err="1">
                <a:latin typeface="Consolas" panose="020B0609020204030204" pitchFamily="49" charset="0"/>
                <a:cs typeface="Consolas" panose="020B0609020204030204" pitchFamily="49" charset="0"/>
              </a:rPr>
              <a:t>dp</a:t>
            </a:r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[</a:t>
            </a:r>
            <a:r>
              <a:rPr lang="en-GB" b="1" dirty="0">
                <a:latin typeface="Consolas" panose="020B0609020204030204" pitchFamily="49" charset="0"/>
                <a:cs typeface="Consolas" panose="020B0609020204030204" pitchFamily="49" charset="0"/>
              </a:rPr>
              <a:t>i-1</a:t>
            </a:r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], </a:t>
            </a:r>
            <a:r>
              <a:rPr lang="en-GB" b="1" dirty="0" err="1">
                <a:latin typeface="Consolas" panose="020B0609020204030204" pitchFamily="49" charset="0"/>
                <a:cs typeface="Consolas" panose="020B0609020204030204" pitchFamily="49" charset="0"/>
              </a:rPr>
              <a:t>dp</a:t>
            </a:r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[</a:t>
            </a:r>
            <a:r>
              <a:rPr lang="en-GB" b="1" dirty="0">
                <a:latin typeface="Consolas" panose="020B0609020204030204" pitchFamily="49" charset="0"/>
                <a:cs typeface="Consolas" panose="020B0609020204030204" pitchFamily="49" charset="0"/>
              </a:rPr>
              <a:t>i-2</a:t>
            </a:r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])</a:t>
            </a:r>
          </a:p>
          <a:p>
            <a:pPr marL="0" indent="0">
              <a:buNone/>
            </a:pPr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</a:p>
          <a:p>
            <a:pPr marL="0" indent="0">
              <a:buNone/>
            </a:pPr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    return </a:t>
            </a:r>
            <a:r>
              <a:rPr lang="en-GB" b="1" dirty="0" err="1">
                <a:latin typeface="Consolas" panose="020B0609020204030204" pitchFamily="49" charset="0"/>
                <a:cs typeface="Consolas" panose="020B0609020204030204" pitchFamily="49" charset="0"/>
              </a:rPr>
              <a:t>dp</a:t>
            </a:r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[</a:t>
            </a:r>
            <a:r>
              <a:rPr lang="en-GB" b="1" dirty="0" err="1">
                <a:latin typeface="Consolas" panose="020B0609020204030204" pitchFamily="49" charset="0"/>
                <a:cs typeface="Consolas" panose="020B0609020204030204" pitchFamily="49" charset="0"/>
              </a:rPr>
              <a:t>steps</a:t>
            </a:r>
            <a:r>
              <a:rPr lang="en-GB" dirty="0" err="1">
                <a:latin typeface="Consolas" panose="020B0609020204030204" pitchFamily="49" charset="0"/>
                <a:cs typeface="Consolas" panose="020B0609020204030204" pitchFamily="49" charset="0"/>
              </a:rPr>
              <a:t>.length</a:t>
            </a:r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 - 1]</a:t>
            </a:r>
          </a:p>
        </p:txBody>
      </p:sp>
    </p:spTree>
    <p:extLst>
      <p:ext uri="{BB962C8B-B14F-4D97-AF65-F5344CB8AC3E}">
        <p14:creationId xmlns:p14="http://schemas.microsoft.com/office/powerpoint/2010/main" val="13002855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78156F-FFCA-6E08-2A27-187DCE078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Greedy Algorithms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75BA98-E3C5-C8BC-6876-C90E5EA1F6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Build up a solution piece by piece, always choosing the next piece that offers the most immediate benefit.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b="1" dirty="0"/>
              <a:t>Local Optima Lead to Global Optima</a:t>
            </a:r>
          </a:p>
          <a:p>
            <a:r>
              <a:rPr lang="en-GB" b="1" dirty="0"/>
              <a:t>No Backtracking:</a:t>
            </a:r>
            <a:r>
              <a:rPr lang="en-GB" dirty="0"/>
              <a:t> Once a choice is made, the algorithm never reverses or reconsiders it.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39417585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ED4E96-98F4-19F0-5977-1C661C8A29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Greedy Algorithms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4BF54B-0C6A-18BD-AA2D-C91019C8F1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Criteria for Greediness:</a:t>
            </a:r>
          </a:p>
          <a:p>
            <a:r>
              <a:rPr lang="en-GB" b="1" dirty="0"/>
              <a:t>Greedy Choice Property: </a:t>
            </a:r>
            <a:r>
              <a:rPr lang="en-GB" dirty="0"/>
              <a:t>A global optimum can be arrived at by making a locally optimal (greedy) choice.</a:t>
            </a:r>
          </a:p>
          <a:p>
            <a:r>
              <a:rPr lang="en-GB" b="1" dirty="0"/>
              <a:t>Optimal Substructure: </a:t>
            </a:r>
            <a:r>
              <a:rPr lang="en-GB" dirty="0"/>
              <a:t>an optimal solution to the entire problem contains the optimal solutions to the sub-problems.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33814009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undefined">
            <a:extLst>
              <a:ext uri="{FF2B5EF4-FFF2-40B4-BE49-F238E27FC236}">
                <a16:creationId xmlns:a16="http://schemas.microsoft.com/office/drawing/2014/main" id="{DE948320-183D-EA64-8732-BC04F61FEA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6775" y="285750"/>
            <a:ext cx="791845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330532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undefined">
            <a:extLst>
              <a:ext uri="{FF2B5EF4-FFF2-40B4-BE49-F238E27FC236}">
                <a16:creationId xmlns:a16="http://schemas.microsoft.com/office/drawing/2014/main" id="{9D142AB5-7E27-C934-F83A-772E8827C4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0356" y="0"/>
            <a:ext cx="2732964" cy="2366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C2D1D33-5AE5-AB5F-A4B3-CB19F58A81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0/1 Knapsack Problem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75BF2C-9DA6-4A5F-3D41-12AFB0512D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 dirty="0"/>
              <a:t>Description: </a:t>
            </a:r>
          </a:p>
          <a:p>
            <a:pPr marL="0" indent="0">
              <a:buNone/>
            </a:pPr>
            <a:r>
              <a:rPr lang="en-GB" dirty="0"/>
              <a:t>In the 0/1 Knapsack Problem, you are given a set of items, each with a weight and a value. </a:t>
            </a:r>
          </a:p>
          <a:p>
            <a:pPr marL="0" indent="0">
              <a:buNone/>
            </a:pPr>
            <a:r>
              <a:rPr lang="en-GB" dirty="0"/>
              <a:t>The goal is to determine the number of each item to include in a collection so that the total weight is less than or equal to a given limit, and the total value is maximized. </a:t>
            </a:r>
          </a:p>
          <a:p>
            <a:pPr marL="0" indent="0">
              <a:buNone/>
            </a:pPr>
            <a:r>
              <a:rPr lang="en-GB" dirty="0"/>
              <a:t>However, each item can be taken or left (hence "0/1"), meaning you cannot take a fraction of an item or take an item more than once.</a:t>
            </a:r>
          </a:p>
          <a:p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29490771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undefined">
            <a:extLst>
              <a:ext uri="{FF2B5EF4-FFF2-40B4-BE49-F238E27FC236}">
                <a16:creationId xmlns:a16="http://schemas.microsoft.com/office/drawing/2014/main" id="{9D142AB5-7E27-C934-F83A-772E8827C4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0356" y="0"/>
            <a:ext cx="2732964" cy="2366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C2D1D33-5AE5-AB5F-A4B3-CB19F58A81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0/1 Knapsack Problem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75BF2C-9DA6-4A5F-3D41-12AFB0512D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GB" dirty="0">
              <a:solidFill>
                <a:srgbClr val="0D0D0D"/>
              </a:solidFill>
              <a:highlight>
                <a:srgbClr val="FFFFFF"/>
              </a:highlight>
              <a:latin typeface="Söhne"/>
            </a:endParaRPr>
          </a:p>
          <a:p>
            <a:pPr marL="0" indent="0">
              <a:buNone/>
            </a:pPr>
            <a:endParaRPr lang="en-GB" dirty="0">
              <a:solidFill>
                <a:srgbClr val="0D0D0D"/>
              </a:solidFill>
              <a:highlight>
                <a:srgbClr val="FFFFFF"/>
              </a:highlight>
              <a:latin typeface="Söhne"/>
            </a:endParaRPr>
          </a:p>
          <a:p>
            <a:pPr marL="0" indent="0">
              <a:buNone/>
            </a:pPr>
            <a:r>
              <a:rPr lang="en-GB" dirty="0">
                <a:solidFill>
                  <a:srgbClr val="0D0D0D"/>
                </a:solidFill>
                <a:highlight>
                  <a:srgbClr val="FFFFFF"/>
                </a:highlight>
                <a:latin typeface="Söhne"/>
              </a:rPr>
              <a:t>C</a:t>
            </a:r>
            <a:r>
              <a:rPr lang="en-GB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hoosing the items with the highest value-to-weight ratio (a greedy strategy) </a:t>
            </a:r>
            <a:r>
              <a:rPr lang="en-GB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does not guarantee an optimal solution</a:t>
            </a:r>
            <a:r>
              <a:rPr lang="en-GB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. </a:t>
            </a:r>
          </a:p>
          <a:p>
            <a:pPr marL="0" indent="0">
              <a:buNone/>
            </a:pPr>
            <a:r>
              <a:rPr lang="en-GB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Instead, it is typically solved using dynamic programming or backtracking to ensure that the optimal combination of items is found.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25483929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undefined">
            <a:extLst>
              <a:ext uri="{FF2B5EF4-FFF2-40B4-BE49-F238E27FC236}">
                <a16:creationId xmlns:a16="http://schemas.microsoft.com/office/drawing/2014/main" id="{9D142AB5-7E27-C934-F83A-772E8827C4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0356" y="0"/>
            <a:ext cx="2732964" cy="2366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C2D1D33-5AE5-AB5F-A4B3-CB19F58A81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Fractional Knapsack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75BF2C-9DA6-4A5F-3D41-12AFB0512D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GB" b="0" i="0" dirty="0">
              <a:solidFill>
                <a:srgbClr val="0D0D0D"/>
              </a:solidFill>
              <a:effectLst/>
              <a:highlight>
                <a:srgbClr val="FFFFFF"/>
              </a:highlight>
              <a:latin typeface="Söhne"/>
            </a:endParaRPr>
          </a:p>
          <a:p>
            <a:pPr marL="0" indent="0">
              <a:buNone/>
            </a:pPr>
            <a:r>
              <a:rPr lang="en-GB" dirty="0"/>
              <a:t>The goal is to determine the number of each item to include in a collection so that the total weight is less than or equal to a given limit, and the total value is maximized. </a:t>
            </a:r>
            <a:endParaRPr lang="en-GB" b="0" i="0" dirty="0">
              <a:solidFill>
                <a:srgbClr val="0D0D0D"/>
              </a:solidFill>
              <a:effectLst/>
              <a:highlight>
                <a:srgbClr val="FFFFFF"/>
              </a:highlight>
              <a:latin typeface="Söhne"/>
            </a:endParaRPr>
          </a:p>
          <a:p>
            <a:pPr marL="0" indent="0">
              <a:buNone/>
            </a:pPr>
            <a:r>
              <a:rPr lang="en-GB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This variant gives you a set of items, each with a weight and a value, and the goal is to maximize the total value in the knapsack while keeping the total weight under a limit.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824872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undefined">
            <a:extLst>
              <a:ext uri="{FF2B5EF4-FFF2-40B4-BE49-F238E27FC236}">
                <a16:creationId xmlns:a16="http://schemas.microsoft.com/office/drawing/2014/main" id="{9D142AB5-7E27-C934-F83A-772E8827C4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0356" y="0"/>
            <a:ext cx="2732964" cy="2366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C2D1D33-5AE5-AB5F-A4B3-CB19F58A81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Fractional Knapsack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75BF2C-9DA6-4A5F-3D41-12AFB0512D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GB" b="0" i="0" dirty="0">
              <a:solidFill>
                <a:srgbClr val="0D0D0D"/>
              </a:solidFill>
              <a:effectLst/>
              <a:highlight>
                <a:srgbClr val="FFFFFF"/>
              </a:highlight>
              <a:latin typeface="Söhne"/>
            </a:endParaRPr>
          </a:p>
          <a:p>
            <a:pPr marL="0" indent="0">
              <a:buNone/>
            </a:pPr>
            <a:r>
              <a:rPr lang="en-GB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The Fractional Knapsack Problem can be solved using a greedy approach. </a:t>
            </a:r>
          </a:p>
          <a:p>
            <a:pPr marL="0" indent="0">
              <a:buNone/>
            </a:pPr>
            <a:r>
              <a:rPr lang="en-GB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The strategy involves taking items in order of their value-to-weight ratio, starting with the highest. </a:t>
            </a:r>
          </a:p>
          <a:p>
            <a:pPr marL="0" indent="0">
              <a:buNone/>
            </a:pPr>
            <a:r>
              <a:rPr lang="en-GB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This approach works because you can take fractions of items, ensuring the knapsack is filled to maximum capacity without exceeding the weight limit.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24623838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E80D3-CE6E-0936-1069-EBE9E91F14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L" dirty="0"/>
              <a:t>Fractional Knapsack</a:t>
            </a:r>
          </a:p>
        </p:txBody>
      </p:sp>
      <p:pic>
        <p:nvPicPr>
          <p:cNvPr id="4" name="Picture 6" descr="HH01008_">
            <a:extLst>
              <a:ext uri="{FF2B5EF4-FFF2-40B4-BE49-F238E27FC236}">
                <a16:creationId xmlns:a16="http://schemas.microsoft.com/office/drawing/2014/main" id="{E00EC33F-7D8A-C6AC-757C-457C69935B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6136" y="2839338"/>
            <a:ext cx="495300" cy="887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7" descr="HH01008_">
            <a:extLst>
              <a:ext uri="{FF2B5EF4-FFF2-40B4-BE49-F238E27FC236}">
                <a16:creationId xmlns:a16="http://schemas.microsoft.com/office/drawing/2014/main" id="{42A538C2-D6EA-E961-BA97-81BF4088B0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22724" y="2458338"/>
            <a:ext cx="708025" cy="1268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8" descr="HH01008_">
            <a:extLst>
              <a:ext uri="{FF2B5EF4-FFF2-40B4-BE49-F238E27FC236}">
                <a16:creationId xmlns:a16="http://schemas.microsoft.com/office/drawing/2014/main" id="{07B01234-844F-5350-38F9-CCC338E4AA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05373" y="3144138"/>
            <a:ext cx="325438" cy="582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9" descr="HH01008_">
            <a:extLst>
              <a:ext uri="{FF2B5EF4-FFF2-40B4-BE49-F238E27FC236}">
                <a16:creationId xmlns:a16="http://schemas.microsoft.com/office/drawing/2014/main" id="{2F0D5583-BD23-9854-4548-8AA5D9161A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0999" y="2659950"/>
            <a:ext cx="595313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0" descr="HH01008_">
            <a:extLst>
              <a:ext uri="{FF2B5EF4-FFF2-40B4-BE49-F238E27FC236}">
                <a16:creationId xmlns:a16="http://schemas.microsoft.com/office/drawing/2014/main" id="{CBF3AD32-E79B-0F20-DB1C-F5D3F12EDB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92849" y="3193351"/>
            <a:ext cx="282575" cy="506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 Box 11">
            <a:extLst>
              <a:ext uri="{FF2B5EF4-FFF2-40B4-BE49-F238E27FC236}">
                <a16:creationId xmlns:a16="http://schemas.microsoft.com/office/drawing/2014/main" id="{17FDE475-5DD0-4516-86D8-07B8D5B506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46286" y="3726750"/>
            <a:ext cx="12366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defTabSz="457200" eaLnBrk="1" hangingPunct="1"/>
            <a:r>
              <a:rPr lang="en-US">
                <a:solidFill>
                  <a:srgbClr val="001C3D"/>
                </a:solidFill>
              </a:rPr>
              <a:t>Weight:</a:t>
            </a:r>
          </a:p>
        </p:txBody>
      </p:sp>
      <p:sp>
        <p:nvSpPr>
          <p:cNvPr id="10" name="Text Box 12">
            <a:extLst>
              <a:ext uri="{FF2B5EF4-FFF2-40B4-BE49-F238E27FC236}">
                <a16:creationId xmlns:a16="http://schemas.microsoft.com/office/drawing/2014/main" id="{D17889ED-A263-BF92-517C-FAEF3AC1AA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63749" y="4107751"/>
            <a:ext cx="124309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defTabSz="457200" eaLnBrk="1" hangingPunct="1"/>
            <a:r>
              <a:rPr lang="en-US">
                <a:solidFill>
                  <a:srgbClr val="001C3D"/>
                </a:solidFill>
              </a:rPr>
              <a:t>Benefit:</a:t>
            </a:r>
          </a:p>
        </p:txBody>
      </p:sp>
      <p:sp>
        <p:nvSpPr>
          <p:cNvPr id="11" name="Text Box 13">
            <a:extLst>
              <a:ext uri="{FF2B5EF4-FFF2-40B4-BE49-F238E27FC236}">
                <a16:creationId xmlns:a16="http://schemas.microsoft.com/office/drawing/2014/main" id="{54A62B6D-BBC5-1E29-0D68-5765505EC6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84561" y="3345750"/>
            <a:ext cx="296862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defTabSz="457200" eaLnBrk="1" hangingPunct="1"/>
            <a:r>
              <a:rPr lang="en-US" sz="1400" b="1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12" name="Text Box 14">
            <a:extLst>
              <a:ext uri="{FF2B5EF4-FFF2-40B4-BE49-F238E27FC236}">
                <a16:creationId xmlns:a16="http://schemas.microsoft.com/office/drawing/2014/main" id="{6A9727EA-AB27-1FDE-F98D-D2F806A6D8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27511" y="3345750"/>
            <a:ext cx="296862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defTabSz="457200" eaLnBrk="1" hangingPunct="1"/>
            <a:r>
              <a:rPr lang="en-US" sz="1400" b="1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13" name="Text Box 15">
            <a:extLst>
              <a:ext uri="{FF2B5EF4-FFF2-40B4-BE49-F238E27FC236}">
                <a16:creationId xmlns:a16="http://schemas.microsoft.com/office/drawing/2014/main" id="{10B33228-C130-C399-41E6-F149DE2534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18074" y="3345750"/>
            <a:ext cx="29686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defTabSz="457200" eaLnBrk="1" hangingPunct="1"/>
            <a:r>
              <a:rPr lang="en-US" sz="1400" b="1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14" name="Text Box 16">
            <a:extLst>
              <a:ext uri="{FF2B5EF4-FFF2-40B4-BE49-F238E27FC236}">
                <a16:creationId xmlns:a16="http://schemas.microsoft.com/office/drawing/2014/main" id="{381CEB08-BFEA-AF64-6753-F34703EEBE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10224" y="3345750"/>
            <a:ext cx="29686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defTabSz="457200" eaLnBrk="1" hangingPunct="1"/>
            <a:r>
              <a:rPr lang="en-US" sz="1400" b="1">
                <a:solidFill>
                  <a:srgbClr val="000000"/>
                </a:solidFill>
              </a:rPr>
              <a:t>4</a:t>
            </a:r>
          </a:p>
        </p:txBody>
      </p:sp>
      <p:sp>
        <p:nvSpPr>
          <p:cNvPr id="15" name="Text Box 17">
            <a:extLst>
              <a:ext uri="{FF2B5EF4-FFF2-40B4-BE49-F238E27FC236}">
                <a16:creationId xmlns:a16="http://schemas.microsoft.com/office/drawing/2014/main" id="{82843787-156C-ABAD-8FF4-F515792FCD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84911" y="3345750"/>
            <a:ext cx="296862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defTabSz="457200" eaLnBrk="1" hangingPunct="1"/>
            <a:r>
              <a:rPr lang="en-US" sz="1400" b="1">
                <a:solidFill>
                  <a:srgbClr val="000000"/>
                </a:solidFill>
              </a:rPr>
              <a:t>5</a:t>
            </a:r>
          </a:p>
        </p:txBody>
      </p:sp>
      <p:sp>
        <p:nvSpPr>
          <p:cNvPr id="16" name="Text Box 18">
            <a:extLst>
              <a:ext uri="{FF2B5EF4-FFF2-40B4-BE49-F238E27FC236}">
                <a16:creationId xmlns:a16="http://schemas.microsoft.com/office/drawing/2014/main" id="{F9608CB2-AA44-0FE3-9CE8-E6682E5EC0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21049" y="3802951"/>
            <a:ext cx="62547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defTabSz="457200" eaLnBrk="1" hangingPunct="1"/>
            <a:r>
              <a:rPr lang="en-US" sz="1800">
                <a:solidFill>
                  <a:srgbClr val="001C3D"/>
                </a:solidFill>
              </a:rPr>
              <a:t>4 ml</a:t>
            </a:r>
          </a:p>
        </p:txBody>
      </p:sp>
      <p:sp>
        <p:nvSpPr>
          <p:cNvPr id="17" name="Text Box 19">
            <a:extLst>
              <a:ext uri="{FF2B5EF4-FFF2-40B4-BE49-F238E27FC236}">
                <a16:creationId xmlns:a16="http://schemas.microsoft.com/office/drawing/2014/main" id="{909C5908-9931-0DBB-E25F-4D71D3ADAD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63999" y="3802951"/>
            <a:ext cx="62547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defTabSz="457200" eaLnBrk="1" hangingPunct="1"/>
            <a:r>
              <a:rPr lang="en-US" sz="1800">
                <a:solidFill>
                  <a:srgbClr val="001C3D"/>
                </a:solidFill>
              </a:rPr>
              <a:t>8 ml</a:t>
            </a:r>
          </a:p>
        </p:txBody>
      </p:sp>
      <p:sp>
        <p:nvSpPr>
          <p:cNvPr id="18" name="Text Box 20">
            <a:extLst>
              <a:ext uri="{FF2B5EF4-FFF2-40B4-BE49-F238E27FC236}">
                <a16:creationId xmlns:a16="http://schemas.microsoft.com/office/drawing/2014/main" id="{5499BACF-0069-52D5-F2DC-C0FAC34477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54562" y="3802951"/>
            <a:ext cx="62547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defTabSz="457200" eaLnBrk="1" hangingPunct="1"/>
            <a:r>
              <a:rPr lang="en-US" sz="1800">
                <a:solidFill>
                  <a:srgbClr val="001C3D"/>
                </a:solidFill>
              </a:rPr>
              <a:t>2 ml</a:t>
            </a:r>
          </a:p>
        </p:txBody>
      </p:sp>
      <p:sp>
        <p:nvSpPr>
          <p:cNvPr id="19" name="Text Box 21">
            <a:extLst>
              <a:ext uri="{FF2B5EF4-FFF2-40B4-BE49-F238E27FC236}">
                <a16:creationId xmlns:a16="http://schemas.microsoft.com/office/drawing/2014/main" id="{701C650B-0A94-849C-DD96-7F6D7F08C6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46712" y="3802951"/>
            <a:ext cx="62547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defTabSz="457200" eaLnBrk="1" hangingPunct="1"/>
            <a:r>
              <a:rPr lang="en-US" sz="1800">
                <a:solidFill>
                  <a:srgbClr val="001C3D"/>
                </a:solidFill>
              </a:rPr>
              <a:t>6 ml</a:t>
            </a:r>
          </a:p>
        </p:txBody>
      </p:sp>
      <p:sp>
        <p:nvSpPr>
          <p:cNvPr id="20" name="Text Box 23">
            <a:extLst>
              <a:ext uri="{FF2B5EF4-FFF2-40B4-BE49-F238E27FC236}">
                <a16:creationId xmlns:a16="http://schemas.microsoft.com/office/drawing/2014/main" id="{7318CD13-0502-B0E0-2FEB-B552AD9AF9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21399" y="3802951"/>
            <a:ext cx="62547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defTabSz="457200" eaLnBrk="1" hangingPunct="1"/>
            <a:r>
              <a:rPr lang="en-US" sz="1800">
                <a:solidFill>
                  <a:srgbClr val="001C3D"/>
                </a:solidFill>
              </a:rPr>
              <a:t>1 ml</a:t>
            </a:r>
          </a:p>
        </p:txBody>
      </p:sp>
      <p:sp>
        <p:nvSpPr>
          <p:cNvPr id="21" name="Text Box 24">
            <a:extLst>
              <a:ext uri="{FF2B5EF4-FFF2-40B4-BE49-F238E27FC236}">
                <a16:creationId xmlns:a16="http://schemas.microsoft.com/office/drawing/2014/main" id="{9D10D79A-A064-7513-69A3-2FB8A5718F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4387" y="4183951"/>
            <a:ext cx="560387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defTabSz="457200" eaLnBrk="1" hangingPunct="1"/>
            <a:r>
              <a:rPr lang="en-US" sz="1800">
                <a:solidFill>
                  <a:srgbClr val="001C3D"/>
                </a:solidFill>
              </a:rPr>
              <a:t>$12</a:t>
            </a:r>
          </a:p>
        </p:txBody>
      </p:sp>
      <p:sp>
        <p:nvSpPr>
          <p:cNvPr id="22" name="Text Box 25">
            <a:extLst>
              <a:ext uri="{FF2B5EF4-FFF2-40B4-BE49-F238E27FC236}">
                <a16:creationId xmlns:a16="http://schemas.microsoft.com/office/drawing/2014/main" id="{4A5FC0D4-E1E3-BA95-FEDE-9B5E7A42F4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95748" y="4183951"/>
            <a:ext cx="56038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defTabSz="457200" eaLnBrk="1" hangingPunct="1"/>
            <a:r>
              <a:rPr lang="en-US" sz="1800">
                <a:solidFill>
                  <a:srgbClr val="001C3D"/>
                </a:solidFill>
              </a:rPr>
              <a:t>$32</a:t>
            </a:r>
          </a:p>
        </p:txBody>
      </p:sp>
      <p:sp>
        <p:nvSpPr>
          <p:cNvPr id="23" name="Text Box 26">
            <a:extLst>
              <a:ext uri="{FF2B5EF4-FFF2-40B4-BE49-F238E27FC236}">
                <a16:creationId xmlns:a16="http://schemas.microsoft.com/office/drawing/2014/main" id="{B817017B-2BEA-A988-61DE-C2EF7BE7FF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7898" y="4183951"/>
            <a:ext cx="56038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defTabSz="457200" eaLnBrk="1" hangingPunct="1"/>
            <a:r>
              <a:rPr lang="en-US" sz="1800">
                <a:solidFill>
                  <a:srgbClr val="001C3D"/>
                </a:solidFill>
              </a:rPr>
              <a:t>$40</a:t>
            </a:r>
          </a:p>
        </p:txBody>
      </p:sp>
      <p:sp>
        <p:nvSpPr>
          <p:cNvPr id="24" name="Text Box 27">
            <a:extLst>
              <a:ext uri="{FF2B5EF4-FFF2-40B4-BE49-F238E27FC236}">
                <a16:creationId xmlns:a16="http://schemas.microsoft.com/office/drawing/2014/main" id="{F6A1F79C-9F4A-54A0-8192-B88AEEB4B3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0048" y="4183951"/>
            <a:ext cx="56038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defTabSz="457200" eaLnBrk="1" hangingPunct="1"/>
            <a:r>
              <a:rPr lang="en-US" sz="1800">
                <a:solidFill>
                  <a:srgbClr val="001C3D"/>
                </a:solidFill>
              </a:rPr>
              <a:t>$30</a:t>
            </a:r>
          </a:p>
        </p:txBody>
      </p:sp>
      <p:sp>
        <p:nvSpPr>
          <p:cNvPr id="25" name="Text Box 28">
            <a:extLst>
              <a:ext uri="{FF2B5EF4-FFF2-40B4-BE49-F238E27FC236}">
                <a16:creationId xmlns:a16="http://schemas.microsoft.com/office/drawing/2014/main" id="{CC198629-565A-58DC-1C5E-B904ECF93E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53148" y="4183951"/>
            <a:ext cx="56038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defTabSz="457200" eaLnBrk="1" hangingPunct="1"/>
            <a:r>
              <a:rPr lang="en-US" sz="1800">
                <a:solidFill>
                  <a:srgbClr val="001C3D"/>
                </a:solidFill>
              </a:rPr>
              <a:t>$50</a:t>
            </a:r>
          </a:p>
        </p:txBody>
      </p:sp>
      <p:sp>
        <p:nvSpPr>
          <p:cNvPr id="26" name="Text Box 29">
            <a:extLst>
              <a:ext uri="{FF2B5EF4-FFF2-40B4-BE49-F238E27FC236}">
                <a16:creationId xmlns:a16="http://schemas.microsoft.com/office/drawing/2014/main" id="{1114AA1E-587F-AD14-BB9A-62AF146EB2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16148" y="3040950"/>
            <a:ext cx="10604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defTabSz="457200" eaLnBrk="1" hangingPunct="1"/>
            <a:r>
              <a:rPr lang="en-US">
                <a:solidFill>
                  <a:srgbClr val="001C3D"/>
                </a:solidFill>
              </a:rPr>
              <a:t>Items:</a:t>
            </a:r>
          </a:p>
        </p:txBody>
      </p:sp>
      <p:sp>
        <p:nvSpPr>
          <p:cNvPr id="27" name="Text Box 30">
            <a:extLst>
              <a:ext uri="{FF2B5EF4-FFF2-40B4-BE49-F238E27FC236}">
                <a16:creationId xmlns:a16="http://schemas.microsoft.com/office/drawing/2014/main" id="{6132C810-8BF9-F5C7-8045-F3C7052F13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7898" y="4488750"/>
            <a:ext cx="10350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defTabSz="457200" eaLnBrk="1" hangingPunct="1"/>
            <a:r>
              <a:rPr lang="en-US">
                <a:solidFill>
                  <a:srgbClr val="001C3D"/>
                </a:solidFill>
              </a:rPr>
              <a:t>Value:</a:t>
            </a:r>
          </a:p>
        </p:txBody>
      </p:sp>
      <p:sp>
        <p:nvSpPr>
          <p:cNvPr id="28" name="Text Box 31">
            <a:extLst>
              <a:ext uri="{FF2B5EF4-FFF2-40B4-BE49-F238E27FC236}">
                <a16:creationId xmlns:a16="http://schemas.microsoft.com/office/drawing/2014/main" id="{0523C613-5838-DDA8-002A-90061854A6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78211" y="4564951"/>
            <a:ext cx="309562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defTabSz="457200" eaLnBrk="1" hangingPunct="1"/>
            <a:r>
              <a:rPr lang="en-US" sz="1800">
                <a:solidFill>
                  <a:srgbClr val="001C3D"/>
                </a:solidFill>
              </a:rPr>
              <a:t>3</a:t>
            </a:r>
          </a:p>
        </p:txBody>
      </p:sp>
      <p:sp>
        <p:nvSpPr>
          <p:cNvPr id="29" name="Text Box 32">
            <a:extLst>
              <a:ext uri="{FF2B5EF4-FFF2-40B4-BE49-F238E27FC236}">
                <a16:creationId xmlns:a16="http://schemas.microsoft.com/office/drawing/2014/main" id="{8D33F9F5-1B7F-1C9D-9310-55D10A6DA9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63748" y="4869751"/>
            <a:ext cx="120173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defTabSz="457200" eaLnBrk="1" hangingPunct="1"/>
            <a:r>
              <a:rPr lang="en-US" sz="1800">
                <a:solidFill>
                  <a:srgbClr val="001C3D"/>
                </a:solidFill>
              </a:rPr>
              <a:t>($ per ml)</a:t>
            </a:r>
          </a:p>
        </p:txBody>
      </p:sp>
      <p:sp>
        <p:nvSpPr>
          <p:cNvPr id="30" name="Text Box 33">
            <a:extLst>
              <a:ext uri="{FF2B5EF4-FFF2-40B4-BE49-F238E27FC236}">
                <a16:creationId xmlns:a16="http://schemas.microsoft.com/office/drawing/2014/main" id="{3FA3F83E-9D38-D833-3B8D-932FB9730C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21161" y="4564951"/>
            <a:ext cx="309562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defTabSz="457200" eaLnBrk="1" hangingPunct="1"/>
            <a:r>
              <a:rPr lang="en-US" sz="1800">
                <a:solidFill>
                  <a:srgbClr val="001C3D"/>
                </a:solidFill>
              </a:rPr>
              <a:t>4</a:t>
            </a:r>
          </a:p>
        </p:txBody>
      </p:sp>
      <p:sp>
        <p:nvSpPr>
          <p:cNvPr id="31" name="Text Box 34">
            <a:extLst>
              <a:ext uri="{FF2B5EF4-FFF2-40B4-BE49-F238E27FC236}">
                <a16:creationId xmlns:a16="http://schemas.microsoft.com/office/drawing/2014/main" id="{11945964-D94E-CEC8-C76C-2EBB91D660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49812" y="4564951"/>
            <a:ext cx="43497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defTabSz="457200" eaLnBrk="1" hangingPunct="1"/>
            <a:r>
              <a:rPr lang="en-US" sz="1800">
                <a:solidFill>
                  <a:srgbClr val="001C3D"/>
                </a:solidFill>
              </a:rPr>
              <a:t>20</a:t>
            </a:r>
          </a:p>
        </p:txBody>
      </p:sp>
      <p:sp>
        <p:nvSpPr>
          <p:cNvPr id="32" name="Text Box 35">
            <a:extLst>
              <a:ext uri="{FF2B5EF4-FFF2-40B4-BE49-F238E27FC236}">
                <a16:creationId xmlns:a16="http://schemas.microsoft.com/office/drawing/2014/main" id="{81C52B8F-F403-C7C5-849D-8EB21E23B3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05461" y="4564951"/>
            <a:ext cx="309562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defTabSz="457200" eaLnBrk="1" hangingPunct="1"/>
            <a:r>
              <a:rPr lang="en-US" sz="1800">
                <a:solidFill>
                  <a:srgbClr val="001C3D"/>
                </a:solidFill>
              </a:rPr>
              <a:t>5</a:t>
            </a:r>
          </a:p>
        </p:txBody>
      </p:sp>
      <p:sp>
        <p:nvSpPr>
          <p:cNvPr id="33" name="Text Box 36">
            <a:extLst>
              <a:ext uri="{FF2B5EF4-FFF2-40B4-BE49-F238E27FC236}">
                <a16:creationId xmlns:a16="http://schemas.microsoft.com/office/drawing/2014/main" id="{3F05F151-81E1-350E-9651-46390D07A2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16649" y="4564951"/>
            <a:ext cx="43497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defTabSz="457200" eaLnBrk="1" hangingPunct="1"/>
            <a:r>
              <a:rPr lang="en-US" sz="1800">
                <a:solidFill>
                  <a:srgbClr val="001C3D"/>
                </a:solidFill>
              </a:rPr>
              <a:t>50</a:t>
            </a:r>
          </a:p>
        </p:txBody>
      </p:sp>
      <p:grpSp>
        <p:nvGrpSpPr>
          <p:cNvPr id="34" name="Group 47">
            <a:extLst>
              <a:ext uri="{FF2B5EF4-FFF2-40B4-BE49-F238E27FC236}">
                <a16:creationId xmlns:a16="http://schemas.microsoft.com/office/drawing/2014/main" id="{B01AAC5D-8E6E-5385-6D33-3492142F0218}"/>
              </a:ext>
            </a:extLst>
          </p:cNvPr>
          <p:cNvGrpSpPr>
            <a:grpSpLocks/>
          </p:cNvGrpSpPr>
          <p:nvPr/>
        </p:nvGrpSpPr>
        <p:grpSpPr bwMode="auto">
          <a:xfrm>
            <a:off x="7321549" y="1904301"/>
            <a:ext cx="1247775" cy="2722563"/>
            <a:chOff x="4180" y="2068"/>
            <a:chExt cx="786" cy="1715"/>
          </a:xfrm>
        </p:grpSpPr>
        <p:sp>
          <p:nvSpPr>
            <p:cNvPr id="35" name="Freeform 38">
              <a:extLst>
                <a:ext uri="{FF2B5EF4-FFF2-40B4-BE49-F238E27FC236}">
                  <a16:creationId xmlns:a16="http://schemas.microsoft.com/office/drawing/2014/main" id="{53EACC0A-30AB-E939-C263-D1727760E2BC}"/>
                </a:ext>
              </a:extLst>
            </p:cNvPr>
            <p:cNvSpPr>
              <a:spLocks/>
            </p:cNvSpPr>
            <p:nvPr/>
          </p:nvSpPr>
          <p:spPr bwMode="auto">
            <a:xfrm>
              <a:off x="4276" y="2068"/>
              <a:ext cx="594" cy="320"/>
            </a:xfrm>
            <a:custGeom>
              <a:avLst/>
              <a:gdLst>
                <a:gd name="T0" fmla="*/ 578 w 594"/>
                <a:gd name="T1" fmla="*/ 231 h 320"/>
                <a:gd name="T2" fmla="*/ 584 w 594"/>
                <a:gd name="T3" fmla="*/ 147 h 320"/>
                <a:gd name="T4" fmla="*/ 594 w 594"/>
                <a:gd name="T5" fmla="*/ 103 h 320"/>
                <a:gd name="T6" fmla="*/ 590 w 594"/>
                <a:gd name="T7" fmla="*/ 75 h 320"/>
                <a:gd name="T8" fmla="*/ 571 w 594"/>
                <a:gd name="T9" fmla="*/ 52 h 320"/>
                <a:gd name="T10" fmla="*/ 540 w 594"/>
                <a:gd name="T11" fmla="*/ 33 h 320"/>
                <a:gd name="T12" fmla="*/ 498 w 594"/>
                <a:gd name="T13" fmla="*/ 18 h 320"/>
                <a:gd name="T14" fmla="*/ 446 w 594"/>
                <a:gd name="T15" fmla="*/ 8 h 320"/>
                <a:gd name="T16" fmla="*/ 391 w 594"/>
                <a:gd name="T17" fmla="*/ 2 h 320"/>
                <a:gd name="T18" fmla="*/ 329 w 594"/>
                <a:gd name="T19" fmla="*/ 0 h 320"/>
                <a:gd name="T20" fmla="*/ 265 w 594"/>
                <a:gd name="T21" fmla="*/ 2 h 320"/>
                <a:gd name="T22" fmla="*/ 203 w 594"/>
                <a:gd name="T23" fmla="*/ 5 h 320"/>
                <a:gd name="T24" fmla="*/ 148 w 594"/>
                <a:gd name="T25" fmla="*/ 11 h 320"/>
                <a:gd name="T26" fmla="*/ 96 w 594"/>
                <a:gd name="T27" fmla="*/ 21 h 320"/>
                <a:gd name="T28" fmla="*/ 54 w 594"/>
                <a:gd name="T29" fmla="*/ 34 h 320"/>
                <a:gd name="T30" fmla="*/ 23 w 594"/>
                <a:gd name="T31" fmla="*/ 53 h 320"/>
                <a:gd name="T32" fmla="*/ 4 w 594"/>
                <a:gd name="T33" fmla="*/ 75 h 320"/>
                <a:gd name="T34" fmla="*/ 0 w 594"/>
                <a:gd name="T35" fmla="*/ 103 h 320"/>
                <a:gd name="T36" fmla="*/ 10 w 594"/>
                <a:gd name="T37" fmla="*/ 147 h 320"/>
                <a:gd name="T38" fmla="*/ 16 w 594"/>
                <a:gd name="T39" fmla="*/ 231 h 320"/>
                <a:gd name="T40" fmla="*/ 22 w 594"/>
                <a:gd name="T41" fmla="*/ 279 h 320"/>
                <a:gd name="T42" fmla="*/ 39 w 594"/>
                <a:gd name="T43" fmla="*/ 288 h 320"/>
                <a:gd name="T44" fmla="*/ 95 w 594"/>
                <a:gd name="T45" fmla="*/ 303 h 320"/>
                <a:gd name="T46" fmla="*/ 172 w 594"/>
                <a:gd name="T47" fmla="*/ 313 h 320"/>
                <a:gd name="T48" fmla="*/ 244 w 594"/>
                <a:gd name="T49" fmla="*/ 319 h 320"/>
                <a:gd name="T50" fmla="*/ 310 w 594"/>
                <a:gd name="T51" fmla="*/ 320 h 320"/>
                <a:gd name="T52" fmla="*/ 367 w 594"/>
                <a:gd name="T53" fmla="*/ 317 h 320"/>
                <a:gd name="T54" fmla="*/ 416 w 594"/>
                <a:gd name="T55" fmla="*/ 311 h 320"/>
                <a:gd name="T56" fmla="*/ 457 w 594"/>
                <a:gd name="T57" fmla="*/ 306 h 320"/>
                <a:gd name="T58" fmla="*/ 489 w 594"/>
                <a:gd name="T59" fmla="*/ 298 h 320"/>
                <a:gd name="T60" fmla="*/ 511 w 594"/>
                <a:gd name="T61" fmla="*/ 292 h 320"/>
                <a:gd name="T62" fmla="*/ 530 w 594"/>
                <a:gd name="T63" fmla="*/ 288 h 320"/>
                <a:gd name="T64" fmla="*/ 550 w 594"/>
                <a:gd name="T65" fmla="*/ 284 h 320"/>
                <a:gd name="T66" fmla="*/ 569 w 594"/>
                <a:gd name="T67" fmla="*/ 276 h 320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594"/>
                <a:gd name="T103" fmla="*/ 0 h 320"/>
                <a:gd name="T104" fmla="*/ 594 w 594"/>
                <a:gd name="T105" fmla="*/ 320 h 320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594" h="320">
                  <a:moveTo>
                    <a:pt x="578" y="272"/>
                  </a:moveTo>
                  <a:lnTo>
                    <a:pt x="578" y="231"/>
                  </a:lnTo>
                  <a:lnTo>
                    <a:pt x="580" y="187"/>
                  </a:lnTo>
                  <a:lnTo>
                    <a:pt x="584" y="147"/>
                  </a:lnTo>
                  <a:lnTo>
                    <a:pt x="590" y="119"/>
                  </a:lnTo>
                  <a:lnTo>
                    <a:pt x="594" y="103"/>
                  </a:lnTo>
                  <a:lnTo>
                    <a:pt x="594" y="88"/>
                  </a:lnTo>
                  <a:lnTo>
                    <a:pt x="590" y="75"/>
                  </a:lnTo>
                  <a:lnTo>
                    <a:pt x="583" y="62"/>
                  </a:lnTo>
                  <a:lnTo>
                    <a:pt x="571" y="52"/>
                  </a:lnTo>
                  <a:lnTo>
                    <a:pt x="556" y="41"/>
                  </a:lnTo>
                  <a:lnTo>
                    <a:pt x="540" y="33"/>
                  </a:lnTo>
                  <a:lnTo>
                    <a:pt x="520" y="24"/>
                  </a:lnTo>
                  <a:lnTo>
                    <a:pt x="498" y="18"/>
                  </a:lnTo>
                  <a:lnTo>
                    <a:pt x="473" y="12"/>
                  </a:lnTo>
                  <a:lnTo>
                    <a:pt x="446" y="8"/>
                  </a:lnTo>
                  <a:lnTo>
                    <a:pt x="419" y="5"/>
                  </a:lnTo>
                  <a:lnTo>
                    <a:pt x="391" y="2"/>
                  </a:lnTo>
                  <a:lnTo>
                    <a:pt x="360" y="0"/>
                  </a:lnTo>
                  <a:lnTo>
                    <a:pt x="329" y="0"/>
                  </a:lnTo>
                  <a:lnTo>
                    <a:pt x="297" y="0"/>
                  </a:lnTo>
                  <a:lnTo>
                    <a:pt x="265" y="2"/>
                  </a:lnTo>
                  <a:lnTo>
                    <a:pt x="234" y="3"/>
                  </a:lnTo>
                  <a:lnTo>
                    <a:pt x="203" y="5"/>
                  </a:lnTo>
                  <a:lnTo>
                    <a:pt x="175" y="8"/>
                  </a:lnTo>
                  <a:lnTo>
                    <a:pt x="148" y="11"/>
                  </a:lnTo>
                  <a:lnTo>
                    <a:pt x="121" y="15"/>
                  </a:lnTo>
                  <a:lnTo>
                    <a:pt x="96" y="21"/>
                  </a:lnTo>
                  <a:lnTo>
                    <a:pt x="74" y="27"/>
                  </a:lnTo>
                  <a:lnTo>
                    <a:pt x="54" y="34"/>
                  </a:lnTo>
                  <a:lnTo>
                    <a:pt x="38" y="43"/>
                  </a:lnTo>
                  <a:lnTo>
                    <a:pt x="23" y="53"/>
                  </a:lnTo>
                  <a:lnTo>
                    <a:pt x="11" y="63"/>
                  </a:lnTo>
                  <a:lnTo>
                    <a:pt x="4" y="75"/>
                  </a:lnTo>
                  <a:lnTo>
                    <a:pt x="0" y="88"/>
                  </a:lnTo>
                  <a:lnTo>
                    <a:pt x="0" y="103"/>
                  </a:lnTo>
                  <a:lnTo>
                    <a:pt x="4" y="119"/>
                  </a:lnTo>
                  <a:lnTo>
                    <a:pt x="10" y="147"/>
                  </a:lnTo>
                  <a:lnTo>
                    <a:pt x="14" y="187"/>
                  </a:lnTo>
                  <a:lnTo>
                    <a:pt x="16" y="231"/>
                  </a:lnTo>
                  <a:lnTo>
                    <a:pt x="14" y="272"/>
                  </a:lnTo>
                  <a:lnTo>
                    <a:pt x="22" y="279"/>
                  </a:lnTo>
                  <a:lnTo>
                    <a:pt x="29" y="284"/>
                  </a:lnTo>
                  <a:lnTo>
                    <a:pt x="39" y="288"/>
                  </a:lnTo>
                  <a:lnTo>
                    <a:pt x="52" y="294"/>
                  </a:lnTo>
                  <a:lnTo>
                    <a:pt x="95" y="303"/>
                  </a:lnTo>
                  <a:lnTo>
                    <a:pt x="134" y="308"/>
                  </a:lnTo>
                  <a:lnTo>
                    <a:pt x="172" y="313"/>
                  </a:lnTo>
                  <a:lnTo>
                    <a:pt x="209" y="317"/>
                  </a:lnTo>
                  <a:lnTo>
                    <a:pt x="244" y="319"/>
                  </a:lnTo>
                  <a:lnTo>
                    <a:pt x="278" y="320"/>
                  </a:lnTo>
                  <a:lnTo>
                    <a:pt x="310" y="320"/>
                  </a:lnTo>
                  <a:lnTo>
                    <a:pt x="339" y="319"/>
                  </a:lnTo>
                  <a:lnTo>
                    <a:pt x="367" y="317"/>
                  </a:lnTo>
                  <a:lnTo>
                    <a:pt x="392" y="314"/>
                  </a:lnTo>
                  <a:lnTo>
                    <a:pt x="416" y="311"/>
                  </a:lnTo>
                  <a:lnTo>
                    <a:pt x="438" y="308"/>
                  </a:lnTo>
                  <a:lnTo>
                    <a:pt x="457" y="306"/>
                  </a:lnTo>
                  <a:lnTo>
                    <a:pt x="473" y="301"/>
                  </a:lnTo>
                  <a:lnTo>
                    <a:pt x="489" y="298"/>
                  </a:lnTo>
                  <a:lnTo>
                    <a:pt x="501" y="294"/>
                  </a:lnTo>
                  <a:lnTo>
                    <a:pt x="511" y="292"/>
                  </a:lnTo>
                  <a:lnTo>
                    <a:pt x="520" y="291"/>
                  </a:lnTo>
                  <a:lnTo>
                    <a:pt x="530" y="288"/>
                  </a:lnTo>
                  <a:lnTo>
                    <a:pt x="540" y="286"/>
                  </a:lnTo>
                  <a:lnTo>
                    <a:pt x="550" y="284"/>
                  </a:lnTo>
                  <a:lnTo>
                    <a:pt x="559" y="279"/>
                  </a:lnTo>
                  <a:lnTo>
                    <a:pt x="569" y="276"/>
                  </a:lnTo>
                  <a:lnTo>
                    <a:pt x="578" y="272"/>
                  </a:lnTo>
                  <a:close/>
                </a:path>
              </a:pathLst>
            </a:custGeom>
            <a:solidFill>
              <a:srgbClr val="A37A68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457200"/>
              <a:endParaRPr lang="en-US">
                <a:solidFill>
                  <a:srgbClr val="001C3D"/>
                </a:solidFill>
                <a:latin typeface="Calibri"/>
              </a:endParaRPr>
            </a:p>
          </p:txBody>
        </p:sp>
        <p:sp>
          <p:nvSpPr>
            <p:cNvPr id="36" name="Freeform 39">
              <a:extLst>
                <a:ext uri="{FF2B5EF4-FFF2-40B4-BE49-F238E27FC236}">
                  <a16:creationId xmlns:a16="http://schemas.microsoft.com/office/drawing/2014/main" id="{F042C97A-859E-4F3E-FA0D-FC8549B2E590}"/>
                </a:ext>
              </a:extLst>
            </p:cNvPr>
            <p:cNvSpPr>
              <a:spLocks/>
            </p:cNvSpPr>
            <p:nvPr/>
          </p:nvSpPr>
          <p:spPr bwMode="auto">
            <a:xfrm>
              <a:off x="4180" y="2340"/>
              <a:ext cx="786" cy="1147"/>
            </a:xfrm>
            <a:custGeom>
              <a:avLst/>
              <a:gdLst>
                <a:gd name="T0" fmla="*/ 665 w 786"/>
                <a:gd name="T1" fmla="*/ 4 h 1147"/>
                <a:gd name="T2" fmla="*/ 646 w 786"/>
                <a:gd name="T3" fmla="*/ 12 h 1147"/>
                <a:gd name="T4" fmla="*/ 626 w 786"/>
                <a:gd name="T5" fmla="*/ 16 h 1147"/>
                <a:gd name="T6" fmla="*/ 607 w 786"/>
                <a:gd name="T7" fmla="*/ 20 h 1147"/>
                <a:gd name="T8" fmla="*/ 585 w 786"/>
                <a:gd name="T9" fmla="*/ 26 h 1147"/>
                <a:gd name="T10" fmla="*/ 553 w 786"/>
                <a:gd name="T11" fmla="*/ 34 h 1147"/>
                <a:gd name="T12" fmla="*/ 512 w 786"/>
                <a:gd name="T13" fmla="*/ 39 h 1147"/>
                <a:gd name="T14" fmla="*/ 463 w 786"/>
                <a:gd name="T15" fmla="*/ 45 h 1147"/>
                <a:gd name="T16" fmla="*/ 406 w 786"/>
                <a:gd name="T17" fmla="*/ 48 h 1147"/>
                <a:gd name="T18" fmla="*/ 340 w 786"/>
                <a:gd name="T19" fmla="*/ 47 h 1147"/>
                <a:gd name="T20" fmla="*/ 268 w 786"/>
                <a:gd name="T21" fmla="*/ 41 h 1147"/>
                <a:gd name="T22" fmla="*/ 191 w 786"/>
                <a:gd name="T23" fmla="*/ 31 h 1147"/>
                <a:gd name="T24" fmla="*/ 135 w 786"/>
                <a:gd name="T25" fmla="*/ 16 h 1147"/>
                <a:gd name="T26" fmla="*/ 118 w 786"/>
                <a:gd name="T27" fmla="*/ 7 h 1147"/>
                <a:gd name="T28" fmla="*/ 82 w 786"/>
                <a:gd name="T29" fmla="*/ 13 h 1147"/>
                <a:gd name="T30" fmla="*/ 41 w 786"/>
                <a:gd name="T31" fmla="*/ 44 h 1147"/>
                <a:gd name="T32" fmla="*/ 17 w 786"/>
                <a:gd name="T33" fmla="*/ 78 h 1147"/>
                <a:gd name="T34" fmla="*/ 5 w 786"/>
                <a:gd name="T35" fmla="*/ 107 h 1147"/>
                <a:gd name="T36" fmla="*/ 2 w 786"/>
                <a:gd name="T37" fmla="*/ 295 h 1147"/>
                <a:gd name="T38" fmla="*/ 0 w 786"/>
                <a:gd name="T39" fmla="*/ 796 h 1147"/>
                <a:gd name="T40" fmla="*/ 6 w 786"/>
                <a:gd name="T41" fmla="*/ 980 h 1147"/>
                <a:gd name="T42" fmla="*/ 22 w 786"/>
                <a:gd name="T43" fmla="*/ 1012 h 1147"/>
                <a:gd name="T44" fmla="*/ 52 w 786"/>
                <a:gd name="T45" fmla="*/ 1044 h 1147"/>
                <a:gd name="T46" fmla="*/ 94 w 786"/>
                <a:gd name="T47" fmla="*/ 1074 h 1147"/>
                <a:gd name="T48" fmla="*/ 147 w 786"/>
                <a:gd name="T49" fmla="*/ 1100 h 1147"/>
                <a:gd name="T50" fmla="*/ 208 w 786"/>
                <a:gd name="T51" fmla="*/ 1122 h 1147"/>
                <a:gd name="T52" fmla="*/ 277 w 786"/>
                <a:gd name="T53" fmla="*/ 1138 h 1147"/>
                <a:gd name="T54" fmla="*/ 353 w 786"/>
                <a:gd name="T55" fmla="*/ 1146 h 1147"/>
                <a:gd name="T56" fmla="*/ 433 w 786"/>
                <a:gd name="T57" fmla="*/ 1146 h 1147"/>
                <a:gd name="T58" fmla="*/ 507 w 786"/>
                <a:gd name="T59" fmla="*/ 1138 h 1147"/>
                <a:gd name="T60" fmla="*/ 576 w 786"/>
                <a:gd name="T61" fmla="*/ 1122 h 1147"/>
                <a:gd name="T62" fmla="*/ 638 w 786"/>
                <a:gd name="T63" fmla="*/ 1100 h 1147"/>
                <a:gd name="T64" fmla="*/ 690 w 786"/>
                <a:gd name="T65" fmla="*/ 1074 h 1147"/>
                <a:gd name="T66" fmla="*/ 733 w 786"/>
                <a:gd name="T67" fmla="*/ 1044 h 1147"/>
                <a:gd name="T68" fmla="*/ 764 w 786"/>
                <a:gd name="T69" fmla="*/ 1012 h 1147"/>
                <a:gd name="T70" fmla="*/ 780 w 786"/>
                <a:gd name="T71" fmla="*/ 980 h 1147"/>
                <a:gd name="T72" fmla="*/ 786 w 786"/>
                <a:gd name="T73" fmla="*/ 796 h 1147"/>
                <a:gd name="T74" fmla="*/ 784 w 786"/>
                <a:gd name="T75" fmla="*/ 295 h 1147"/>
                <a:gd name="T76" fmla="*/ 781 w 786"/>
                <a:gd name="T77" fmla="*/ 107 h 1147"/>
                <a:gd name="T78" fmla="*/ 769 w 786"/>
                <a:gd name="T79" fmla="*/ 78 h 1147"/>
                <a:gd name="T80" fmla="*/ 745 w 786"/>
                <a:gd name="T81" fmla="*/ 44 h 1147"/>
                <a:gd name="T82" fmla="*/ 702 w 786"/>
                <a:gd name="T83" fmla="*/ 13 h 1147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786"/>
                <a:gd name="T127" fmla="*/ 0 h 1147"/>
                <a:gd name="T128" fmla="*/ 786 w 786"/>
                <a:gd name="T129" fmla="*/ 1147 h 1147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786" h="1147">
                  <a:moveTo>
                    <a:pt x="674" y="0"/>
                  </a:moveTo>
                  <a:lnTo>
                    <a:pt x="665" y="4"/>
                  </a:lnTo>
                  <a:lnTo>
                    <a:pt x="655" y="7"/>
                  </a:lnTo>
                  <a:lnTo>
                    <a:pt x="646" y="12"/>
                  </a:lnTo>
                  <a:lnTo>
                    <a:pt x="636" y="14"/>
                  </a:lnTo>
                  <a:lnTo>
                    <a:pt x="626" y="16"/>
                  </a:lnTo>
                  <a:lnTo>
                    <a:pt x="616" y="19"/>
                  </a:lnTo>
                  <a:lnTo>
                    <a:pt x="607" y="20"/>
                  </a:lnTo>
                  <a:lnTo>
                    <a:pt x="597" y="22"/>
                  </a:lnTo>
                  <a:lnTo>
                    <a:pt x="585" y="26"/>
                  </a:lnTo>
                  <a:lnTo>
                    <a:pt x="569" y="29"/>
                  </a:lnTo>
                  <a:lnTo>
                    <a:pt x="553" y="34"/>
                  </a:lnTo>
                  <a:lnTo>
                    <a:pt x="534" y="36"/>
                  </a:lnTo>
                  <a:lnTo>
                    <a:pt x="512" y="39"/>
                  </a:lnTo>
                  <a:lnTo>
                    <a:pt x="488" y="42"/>
                  </a:lnTo>
                  <a:lnTo>
                    <a:pt x="463" y="45"/>
                  </a:lnTo>
                  <a:lnTo>
                    <a:pt x="435" y="47"/>
                  </a:lnTo>
                  <a:lnTo>
                    <a:pt x="406" y="48"/>
                  </a:lnTo>
                  <a:lnTo>
                    <a:pt x="374" y="48"/>
                  </a:lnTo>
                  <a:lnTo>
                    <a:pt x="340" y="47"/>
                  </a:lnTo>
                  <a:lnTo>
                    <a:pt x="305" y="45"/>
                  </a:lnTo>
                  <a:lnTo>
                    <a:pt x="268" y="41"/>
                  </a:lnTo>
                  <a:lnTo>
                    <a:pt x="230" y="36"/>
                  </a:lnTo>
                  <a:lnTo>
                    <a:pt x="191" y="31"/>
                  </a:lnTo>
                  <a:lnTo>
                    <a:pt x="148" y="22"/>
                  </a:lnTo>
                  <a:lnTo>
                    <a:pt x="135" y="16"/>
                  </a:lnTo>
                  <a:lnTo>
                    <a:pt x="125" y="12"/>
                  </a:lnTo>
                  <a:lnTo>
                    <a:pt x="118" y="7"/>
                  </a:lnTo>
                  <a:lnTo>
                    <a:pt x="110" y="0"/>
                  </a:lnTo>
                  <a:lnTo>
                    <a:pt x="82" y="13"/>
                  </a:lnTo>
                  <a:lnTo>
                    <a:pt x="60" y="28"/>
                  </a:lnTo>
                  <a:lnTo>
                    <a:pt x="41" y="44"/>
                  </a:lnTo>
                  <a:lnTo>
                    <a:pt x="27" y="61"/>
                  </a:lnTo>
                  <a:lnTo>
                    <a:pt x="17" y="78"/>
                  </a:lnTo>
                  <a:lnTo>
                    <a:pt x="9" y="94"/>
                  </a:lnTo>
                  <a:lnTo>
                    <a:pt x="5" y="107"/>
                  </a:lnTo>
                  <a:lnTo>
                    <a:pt x="3" y="119"/>
                  </a:lnTo>
                  <a:lnTo>
                    <a:pt x="2" y="295"/>
                  </a:lnTo>
                  <a:lnTo>
                    <a:pt x="0" y="547"/>
                  </a:lnTo>
                  <a:lnTo>
                    <a:pt x="0" y="796"/>
                  </a:lnTo>
                  <a:lnTo>
                    <a:pt x="3" y="964"/>
                  </a:lnTo>
                  <a:lnTo>
                    <a:pt x="6" y="980"/>
                  </a:lnTo>
                  <a:lnTo>
                    <a:pt x="12" y="996"/>
                  </a:lnTo>
                  <a:lnTo>
                    <a:pt x="22" y="1012"/>
                  </a:lnTo>
                  <a:lnTo>
                    <a:pt x="36" y="1028"/>
                  </a:lnTo>
                  <a:lnTo>
                    <a:pt x="52" y="1044"/>
                  </a:lnTo>
                  <a:lnTo>
                    <a:pt x="72" y="1059"/>
                  </a:lnTo>
                  <a:lnTo>
                    <a:pt x="94" y="1074"/>
                  </a:lnTo>
                  <a:lnTo>
                    <a:pt x="119" y="1088"/>
                  </a:lnTo>
                  <a:lnTo>
                    <a:pt x="147" y="1100"/>
                  </a:lnTo>
                  <a:lnTo>
                    <a:pt x="176" y="1112"/>
                  </a:lnTo>
                  <a:lnTo>
                    <a:pt x="208" y="1122"/>
                  </a:lnTo>
                  <a:lnTo>
                    <a:pt x="242" y="1131"/>
                  </a:lnTo>
                  <a:lnTo>
                    <a:pt x="277" y="1138"/>
                  </a:lnTo>
                  <a:lnTo>
                    <a:pt x="314" y="1143"/>
                  </a:lnTo>
                  <a:lnTo>
                    <a:pt x="353" y="1146"/>
                  </a:lnTo>
                  <a:lnTo>
                    <a:pt x="393" y="1147"/>
                  </a:lnTo>
                  <a:lnTo>
                    <a:pt x="433" y="1146"/>
                  </a:lnTo>
                  <a:lnTo>
                    <a:pt x="471" y="1143"/>
                  </a:lnTo>
                  <a:lnTo>
                    <a:pt x="507" y="1138"/>
                  </a:lnTo>
                  <a:lnTo>
                    <a:pt x="542" y="1131"/>
                  </a:lnTo>
                  <a:lnTo>
                    <a:pt x="576" y="1122"/>
                  </a:lnTo>
                  <a:lnTo>
                    <a:pt x="608" y="1112"/>
                  </a:lnTo>
                  <a:lnTo>
                    <a:pt x="638" y="1100"/>
                  </a:lnTo>
                  <a:lnTo>
                    <a:pt x="665" y="1088"/>
                  </a:lnTo>
                  <a:lnTo>
                    <a:pt x="690" y="1074"/>
                  </a:lnTo>
                  <a:lnTo>
                    <a:pt x="712" y="1059"/>
                  </a:lnTo>
                  <a:lnTo>
                    <a:pt x="733" y="1044"/>
                  </a:lnTo>
                  <a:lnTo>
                    <a:pt x="749" y="1028"/>
                  </a:lnTo>
                  <a:lnTo>
                    <a:pt x="764" y="1012"/>
                  </a:lnTo>
                  <a:lnTo>
                    <a:pt x="774" y="996"/>
                  </a:lnTo>
                  <a:lnTo>
                    <a:pt x="780" y="980"/>
                  </a:lnTo>
                  <a:lnTo>
                    <a:pt x="783" y="964"/>
                  </a:lnTo>
                  <a:lnTo>
                    <a:pt x="786" y="796"/>
                  </a:lnTo>
                  <a:lnTo>
                    <a:pt x="786" y="547"/>
                  </a:lnTo>
                  <a:lnTo>
                    <a:pt x="784" y="295"/>
                  </a:lnTo>
                  <a:lnTo>
                    <a:pt x="783" y="119"/>
                  </a:lnTo>
                  <a:lnTo>
                    <a:pt x="781" y="107"/>
                  </a:lnTo>
                  <a:lnTo>
                    <a:pt x="777" y="94"/>
                  </a:lnTo>
                  <a:lnTo>
                    <a:pt x="769" y="78"/>
                  </a:lnTo>
                  <a:lnTo>
                    <a:pt x="759" y="61"/>
                  </a:lnTo>
                  <a:lnTo>
                    <a:pt x="745" y="44"/>
                  </a:lnTo>
                  <a:lnTo>
                    <a:pt x="726" y="28"/>
                  </a:lnTo>
                  <a:lnTo>
                    <a:pt x="702" y="13"/>
                  </a:lnTo>
                  <a:lnTo>
                    <a:pt x="674" y="0"/>
                  </a:lnTo>
                  <a:close/>
                </a:path>
              </a:pathLst>
            </a:custGeom>
            <a:solidFill>
              <a:srgbClr val="6099BA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457200"/>
              <a:endParaRPr lang="en-US">
                <a:solidFill>
                  <a:srgbClr val="001C3D"/>
                </a:solidFill>
                <a:latin typeface="Calibri"/>
              </a:endParaRPr>
            </a:p>
          </p:txBody>
        </p:sp>
        <p:sp>
          <p:nvSpPr>
            <p:cNvPr id="37" name="Freeform 40">
              <a:extLst>
                <a:ext uri="{FF2B5EF4-FFF2-40B4-BE49-F238E27FC236}">
                  <a16:creationId xmlns:a16="http://schemas.microsoft.com/office/drawing/2014/main" id="{9CAFA06D-5520-9AB1-D112-436D5933F61E}"/>
                </a:ext>
              </a:extLst>
            </p:cNvPr>
            <p:cNvSpPr>
              <a:spLocks/>
            </p:cNvSpPr>
            <p:nvPr/>
          </p:nvSpPr>
          <p:spPr bwMode="auto">
            <a:xfrm>
              <a:off x="4314" y="2195"/>
              <a:ext cx="482" cy="164"/>
            </a:xfrm>
            <a:custGeom>
              <a:avLst/>
              <a:gdLst>
                <a:gd name="T0" fmla="*/ 447 w 482"/>
                <a:gd name="T1" fmla="*/ 149 h 164"/>
                <a:gd name="T2" fmla="*/ 370 w 482"/>
                <a:gd name="T3" fmla="*/ 159 h 164"/>
                <a:gd name="T4" fmla="*/ 274 w 482"/>
                <a:gd name="T5" fmla="*/ 164 h 164"/>
                <a:gd name="T6" fmla="*/ 168 w 482"/>
                <a:gd name="T7" fmla="*/ 161 h 164"/>
                <a:gd name="T8" fmla="*/ 66 w 482"/>
                <a:gd name="T9" fmla="*/ 145 h 164"/>
                <a:gd name="T10" fmla="*/ 7 w 482"/>
                <a:gd name="T11" fmla="*/ 104 h 164"/>
                <a:gd name="T12" fmla="*/ 0 w 482"/>
                <a:gd name="T13" fmla="*/ 0 h 164"/>
                <a:gd name="T14" fmla="*/ 48 w 482"/>
                <a:gd name="T15" fmla="*/ 10 h 164"/>
                <a:gd name="T16" fmla="*/ 115 w 482"/>
                <a:gd name="T17" fmla="*/ 23 h 164"/>
                <a:gd name="T18" fmla="*/ 203 w 482"/>
                <a:gd name="T19" fmla="*/ 32 h 164"/>
                <a:gd name="T20" fmla="*/ 307 w 482"/>
                <a:gd name="T21" fmla="*/ 32 h 164"/>
                <a:gd name="T22" fmla="*/ 427 w 482"/>
                <a:gd name="T23" fmla="*/ 16 h 164"/>
                <a:gd name="T24" fmla="*/ 445 w 482"/>
                <a:gd name="T25" fmla="*/ 16 h 164"/>
                <a:gd name="T26" fmla="*/ 388 w 482"/>
                <a:gd name="T27" fmla="*/ 29 h 164"/>
                <a:gd name="T28" fmla="*/ 312 w 482"/>
                <a:gd name="T29" fmla="*/ 39 h 164"/>
                <a:gd name="T30" fmla="*/ 221 w 482"/>
                <a:gd name="T31" fmla="*/ 48 h 164"/>
                <a:gd name="T32" fmla="*/ 123 w 482"/>
                <a:gd name="T33" fmla="*/ 49 h 164"/>
                <a:gd name="T34" fmla="*/ 74 w 482"/>
                <a:gd name="T35" fmla="*/ 51 h 164"/>
                <a:gd name="T36" fmla="*/ 143 w 482"/>
                <a:gd name="T37" fmla="*/ 61 h 164"/>
                <a:gd name="T38" fmla="*/ 225 w 482"/>
                <a:gd name="T39" fmla="*/ 67 h 164"/>
                <a:gd name="T40" fmla="*/ 313 w 482"/>
                <a:gd name="T41" fmla="*/ 66 h 164"/>
                <a:gd name="T42" fmla="*/ 398 w 482"/>
                <a:gd name="T43" fmla="*/ 58 h 164"/>
                <a:gd name="T44" fmla="*/ 474 w 482"/>
                <a:gd name="T45" fmla="*/ 45 h 164"/>
                <a:gd name="T46" fmla="*/ 429 w 482"/>
                <a:gd name="T47" fmla="*/ 61 h 164"/>
                <a:gd name="T48" fmla="*/ 353 w 482"/>
                <a:gd name="T49" fmla="*/ 76 h 164"/>
                <a:gd name="T50" fmla="*/ 262 w 482"/>
                <a:gd name="T51" fmla="*/ 86 h 164"/>
                <a:gd name="T52" fmla="*/ 170 w 482"/>
                <a:gd name="T53" fmla="*/ 89 h 164"/>
                <a:gd name="T54" fmla="*/ 89 w 482"/>
                <a:gd name="T55" fmla="*/ 85 h 164"/>
                <a:gd name="T56" fmla="*/ 108 w 482"/>
                <a:gd name="T57" fmla="*/ 92 h 164"/>
                <a:gd name="T58" fmla="*/ 175 w 482"/>
                <a:gd name="T59" fmla="*/ 104 h 164"/>
                <a:gd name="T60" fmla="*/ 253 w 482"/>
                <a:gd name="T61" fmla="*/ 108 h 164"/>
                <a:gd name="T62" fmla="*/ 334 w 482"/>
                <a:gd name="T63" fmla="*/ 108 h 164"/>
                <a:gd name="T64" fmla="*/ 417 w 482"/>
                <a:gd name="T65" fmla="*/ 101 h 164"/>
                <a:gd name="T66" fmla="*/ 458 w 482"/>
                <a:gd name="T67" fmla="*/ 96 h 164"/>
                <a:gd name="T68" fmla="*/ 410 w 482"/>
                <a:gd name="T69" fmla="*/ 110 h 164"/>
                <a:gd name="T70" fmla="*/ 345 w 482"/>
                <a:gd name="T71" fmla="*/ 121 h 164"/>
                <a:gd name="T72" fmla="*/ 271 w 482"/>
                <a:gd name="T73" fmla="*/ 130 h 164"/>
                <a:gd name="T74" fmla="*/ 183 w 482"/>
                <a:gd name="T75" fmla="*/ 130 h 164"/>
                <a:gd name="T76" fmla="*/ 86 w 482"/>
                <a:gd name="T77" fmla="*/ 118 h 164"/>
                <a:gd name="T78" fmla="*/ 126 w 482"/>
                <a:gd name="T79" fmla="*/ 127 h 164"/>
                <a:gd name="T80" fmla="*/ 187 w 482"/>
                <a:gd name="T81" fmla="*/ 137 h 164"/>
                <a:gd name="T82" fmla="*/ 265 w 482"/>
                <a:gd name="T83" fmla="*/ 146 h 164"/>
                <a:gd name="T84" fmla="*/ 354 w 482"/>
                <a:gd name="T85" fmla="*/ 148 h 164"/>
                <a:gd name="T86" fmla="*/ 449 w 482"/>
                <a:gd name="T87" fmla="*/ 143 h 164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482"/>
                <a:gd name="T133" fmla="*/ 0 h 164"/>
                <a:gd name="T134" fmla="*/ 482 w 482"/>
                <a:gd name="T135" fmla="*/ 164 h 164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482" h="164">
                  <a:moveTo>
                    <a:pt x="482" y="139"/>
                  </a:moveTo>
                  <a:lnTo>
                    <a:pt x="467" y="145"/>
                  </a:lnTo>
                  <a:lnTo>
                    <a:pt x="447" y="149"/>
                  </a:lnTo>
                  <a:lnTo>
                    <a:pt x="425" y="154"/>
                  </a:lnTo>
                  <a:lnTo>
                    <a:pt x="398" y="157"/>
                  </a:lnTo>
                  <a:lnTo>
                    <a:pt x="370" y="159"/>
                  </a:lnTo>
                  <a:lnTo>
                    <a:pt x="340" y="162"/>
                  </a:lnTo>
                  <a:lnTo>
                    <a:pt x="307" y="164"/>
                  </a:lnTo>
                  <a:lnTo>
                    <a:pt x="274" y="164"/>
                  </a:lnTo>
                  <a:lnTo>
                    <a:pt x="238" y="164"/>
                  </a:lnTo>
                  <a:lnTo>
                    <a:pt x="203" y="162"/>
                  </a:lnTo>
                  <a:lnTo>
                    <a:pt x="168" y="161"/>
                  </a:lnTo>
                  <a:lnTo>
                    <a:pt x="133" y="157"/>
                  </a:lnTo>
                  <a:lnTo>
                    <a:pt x="99" y="152"/>
                  </a:lnTo>
                  <a:lnTo>
                    <a:pt x="66" y="145"/>
                  </a:lnTo>
                  <a:lnTo>
                    <a:pt x="33" y="137"/>
                  </a:lnTo>
                  <a:lnTo>
                    <a:pt x="4" y="129"/>
                  </a:lnTo>
                  <a:lnTo>
                    <a:pt x="7" y="104"/>
                  </a:lnTo>
                  <a:lnTo>
                    <a:pt x="7" y="73"/>
                  </a:lnTo>
                  <a:lnTo>
                    <a:pt x="4" y="38"/>
                  </a:lnTo>
                  <a:lnTo>
                    <a:pt x="0" y="0"/>
                  </a:lnTo>
                  <a:lnTo>
                    <a:pt x="13" y="2"/>
                  </a:lnTo>
                  <a:lnTo>
                    <a:pt x="29" y="7"/>
                  </a:lnTo>
                  <a:lnTo>
                    <a:pt x="48" y="10"/>
                  </a:lnTo>
                  <a:lnTo>
                    <a:pt x="69" y="14"/>
                  </a:lnTo>
                  <a:lnTo>
                    <a:pt x="91" y="19"/>
                  </a:lnTo>
                  <a:lnTo>
                    <a:pt x="115" y="23"/>
                  </a:lnTo>
                  <a:lnTo>
                    <a:pt x="143" y="26"/>
                  </a:lnTo>
                  <a:lnTo>
                    <a:pt x="173" y="29"/>
                  </a:lnTo>
                  <a:lnTo>
                    <a:pt x="203" y="32"/>
                  </a:lnTo>
                  <a:lnTo>
                    <a:pt x="236" y="33"/>
                  </a:lnTo>
                  <a:lnTo>
                    <a:pt x="271" y="33"/>
                  </a:lnTo>
                  <a:lnTo>
                    <a:pt x="307" y="32"/>
                  </a:lnTo>
                  <a:lnTo>
                    <a:pt x="345" y="29"/>
                  </a:lnTo>
                  <a:lnTo>
                    <a:pt x="385" y="23"/>
                  </a:lnTo>
                  <a:lnTo>
                    <a:pt x="427" y="16"/>
                  </a:lnTo>
                  <a:lnTo>
                    <a:pt x="470" y="7"/>
                  </a:lnTo>
                  <a:lnTo>
                    <a:pt x="460" y="11"/>
                  </a:lnTo>
                  <a:lnTo>
                    <a:pt x="445" y="16"/>
                  </a:lnTo>
                  <a:lnTo>
                    <a:pt x="429" y="20"/>
                  </a:lnTo>
                  <a:lnTo>
                    <a:pt x="410" y="25"/>
                  </a:lnTo>
                  <a:lnTo>
                    <a:pt x="388" y="29"/>
                  </a:lnTo>
                  <a:lnTo>
                    <a:pt x="364" y="33"/>
                  </a:lnTo>
                  <a:lnTo>
                    <a:pt x="338" y="36"/>
                  </a:lnTo>
                  <a:lnTo>
                    <a:pt x="312" y="39"/>
                  </a:lnTo>
                  <a:lnTo>
                    <a:pt x="282" y="44"/>
                  </a:lnTo>
                  <a:lnTo>
                    <a:pt x="252" y="45"/>
                  </a:lnTo>
                  <a:lnTo>
                    <a:pt x="221" y="48"/>
                  </a:lnTo>
                  <a:lnTo>
                    <a:pt x="189" y="49"/>
                  </a:lnTo>
                  <a:lnTo>
                    <a:pt x="156" y="49"/>
                  </a:lnTo>
                  <a:lnTo>
                    <a:pt x="123" y="49"/>
                  </a:lnTo>
                  <a:lnTo>
                    <a:pt x="91" y="48"/>
                  </a:lnTo>
                  <a:lnTo>
                    <a:pt x="57" y="47"/>
                  </a:lnTo>
                  <a:lnTo>
                    <a:pt x="74" y="51"/>
                  </a:lnTo>
                  <a:lnTo>
                    <a:pt x="95" y="55"/>
                  </a:lnTo>
                  <a:lnTo>
                    <a:pt x="118" y="58"/>
                  </a:lnTo>
                  <a:lnTo>
                    <a:pt x="143" y="61"/>
                  </a:lnTo>
                  <a:lnTo>
                    <a:pt x="170" y="64"/>
                  </a:lnTo>
                  <a:lnTo>
                    <a:pt x="196" y="66"/>
                  </a:lnTo>
                  <a:lnTo>
                    <a:pt x="225" y="67"/>
                  </a:lnTo>
                  <a:lnTo>
                    <a:pt x="255" y="67"/>
                  </a:lnTo>
                  <a:lnTo>
                    <a:pt x="284" y="67"/>
                  </a:lnTo>
                  <a:lnTo>
                    <a:pt x="313" y="66"/>
                  </a:lnTo>
                  <a:lnTo>
                    <a:pt x="343" y="64"/>
                  </a:lnTo>
                  <a:lnTo>
                    <a:pt x="370" y="61"/>
                  </a:lnTo>
                  <a:lnTo>
                    <a:pt x="398" y="58"/>
                  </a:lnTo>
                  <a:lnTo>
                    <a:pt x="426" y="55"/>
                  </a:lnTo>
                  <a:lnTo>
                    <a:pt x="451" y="51"/>
                  </a:lnTo>
                  <a:lnTo>
                    <a:pt x="474" y="45"/>
                  </a:lnTo>
                  <a:lnTo>
                    <a:pt x="464" y="51"/>
                  </a:lnTo>
                  <a:lnTo>
                    <a:pt x="448" y="55"/>
                  </a:lnTo>
                  <a:lnTo>
                    <a:pt x="429" y="61"/>
                  </a:lnTo>
                  <a:lnTo>
                    <a:pt x="407" y="66"/>
                  </a:lnTo>
                  <a:lnTo>
                    <a:pt x="381" y="71"/>
                  </a:lnTo>
                  <a:lnTo>
                    <a:pt x="353" y="76"/>
                  </a:lnTo>
                  <a:lnTo>
                    <a:pt x="323" y="79"/>
                  </a:lnTo>
                  <a:lnTo>
                    <a:pt x="294" y="83"/>
                  </a:lnTo>
                  <a:lnTo>
                    <a:pt x="262" y="86"/>
                  </a:lnTo>
                  <a:lnTo>
                    <a:pt x="231" y="88"/>
                  </a:lnTo>
                  <a:lnTo>
                    <a:pt x="199" y="89"/>
                  </a:lnTo>
                  <a:lnTo>
                    <a:pt x="170" y="89"/>
                  </a:lnTo>
                  <a:lnTo>
                    <a:pt x="140" y="89"/>
                  </a:lnTo>
                  <a:lnTo>
                    <a:pt x="114" y="88"/>
                  </a:lnTo>
                  <a:lnTo>
                    <a:pt x="89" y="85"/>
                  </a:lnTo>
                  <a:lnTo>
                    <a:pt x="69" y="82"/>
                  </a:lnTo>
                  <a:lnTo>
                    <a:pt x="88" y="88"/>
                  </a:lnTo>
                  <a:lnTo>
                    <a:pt x="108" y="92"/>
                  </a:lnTo>
                  <a:lnTo>
                    <a:pt x="129" y="96"/>
                  </a:lnTo>
                  <a:lnTo>
                    <a:pt x="152" y="99"/>
                  </a:lnTo>
                  <a:lnTo>
                    <a:pt x="175" y="104"/>
                  </a:lnTo>
                  <a:lnTo>
                    <a:pt x="200" y="105"/>
                  </a:lnTo>
                  <a:lnTo>
                    <a:pt x="227" y="108"/>
                  </a:lnTo>
                  <a:lnTo>
                    <a:pt x="253" y="108"/>
                  </a:lnTo>
                  <a:lnTo>
                    <a:pt x="280" y="110"/>
                  </a:lnTo>
                  <a:lnTo>
                    <a:pt x="306" y="110"/>
                  </a:lnTo>
                  <a:lnTo>
                    <a:pt x="334" y="108"/>
                  </a:lnTo>
                  <a:lnTo>
                    <a:pt x="362" y="107"/>
                  </a:lnTo>
                  <a:lnTo>
                    <a:pt x="389" y="104"/>
                  </a:lnTo>
                  <a:lnTo>
                    <a:pt x="417" y="101"/>
                  </a:lnTo>
                  <a:lnTo>
                    <a:pt x="444" y="96"/>
                  </a:lnTo>
                  <a:lnTo>
                    <a:pt x="471" y="92"/>
                  </a:lnTo>
                  <a:lnTo>
                    <a:pt x="458" y="96"/>
                  </a:lnTo>
                  <a:lnTo>
                    <a:pt x="444" y="99"/>
                  </a:lnTo>
                  <a:lnTo>
                    <a:pt x="427" y="105"/>
                  </a:lnTo>
                  <a:lnTo>
                    <a:pt x="410" y="110"/>
                  </a:lnTo>
                  <a:lnTo>
                    <a:pt x="389" y="114"/>
                  </a:lnTo>
                  <a:lnTo>
                    <a:pt x="369" y="118"/>
                  </a:lnTo>
                  <a:lnTo>
                    <a:pt x="345" y="121"/>
                  </a:lnTo>
                  <a:lnTo>
                    <a:pt x="322" y="126"/>
                  </a:lnTo>
                  <a:lnTo>
                    <a:pt x="297" y="129"/>
                  </a:lnTo>
                  <a:lnTo>
                    <a:pt x="271" y="130"/>
                  </a:lnTo>
                  <a:lnTo>
                    <a:pt x="243" y="132"/>
                  </a:lnTo>
                  <a:lnTo>
                    <a:pt x="214" y="132"/>
                  </a:lnTo>
                  <a:lnTo>
                    <a:pt x="183" y="130"/>
                  </a:lnTo>
                  <a:lnTo>
                    <a:pt x="152" y="129"/>
                  </a:lnTo>
                  <a:lnTo>
                    <a:pt x="120" y="124"/>
                  </a:lnTo>
                  <a:lnTo>
                    <a:pt x="86" y="118"/>
                  </a:lnTo>
                  <a:lnTo>
                    <a:pt x="96" y="121"/>
                  </a:lnTo>
                  <a:lnTo>
                    <a:pt x="110" y="124"/>
                  </a:lnTo>
                  <a:lnTo>
                    <a:pt x="126" y="127"/>
                  </a:lnTo>
                  <a:lnTo>
                    <a:pt x="143" y="132"/>
                  </a:lnTo>
                  <a:lnTo>
                    <a:pt x="164" y="135"/>
                  </a:lnTo>
                  <a:lnTo>
                    <a:pt x="187" y="137"/>
                  </a:lnTo>
                  <a:lnTo>
                    <a:pt x="212" y="140"/>
                  </a:lnTo>
                  <a:lnTo>
                    <a:pt x="238" y="143"/>
                  </a:lnTo>
                  <a:lnTo>
                    <a:pt x="265" y="146"/>
                  </a:lnTo>
                  <a:lnTo>
                    <a:pt x="294" y="148"/>
                  </a:lnTo>
                  <a:lnTo>
                    <a:pt x="323" y="148"/>
                  </a:lnTo>
                  <a:lnTo>
                    <a:pt x="354" y="148"/>
                  </a:lnTo>
                  <a:lnTo>
                    <a:pt x="386" y="148"/>
                  </a:lnTo>
                  <a:lnTo>
                    <a:pt x="417" y="146"/>
                  </a:lnTo>
                  <a:lnTo>
                    <a:pt x="449" y="143"/>
                  </a:lnTo>
                  <a:lnTo>
                    <a:pt x="482" y="139"/>
                  </a:lnTo>
                  <a:close/>
                </a:path>
              </a:pathLst>
            </a:custGeom>
            <a:solidFill>
              <a:srgbClr val="CCB7AD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457200"/>
              <a:endParaRPr lang="en-US">
                <a:solidFill>
                  <a:srgbClr val="001C3D"/>
                </a:solidFill>
                <a:latin typeface="Calibri"/>
              </a:endParaRPr>
            </a:p>
          </p:txBody>
        </p:sp>
        <p:sp>
          <p:nvSpPr>
            <p:cNvPr id="38" name="Freeform 41">
              <a:extLst>
                <a:ext uri="{FF2B5EF4-FFF2-40B4-BE49-F238E27FC236}">
                  <a16:creationId xmlns:a16="http://schemas.microsoft.com/office/drawing/2014/main" id="{9B93992C-D001-334C-98DD-E594FD038D4E}"/>
                </a:ext>
              </a:extLst>
            </p:cNvPr>
            <p:cNvSpPr>
              <a:spLocks/>
            </p:cNvSpPr>
            <p:nvPr/>
          </p:nvSpPr>
          <p:spPr bwMode="auto">
            <a:xfrm>
              <a:off x="4331" y="2098"/>
              <a:ext cx="487" cy="101"/>
            </a:xfrm>
            <a:custGeom>
              <a:avLst/>
              <a:gdLst>
                <a:gd name="T0" fmla="*/ 0 w 487"/>
                <a:gd name="T1" fmla="*/ 53 h 101"/>
                <a:gd name="T2" fmla="*/ 5 w 487"/>
                <a:gd name="T3" fmla="*/ 42 h 101"/>
                <a:gd name="T4" fmla="*/ 19 w 487"/>
                <a:gd name="T5" fmla="*/ 32 h 101"/>
                <a:gd name="T6" fmla="*/ 43 w 487"/>
                <a:gd name="T7" fmla="*/ 23 h 101"/>
                <a:gd name="T8" fmla="*/ 74 w 487"/>
                <a:gd name="T9" fmla="*/ 16 h 101"/>
                <a:gd name="T10" fmla="*/ 110 w 487"/>
                <a:gd name="T11" fmla="*/ 10 h 101"/>
                <a:gd name="T12" fmla="*/ 153 w 487"/>
                <a:gd name="T13" fmla="*/ 6 h 101"/>
                <a:gd name="T14" fmla="*/ 197 w 487"/>
                <a:gd name="T15" fmla="*/ 1 h 101"/>
                <a:gd name="T16" fmla="*/ 242 w 487"/>
                <a:gd name="T17" fmla="*/ 0 h 101"/>
                <a:gd name="T18" fmla="*/ 289 w 487"/>
                <a:gd name="T19" fmla="*/ 0 h 101"/>
                <a:gd name="T20" fmla="*/ 333 w 487"/>
                <a:gd name="T21" fmla="*/ 1 h 101"/>
                <a:gd name="T22" fmla="*/ 374 w 487"/>
                <a:gd name="T23" fmla="*/ 4 h 101"/>
                <a:gd name="T24" fmla="*/ 412 w 487"/>
                <a:gd name="T25" fmla="*/ 9 h 101"/>
                <a:gd name="T26" fmla="*/ 443 w 487"/>
                <a:gd name="T27" fmla="*/ 16 h 101"/>
                <a:gd name="T28" fmla="*/ 466 w 487"/>
                <a:gd name="T29" fmla="*/ 25 h 101"/>
                <a:gd name="T30" fmla="*/ 482 w 487"/>
                <a:gd name="T31" fmla="*/ 35 h 101"/>
                <a:gd name="T32" fmla="*/ 487 w 487"/>
                <a:gd name="T33" fmla="*/ 48 h 101"/>
                <a:gd name="T34" fmla="*/ 481 w 487"/>
                <a:gd name="T35" fmla="*/ 61 h 101"/>
                <a:gd name="T36" fmla="*/ 465 w 487"/>
                <a:gd name="T37" fmla="*/ 72 h 101"/>
                <a:gd name="T38" fmla="*/ 441 w 487"/>
                <a:gd name="T39" fmla="*/ 82 h 101"/>
                <a:gd name="T40" fmla="*/ 410 w 487"/>
                <a:gd name="T41" fmla="*/ 89 h 101"/>
                <a:gd name="T42" fmla="*/ 374 w 487"/>
                <a:gd name="T43" fmla="*/ 95 h 101"/>
                <a:gd name="T44" fmla="*/ 334 w 487"/>
                <a:gd name="T45" fmla="*/ 98 h 101"/>
                <a:gd name="T46" fmla="*/ 290 w 487"/>
                <a:gd name="T47" fmla="*/ 101 h 101"/>
                <a:gd name="T48" fmla="*/ 246 w 487"/>
                <a:gd name="T49" fmla="*/ 101 h 101"/>
                <a:gd name="T50" fmla="*/ 201 w 487"/>
                <a:gd name="T51" fmla="*/ 101 h 101"/>
                <a:gd name="T52" fmla="*/ 157 w 487"/>
                <a:gd name="T53" fmla="*/ 98 h 101"/>
                <a:gd name="T54" fmla="*/ 116 w 487"/>
                <a:gd name="T55" fmla="*/ 94 h 101"/>
                <a:gd name="T56" fmla="*/ 79 w 487"/>
                <a:gd name="T57" fmla="*/ 88 h 101"/>
                <a:gd name="T58" fmla="*/ 49 w 487"/>
                <a:gd name="T59" fmla="*/ 82 h 101"/>
                <a:gd name="T60" fmla="*/ 24 w 487"/>
                <a:gd name="T61" fmla="*/ 73 h 101"/>
                <a:gd name="T62" fmla="*/ 8 w 487"/>
                <a:gd name="T63" fmla="*/ 63 h 101"/>
                <a:gd name="T64" fmla="*/ 0 w 487"/>
                <a:gd name="T65" fmla="*/ 53 h 101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487"/>
                <a:gd name="T100" fmla="*/ 0 h 101"/>
                <a:gd name="T101" fmla="*/ 487 w 487"/>
                <a:gd name="T102" fmla="*/ 101 h 101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487" h="101">
                  <a:moveTo>
                    <a:pt x="0" y="53"/>
                  </a:moveTo>
                  <a:lnTo>
                    <a:pt x="5" y="42"/>
                  </a:lnTo>
                  <a:lnTo>
                    <a:pt x="19" y="32"/>
                  </a:lnTo>
                  <a:lnTo>
                    <a:pt x="43" y="23"/>
                  </a:lnTo>
                  <a:lnTo>
                    <a:pt x="74" y="16"/>
                  </a:lnTo>
                  <a:lnTo>
                    <a:pt x="110" y="10"/>
                  </a:lnTo>
                  <a:lnTo>
                    <a:pt x="153" y="6"/>
                  </a:lnTo>
                  <a:lnTo>
                    <a:pt x="197" y="1"/>
                  </a:lnTo>
                  <a:lnTo>
                    <a:pt x="242" y="0"/>
                  </a:lnTo>
                  <a:lnTo>
                    <a:pt x="289" y="0"/>
                  </a:lnTo>
                  <a:lnTo>
                    <a:pt x="333" y="1"/>
                  </a:lnTo>
                  <a:lnTo>
                    <a:pt x="374" y="4"/>
                  </a:lnTo>
                  <a:lnTo>
                    <a:pt x="412" y="9"/>
                  </a:lnTo>
                  <a:lnTo>
                    <a:pt x="443" y="16"/>
                  </a:lnTo>
                  <a:lnTo>
                    <a:pt x="466" y="25"/>
                  </a:lnTo>
                  <a:lnTo>
                    <a:pt x="482" y="35"/>
                  </a:lnTo>
                  <a:lnTo>
                    <a:pt x="487" y="48"/>
                  </a:lnTo>
                  <a:lnTo>
                    <a:pt x="481" y="61"/>
                  </a:lnTo>
                  <a:lnTo>
                    <a:pt x="465" y="72"/>
                  </a:lnTo>
                  <a:lnTo>
                    <a:pt x="441" y="82"/>
                  </a:lnTo>
                  <a:lnTo>
                    <a:pt x="410" y="89"/>
                  </a:lnTo>
                  <a:lnTo>
                    <a:pt x="374" y="95"/>
                  </a:lnTo>
                  <a:lnTo>
                    <a:pt x="334" y="98"/>
                  </a:lnTo>
                  <a:lnTo>
                    <a:pt x="290" y="101"/>
                  </a:lnTo>
                  <a:lnTo>
                    <a:pt x="246" y="101"/>
                  </a:lnTo>
                  <a:lnTo>
                    <a:pt x="201" y="101"/>
                  </a:lnTo>
                  <a:lnTo>
                    <a:pt x="157" y="98"/>
                  </a:lnTo>
                  <a:lnTo>
                    <a:pt x="116" y="94"/>
                  </a:lnTo>
                  <a:lnTo>
                    <a:pt x="79" y="88"/>
                  </a:lnTo>
                  <a:lnTo>
                    <a:pt x="49" y="82"/>
                  </a:lnTo>
                  <a:lnTo>
                    <a:pt x="24" y="73"/>
                  </a:lnTo>
                  <a:lnTo>
                    <a:pt x="8" y="63"/>
                  </a:lnTo>
                  <a:lnTo>
                    <a:pt x="0" y="53"/>
                  </a:lnTo>
                  <a:close/>
                </a:path>
              </a:pathLst>
            </a:custGeom>
            <a:solidFill>
              <a:srgbClr val="CCB7AD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457200"/>
              <a:endParaRPr lang="en-US">
                <a:solidFill>
                  <a:srgbClr val="001C3D"/>
                </a:solidFill>
                <a:latin typeface="Calibri"/>
              </a:endParaRPr>
            </a:p>
          </p:txBody>
        </p:sp>
        <p:sp>
          <p:nvSpPr>
            <p:cNvPr id="39" name="Freeform 42">
              <a:extLst>
                <a:ext uri="{FF2B5EF4-FFF2-40B4-BE49-F238E27FC236}">
                  <a16:creationId xmlns:a16="http://schemas.microsoft.com/office/drawing/2014/main" id="{44B553E3-7482-C5F0-F5FA-45E3577A542D}"/>
                </a:ext>
              </a:extLst>
            </p:cNvPr>
            <p:cNvSpPr>
              <a:spLocks/>
            </p:cNvSpPr>
            <p:nvPr/>
          </p:nvSpPr>
          <p:spPr bwMode="auto">
            <a:xfrm>
              <a:off x="4211" y="2362"/>
              <a:ext cx="693" cy="1071"/>
            </a:xfrm>
            <a:custGeom>
              <a:avLst/>
              <a:gdLst>
                <a:gd name="T0" fmla="*/ 35 w 693"/>
                <a:gd name="T1" fmla="*/ 994 h 1071"/>
                <a:gd name="T2" fmla="*/ 302 w 693"/>
                <a:gd name="T3" fmla="*/ 1069 h 1071"/>
                <a:gd name="T4" fmla="*/ 567 w 693"/>
                <a:gd name="T5" fmla="*/ 1031 h 1071"/>
                <a:gd name="T6" fmla="*/ 377 w 693"/>
                <a:gd name="T7" fmla="*/ 1015 h 1071"/>
                <a:gd name="T8" fmla="*/ 513 w 693"/>
                <a:gd name="T9" fmla="*/ 1003 h 1071"/>
                <a:gd name="T10" fmla="*/ 626 w 693"/>
                <a:gd name="T11" fmla="*/ 965 h 1071"/>
                <a:gd name="T12" fmla="*/ 579 w 693"/>
                <a:gd name="T13" fmla="*/ 971 h 1071"/>
                <a:gd name="T14" fmla="*/ 451 w 693"/>
                <a:gd name="T15" fmla="*/ 962 h 1071"/>
                <a:gd name="T16" fmla="*/ 453 w 693"/>
                <a:gd name="T17" fmla="*/ 943 h 1071"/>
                <a:gd name="T18" fmla="*/ 610 w 693"/>
                <a:gd name="T19" fmla="*/ 909 h 1071"/>
                <a:gd name="T20" fmla="*/ 692 w 693"/>
                <a:gd name="T21" fmla="*/ 854 h 1071"/>
                <a:gd name="T22" fmla="*/ 561 w 693"/>
                <a:gd name="T23" fmla="*/ 893 h 1071"/>
                <a:gd name="T24" fmla="*/ 446 w 693"/>
                <a:gd name="T25" fmla="*/ 889 h 1071"/>
                <a:gd name="T26" fmla="*/ 528 w 693"/>
                <a:gd name="T27" fmla="*/ 877 h 1071"/>
                <a:gd name="T28" fmla="*/ 645 w 693"/>
                <a:gd name="T29" fmla="*/ 832 h 1071"/>
                <a:gd name="T30" fmla="*/ 596 w 693"/>
                <a:gd name="T31" fmla="*/ 820 h 1071"/>
                <a:gd name="T32" fmla="*/ 533 w 693"/>
                <a:gd name="T33" fmla="*/ 795 h 1071"/>
                <a:gd name="T34" fmla="*/ 664 w 693"/>
                <a:gd name="T35" fmla="*/ 747 h 1071"/>
                <a:gd name="T36" fmla="*/ 470 w 693"/>
                <a:gd name="T37" fmla="*/ 748 h 1071"/>
                <a:gd name="T38" fmla="*/ 675 w 693"/>
                <a:gd name="T39" fmla="*/ 695 h 1071"/>
                <a:gd name="T40" fmla="*/ 539 w 693"/>
                <a:gd name="T41" fmla="*/ 695 h 1071"/>
                <a:gd name="T42" fmla="*/ 637 w 693"/>
                <a:gd name="T43" fmla="*/ 656 h 1071"/>
                <a:gd name="T44" fmla="*/ 573 w 693"/>
                <a:gd name="T45" fmla="*/ 638 h 1071"/>
                <a:gd name="T46" fmla="*/ 595 w 693"/>
                <a:gd name="T47" fmla="*/ 609 h 1071"/>
                <a:gd name="T48" fmla="*/ 633 w 693"/>
                <a:gd name="T49" fmla="*/ 568 h 1071"/>
                <a:gd name="T50" fmla="*/ 519 w 693"/>
                <a:gd name="T51" fmla="*/ 562 h 1071"/>
                <a:gd name="T52" fmla="*/ 686 w 693"/>
                <a:gd name="T53" fmla="*/ 503 h 1071"/>
                <a:gd name="T54" fmla="*/ 508 w 693"/>
                <a:gd name="T55" fmla="*/ 509 h 1071"/>
                <a:gd name="T56" fmla="*/ 659 w 693"/>
                <a:gd name="T57" fmla="*/ 468 h 1071"/>
                <a:gd name="T58" fmla="*/ 554 w 693"/>
                <a:gd name="T59" fmla="*/ 462 h 1071"/>
                <a:gd name="T60" fmla="*/ 596 w 693"/>
                <a:gd name="T61" fmla="*/ 433 h 1071"/>
                <a:gd name="T62" fmla="*/ 608 w 693"/>
                <a:gd name="T63" fmla="*/ 402 h 1071"/>
                <a:gd name="T64" fmla="*/ 539 w 693"/>
                <a:gd name="T65" fmla="*/ 389 h 1071"/>
                <a:gd name="T66" fmla="*/ 646 w 693"/>
                <a:gd name="T67" fmla="*/ 346 h 1071"/>
                <a:gd name="T68" fmla="*/ 473 w 693"/>
                <a:gd name="T69" fmla="*/ 331 h 1071"/>
                <a:gd name="T70" fmla="*/ 658 w 693"/>
                <a:gd name="T71" fmla="*/ 302 h 1071"/>
                <a:gd name="T72" fmla="*/ 595 w 693"/>
                <a:gd name="T73" fmla="*/ 299 h 1071"/>
                <a:gd name="T74" fmla="*/ 482 w 693"/>
                <a:gd name="T75" fmla="*/ 290 h 1071"/>
                <a:gd name="T76" fmla="*/ 513 w 693"/>
                <a:gd name="T77" fmla="*/ 279 h 1071"/>
                <a:gd name="T78" fmla="*/ 637 w 693"/>
                <a:gd name="T79" fmla="*/ 251 h 1071"/>
                <a:gd name="T80" fmla="*/ 673 w 693"/>
                <a:gd name="T81" fmla="*/ 230 h 1071"/>
                <a:gd name="T82" fmla="*/ 563 w 693"/>
                <a:gd name="T83" fmla="*/ 245 h 1071"/>
                <a:gd name="T84" fmla="*/ 448 w 693"/>
                <a:gd name="T85" fmla="*/ 242 h 1071"/>
                <a:gd name="T86" fmla="*/ 478 w 693"/>
                <a:gd name="T87" fmla="*/ 233 h 1071"/>
                <a:gd name="T88" fmla="*/ 617 w 693"/>
                <a:gd name="T89" fmla="*/ 210 h 1071"/>
                <a:gd name="T90" fmla="*/ 680 w 693"/>
                <a:gd name="T91" fmla="*/ 183 h 1071"/>
                <a:gd name="T92" fmla="*/ 533 w 693"/>
                <a:gd name="T93" fmla="*/ 195 h 1071"/>
                <a:gd name="T94" fmla="*/ 388 w 693"/>
                <a:gd name="T95" fmla="*/ 185 h 1071"/>
                <a:gd name="T96" fmla="*/ 498 w 693"/>
                <a:gd name="T97" fmla="*/ 180 h 1071"/>
                <a:gd name="T98" fmla="*/ 662 w 693"/>
                <a:gd name="T99" fmla="*/ 160 h 1071"/>
                <a:gd name="T100" fmla="*/ 602 w 693"/>
                <a:gd name="T101" fmla="*/ 152 h 1071"/>
                <a:gd name="T102" fmla="*/ 333 w 693"/>
                <a:gd name="T103" fmla="*/ 148 h 1071"/>
                <a:gd name="T104" fmla="*/ 311 w 693"/>
                <a:gd name="T105" fmla="*/ 126 h 1071"/>
                <a:gd name="T106" fmla="*/ 582 w 693"/>
                <a:gd name="T107" fmla="*/ 110 h 1071"/>
                <a:gd name="T108" fmla="*/ 684 w 693"/>
                <a:gd name="T109" fmla="*/ 69 h 1071"/>
                <a:gd name="T110" fmla="*/ 591 w 693"/>
                <a:gd name="T111" fmla="*/ 1 h 1071"/>
                <a:gd name="T112" fmla="*/ 457 w 693"/>
                <a:gd name="T113" fmla="*/ 20 h 1071"/>
                <a:gd name="T114" fmla="*/ 237 w 693"/>
                <a:gd name="T115" fmla="*/ 19 h 1071"/>
                <a:gd name="T116" fmla="*/ 53 w 693"/>
                <a:gd name="T117" fmla="*/ 31 h 1071"/>
                <a:gd name="T118" fmla="*/ 6 w 693"/>
                <a:gd name="T119" fmla="*/ 177 h 1071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w 693"/>
                <a:gd name="T181" fmla="*/ 0 h 1071"/>
                <a:gd name="T182" fmla="*/ 693 w 693"/>
                <a:gd name="T183" fmla="*/ 1071 h 1071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T180" t="T181" r="T182" b="T183"/>
              <a:pathLst>
                <a:path w="693" h="1071">
                  <a:moveTo>
                    <a:pt x="5" y="226"/>
                  </a:moveTo>
                  <a:lnTo>
                    <a:pt x="2" y="425"/>
                  </a:lnTo>
                  <a:lnTo>
                    <a:pt x="0" y="645"/>
                  </a:lnTo>
                  <a:lnTo>
                    <a:pt x="0" y="836"/>
                  </a:lnTo>
                  <a:lnTo>
                    <a:pt x="2" y="946"/>
                  </a:lnTo>
                  <a:lnTo>
                    <a:pt x="15" y="972"/>
                  </a:lnTo>
                  <a:lnTo>
                    <a:pt x="35" y="994"/>
                  </a:lnTo>
                  <a:lnTo>
                    <a:pt x="62" y="1014"/>
                  </a:lnTo>
                  <a:lnTo>
                    <a:pt x="94" y="1031"/>
                  </a:lnTo>
                  <a:lnTo>
                    <a:pt x="129" y="1044"/>
                  </a:lnTo>
                  <a:lnTo>
                    <a:pt x="170" y="1055"/>
                  </a:lnTo>
                  <a:lnTo>
                    <a:pt x="213" y="1062"/>
                  </a:lnTo>
                  <a:lnTo>
                    <a:pt x="257" y="1068"/>
                  </a:lnTo>
                  <a:lnTo>
                    <a:pt x="302" y="1069"/>
                  </a:lnTo>
                  <a:lnTo>
                    <a:pt x="346" y="1071"/>
                  </a:lnTo>
                  <a:lnTo>
                    <a:pt x="391" y="1069"/>
                  </a:lnTo>
                  <a:lnTo>
                    <a:pt x="434" y="1065"/>
                  </a:lnTo>
                  <a:lnTo>
                    <a:pt x="473" y="1059"/>
                  </a:lnTo>
                  <a:lnTo>
                    <a:pt x="508" y="1052"/>
                  </a:lnTo>
                  <a:lnTo>
                    <a:pt x="541" y="1041"/>
                  </a:lnTo>
                  <a:lnTo>
                    <a:pt x="567" y="1031"/>
                  </a:lnTo>
                  <a:lnTo>
                    <a:pt x="536" y="1033"/>
                  </a:lnTo>
                  <a:lnTo>
                    <a:pt x="506" y="1034"/>
                  </a:lnTo>
                  <a:lnTo>
                    <a:pt x="476" y="1033"/>
                  </a:lnTo>
                  <a:lnTo>
                    <a:pt x="447" y="1031"/>
                  </a:lnTo>
                  <a:lnTo>
                    <a:pt x="419" y="1027"/>
                  </a:lnTo>
                  <a:lnTo>
                    <a:pt x="396" y="1022"/>
                  </a:lnTo>
                  <a:lnTo>
                    <a:pt x="377" y="1015"/>
                  </a:lnTo>
                  <a:lnTo>
                    <a:pt x="362" y="1006"/>
                  </a:lnTo>
                  <a:lnTo>
                    <a:pt x="390" y="1009"/>
                  </a:lnTo>
                  <a:lnTo>
                    <a:pt x="418" y="1011"/>
                  </a:lnTo>
                  <a:lnTo>
                    <a:pt x="444" y="1009"/>
                  </a:lnTo>
                  <a:lnTo>
                    <a:pt x="467" y="1009"/>
                  </a:lnTo>
                  <a:lnTo>
                    <a:pt x="491" y="1006"/>
                  </a:lnTo>
                  <a:lnTo>
                    <a:pt x="513" y="1003"/>
                  </a:lnTo>
                  <a:lnTo>
                    <a:pt x="533" y="999"/>
                  </a:lnTo>
                  <a:lnTo>
                    <a:pt x="552" y="994"/>
                  </a:lnTo>
                  <a:lnTo>
                    <a:pt x="570" y="989"/>
                  </a:lnTo>
                  <a:lnTo>
                    <a:pt x="586" y="983"/>
                  </a:lnTo>
                  <a:lnTo>
                    <a:pt x="601" y="977"/>
                  </a:lnTo>
                  <a:lnTo>
                    <a:pt x="614" y="971"/>
                  </a:lnTo>
                  <a:lnTo>
                    <a:pt x="626" y="965"/>
                  </a:lnTo>
                  <a:lnTo>
                    <a:pt x="637" y="958"/>
                  </a:lnTo>
                  <a:lnTo>
                    <a:pt x="646" y="952"/>
                  </a:lnTo>
                  <a:lnTo>
                    <a:pt x="654" y="946"/>
                  </a:lnTo>
                  <a:lnTo>
                    <a:pt x="636" y="955"/>
                  </a:lnTo>
                  <a:lnTo>
                    <a:pt x="617" y="962"/>
                  </a:lnTo>
                  <a:lnTo>
                    <a:pt x="598" y="967"/>
                  </a:lnTo>
                  <a:lnTo>
                    <a:pt x="579" y="971"/>
                  </a:lnTo>
                  <a:lnTo>
                    <a:pt x="560" y="972"/>
                  </a:lnTo>
                  <a:lnTo>
                    <a:pt x="541" y="974"/>
                  </a:lnTo>
                  <a:lnTo>
                    <a:pt x="522" y="972"/>
                  </a:lnTo>
                  <a:lnTo>
                    <a:pt x="503" y="971"/>
                  </a:lnTo>
                  <a:lnTo>
                    <a:pt x="485" y="969"/>
                  </a:lnTo>
                  <a:lnTo>
                    <a:pt x="467" y="967"/>
                  </a:lnTo>
                  <a:lnTo>
                    <a:pt x="451" y="962"/>
                  </a:lnTo>
                  <a:lnTo>
                    <a:pt x="437" y="958"/>
                  </a:lnTo>
                  <a:lnTo>
                    <a:pt x="422" y="955"/>
                  </a:lnTo>
                  <a:lnTo>
                    <a:pt x="409" y="950"/>
                  </a:lnTo>
                  <a:lnTo>
                    <a:pt x="399" y="946"/>
                  </a:lnTo>
                  <a:lnTo>
                    <a:pt x="390" y="942"/>
                  </a:lnTo>
                  <a:lnTo>
                    <a:pt x="422" y="943"/>
                  </a:lnTo>
                  <a:lnTo>
                    <a:pt x="453" y="943"/>
                  </a:lnTo>
                  <a:lnTo>
                    <a:pt x="481" y="942"/>
                  </a:lnTo>
                  <a:lnTo>
                    <a:pt x="507" y="939"/>
                  </a:lnTo>
                  <a:lnTo>
                    <a:pt x="530" y="934"/>
                  </a:lnTo>
                  <a:lnTo>
                    <a:pt x="554" y="930"/>
                  </a:lnTo>
                  <a:lnTo>
                    <a:pt x="574" y="923"/>
                  </a:lnTo>
                  <a:lnTo>
                    <a:pt x="592" y="917"/>
                  </a:lnTo>
                  <a:lnTo>
                    <a:pt x="610" y="909"/>
                  </a:lnTo>
                  <a:lnTo>
                    <a:pt x="626" y="901"/>
                  </a:lnTo>
                  <a:lnTo>
                    <a:pt x="639" y="893"/>
                  </a:lnTo>
                  <a:lnTo>
                    <a:pt x="652" y="884"/>
                  </a:lnTo>
                  <a:lnTo>
                    <a:pt x="664" y="877"/>
                  </a:lnTo>
                  <a:lnTo>
                    <a:pt x="674" y="868"/>
                  </a:lnTo>
                  <a:lnTo>
                    <a:pt x="683" y="861"/>
                  </a:lnTo>
                  <a:lnTo>
                    <a:pt x="692" y="854"/>
                  </a:lnTo>
                  <a:lnTo>
                    <a:pt x="674" y="862"/>
                  </a:lnTo>
                  <a:lnTo>
                    <a:pt x="656" y="870"/>
                  </a:lnTo>
                  <a:lnTo>
                    <a:pt x="639" y="877"/>
                  </a:lnTo>
                  <a:lnTo>
                    <a:pt x="620" y="883"/>
                  </a:lnTo>
                  <a:lnTo>
                    <a:pt x="599" y="887"/>
                  </a:lnTo>
                  <a:lnTo>
                    <a:pt x="580" y="890"/>
                  </a:lnTo>
                  <a:lnTo>
                    <a:pt x="561" y="893"/>
                  </a:lnTo>
                  <a:lnTo>
                    <a:pt x="542" y="895"/>
                  </a:lnTo>
                  <a:lnTo>
                    <a:pt x="525" y="895"/>
                  </a:lnTo>
                  <a:lnTo>
                    <a:pt x="506" y="895"/>
                  </a:lnTo>
                  <a:lnTo>
                    <a:pt x="489" y="895"/>
                  </a:lnTo>
                  <a:lnTo>
                    <a:pt x="473" y="893"/>
                  </a:lnTo>
                  <a:lnTo>
                    <a:pt x="459" y="890"/>
                  </a:lnTo>
                  <a:lnTo>
                    <a:pt x="446" y="889"/>
                  </a:lnTo>
                  <a:lnTo>
                    <a:pt x="434" y="884"/>
                  </a:lnTo>
                  <a:lnTo>
                    <a:pt x="425" y="881"/>
                  </a:lnTo>
                  <a:lnTo>
                    <a:pt x="446" y="883"/>
                  </a:lnTo>
                  <a:lnTo>
                    <a:pt x="467" y="883"/>
                  </a:lnTo>
                  <a:lnTo>
                    <a:pt x="488" y="883"/>
                  </a:lnTo>
                  <a:lnTo>
                    <a:pt x="507" y="880"/>
                  </a:lnTo>
                  <a:lnTo>
                    <a:pt x="528" y="877"/>
                  </a:lnTo>
                  <a:lnTo>
                    <a:pt x="547" y="874"/>
                  </a:lnTo>
                  <a:lnTo>
                    <a:pt x="564" y="868"/>
                  </a:lnTo>
                  <a:lnTo>
                    <a:pt x="583" y="862"/>
                  </a:lnTo>
                  <a:lnTo>
                    <a:pt x="599" y="855"/>
                  </a:lnTo>
                  <a:lnTo>
                    <a:pt x="615" y="848"/>
                  </a:lnTo>
                  <a:lnTo>
                    <a:pt x="632" y="840"/>
                  </a:lnTo>
                  <a:lnTo>
                    <a:pt x="645" y="832"/>
                  </a:lnTo>
                  <a:lnTo>
                    <a:pt x="659" y="823"/>
                  </a:lnTo>
                  <a:lnTo>
                    <a:pt x="671" y="814"/>
                  </a:lnTo>
                  <a:lnTo>
                    <a:pt x="681" y="805"/>
                  </a:lnTo>
                  <a:lnTo>
                    <a:pt x="692" y="795"/>
                  </a:lnTo>
                  <a:lnTo>
                    <a:pt x="658" y="808"/>
                  </a:lnTo>
                  <a:lnTo>
                    <a:pt x="627" y="817"/>
                  </a:lnTo>
                  <a:lnTo>
                    <a:pt x="596" y="820"/>
                  </a:lnTo>
                  <a:lnTo>
                    <a:pt x="569" y="820"/>
                  </a:lnTo>
                  <a:lnTo>
                    <a:pt x="541" y="817"/>
                  </a:lnTo>
                  <a:lnTo>
                    <a:pt x="514" y="811"/>
                  </a:lnTo>
                  <a:lnTo>
                    <a:pt x="487" y="805"/>
                  </a:lnTo>
                  <a:lnTo>
                    <a:pt x="460" y="798"/>
                  </a:lnTo>
                  <a:lnTo>
                    <a:pt x="498" y="798"/>
                  </a:lnTo>
                  <a:lnTo>
                    <a:pt x="533" y="795"/>
                  </a:lnTo>
                  <a:lnTo>
                    <a:pt x="566" y="791"/>
                  </a:lnTo>
                  <a:lnTo>
                    <a:pt x="595" y="783"/>
                  </a:lnTo>
                  <a:lnTo>
                    <a:pt x="623" y="773"/>
                  </a:lnTo>
                  <a:lnTo>
                    <a:pt x="648" y="761"/>
                  </a:lnTo>
                  <a:lnTo>
                    <a:pt x="671" y="748"/>
                  </a:lnTo>
                  <a:lnTo>
                    <a:pt x="692" y="732"/>
                  </a:lnTo>
                  <a:lnTo>
                    <a:pt x="664" y="747"/>
                  </a:lnTo>
                  <a:lnTo>
                    <a:pt x="633" y="755"/>
                  </a:lnTo>
                  <a:lnTo>
                    <a:pt x="602" y="760"/>
                  </a:lnTo>
                  <a:lnTo>
                    <a:pt x="570" y="761"/>
                  </a:lnTo>
                  <a:lnTo>
                    <a:pt x="541" y="760"/>
                  </a:lnTo>
                  <a:lnTo>
                    <a:pt x="513" y="757"/>
                  </a:lnTo>
                  <a:lnTo>
                    <a:pt x="489" y="752"/>
                  </a:lnTo>
                  <a:lnTo>
                    <a:pt x="470" y="748"/>
                  </a:lnTo>
                  <a:lnTo>
                    <a:pt x="507" y="748"/>
                  </a:lnTo>
                  <a:lnTo>
                    <a:pt x="542" y="744"/>
                  </a:lnTo>
                  <a:lnTo>
                    <a:pt x="574" y="738"/>
                  </a:lnTo>
                  <a:lnTo>
                    <a:pt x="604" y="729"/>
                  </a:lnTo>
                  <a:lnTo>
                    <a:pt x="632" y="720"/>
                  </a:lnTo>
                  <a:lnTo>
                    <a:pt x="655" y="707"/>
                  </a:lnTo>
                  <a:lnTo>
                    <a:pt x="675" y="695"/>
                  </a:lnTo>
                  <a:lnTo>
                    <a:pt x="692" y="680"/>
                  </a:lnTo>
                  <a:lnTo>
                    <a:pt x="658" y="691"/>
                  </a:lnTo>
                  <a:lnTo>
                    <a:pt x="630" y="697"/>
                  </a:lnTo>
                  <a:lnTo>
                    <a:pt x="605" y="701"/>
                  </a:lnTo>
                  <a:lnTo>
                    <a:pt x="583" y="701"/>
                  </a:lnTo>
                  <a:lnTo>
                    <a:pt x="561" y="700"/>
                  </a:lnTo>
                  <a:lnTo>
                    <a:pt x="539" y="695"/>
                  </a:lnTo>
                  <a:lnTo>
                    <a:pt x="514" y="688"/>
                  </a:lnTo>
                  <a:lnTo>
                    <a:pt x="488" y="679"/>
                  </a:lnTo>
                  <a:lnTo>
                    <a:pt x="528" y="676"/>
                  </a:lnTo>
                  <a:lnTo>
                    <a:pt x="561" y="673"/>
                  </a:lnTo>
                  <a:lnTo>
                    <a:pt x="591" y="669"/>
                  </a:lnTo>
                  <a:lnTo>
                    <a:pt x="615" y="663"/>
                  </a:lnTo>
                  <a:lnTo>
                    <a:pt x="637" y="656"/>
                  </a:lnTo>
                  <a:lnTo>
                    <a:pt x="656" y="645"/>
                  </a:lnTo>
                  <a:lnTo>
                    <a:pt x="674" y="634"/>
                  </a:lnTo>
                  <a:lnTo>
                    <a:pt x="692" y="617"/>
                  </a:lnTo>
                  <a:lnTo>
                    <a:pt x="656" y="626"/>
                  </a:lnTo>
                  <a:lnTo>
                    <a:pt x="624" y="632"/>
                  </a:lnTo>
                  <a:lnTo>
                    <a:pt x="596" y="636"/>
                  </a:lnTo>
                  <a:lnTo>
                    <a:pt x="573" y="638"/>
                  </a:lnTo>
                  <a:lnTo>
                    <a:pt x="550" y="638"/>
                  </a:lnTo>
                  <a:lnTo>
                    <a:pt x="528" y="635"/>
                  </a:lnTo>
                  <a:lnTo>
                    <a:pt x="507" y="629"/>
                  </a:lnTo>
                  <a:lnTo>
                    <a:pt x="485" y="622"/>
                  </a:lnTo>
                  <a:lnTo>
                    <a:pt x="529" y="619"/>
                  </a:lnTo>
                  <a:lnTo>
                    <a:pt x="564" y="614"/>
                  </a:lnTo>
                  <a:lnTo>
                    <a:pt x="595" y="609"/>
                  </a:lnTo>
                  <a:lnTo>
                    <a:pt x="620" y="600"/>
                  </a:lnTo>
                  <a:lnTo>
                    <a:pt x="640" y="590"/>
                  </a:lnTo>
                  <a:lnTo>
                    <a:pt x="658" y="578"/>
                  </a:lnTo>
                  <a:lnTo>
                    <a:pt x="673" y="565"/>
                  </a:lnTo>
                  <a:lnTo>
                    <a:pt x="686" y="550"/>
                  </a:lnTo>
                  <a:lnTo>
                    <a:pt x="661" y="560"/>
                  </a:lnTo>
                  <a:lnTo>
                    <a:pt x="633" y="568"/>
                  </a:lnTo>
                  <a:lnTo>
                    <a:pt x="605" y="572"/>
                  </a:lnTo>
                  <a:lnTo>
                    <a:pt x="577" y="573"/>
                  </a:lnTo>
                  <a:lnTo>
                    <a:pt x="551" y="573"/>
                  </a:lnTo>
                  <a:lnTo>
                    <a:pt x="526" y="572"/>
                  </a:lnTo>
                  <a:lnTo>
                    <a:pt x="506" y="569"/>
                  </a:lnTo>
                  <a:lnTo>
                    <a:pt x="488" y="566"/>
                  </a:lnTo>
                  <a:lnTo>
                    <a:pt x="519" y="562"/>
                  </a:lnTo>
                  <a:lnTo>
                    <a:pt x="550" y="556"/>
                  </a:lnTo>
                  <a:lnTo>
                    <a:pt x="582" y="548"/>
                  </a:lnTo>
                  <a:lnTo>
                    <a:pt x="611" y="540"/>
                  </a:lnTo>
                  <a:lnTo>
                    <a:pt x="637" y="531"/>
                  </a:lnTo>
                  <a:lnTo>
                    <a:pt x="659" y="522"/>
                  </a:lnTo>
                  <a:lnTo>
                    <a:pt x="677" y="512"/>
                  </a:lnTo>
                  <a:lnTo>
                    <a:pt x="686" y="503"/>
                  </a:lnTo>
                  <a:lnTo>
                    <a:pt x="662" y="507"/>
                  </a:lnTo>
                  <a:lnTo>
                    <a:pt x="639" y="512"/>
                  </a:lnTo>
                  <a:lnTo>
                    <a:pt x="613" y="515"/>
                  </a:lnTo>
                  <a:lnTo>
                    <a:pt x="586" y="516"/>
                  </a:lnTo>
                  <a:lnTo>
                    <a:pt x="560" y="516"/>
                  </a:lnTo>
                  <a:lnTo>
                    <a:pt x="535" y="513"/>
                  </a:lnTo>
                  <a:lnTo>
                    <a:pt x="508" y="509"/>
                  </a:lnTo>
                  <a:lnTo>
                    <a:pt x="485" y="503"/>
                  </a:lnTo>
                  <a:lnTo>
                    <a:pt x="510" y="503"/>
                  </a:lnTo>
                  <a:lnTo>
                    <a:pt x="541" y="499"/>
                  </a:lnTo>
                  <a:lnTo>
                    <a:pt x="573" y="493"/>
                  </a:lnTo>
                  <a:lnTo>
                    <a:pt x="605" y="485"/>
                  </a:lnTo>
                  <a:lnTo>
                    <a:pt x="634" y="477"/>
                  </a:lnTo>
                  <a:lnTo>
                    <a:pt x="659" y="468"/>
                  </a:lnTo>
                  <a:lnTo>
                    <a:pt x="677" y="459"/>
                  </a:lnTo>
                  <a:lnTo>
                    <a:pt x="686" y="452"/>
                  </a:lnTo>
                  <a:lnTo>
                    <a:pt x="656" y="456"/>
                  </a:lnTo>
                  <a:lnTo>
                    <a:pt x="630" y="459"/>
                  </a:lnTo>
                  <a:lnTo>
                    <a:pt x="604" y="460"/>
                  </a:lnTo>
                  <a:lnTo>
                    <a:pt x="579" y="462"/>
                  </a:lnTo>
                  <a:lnTo>
                    <a:pt x="554" y="462"/>
                  </a:lnTo>
                  <a:lnTo>
                    <a:pt x="530" y="460"/>
                  </a:lnTo>
                  <a:lnTo>
                    <a:pt x="507" y="456"/>
                  </a:lnTo>
                  <a:lnTo>
                    <a:pt x="485" y="449"/>
                  </a:lnTo>
                  <a:lnTo>
                    <a:pt x="513" y="446"/>
                  </a:lnTo>
                  <a:lnTo>
                    <a:pt x="541" y="441"/>
                  </a:lnTo>
                  <a:lnTo>
                    <a:pt x="569" y="437"/>
                  </a:lnTo>
                  <a:lnTo>
                    <a:pt x="596" y="433"/>
                  </a:lnTo>
                  <a:lnTo>
                    <a:pt x="623" y="427"/>
                  </a:lnTo>
                  <a:lnTo>
                    <a:pt x="648" y="419"/>
                  </a:lnTo>
                  <a:lnTo>
                    <a:pt x="668" y="409"/>
                  </a:lnTo>
                  <a:lnTo>
                    <a:pt x="686" y="396"/>
                  </a:lnTo>
                  <a:lnTo>
                    <a:pt x="662" y="399"/>
                  </a:lnTo>
                  <a:lnTo>
                    <a:pt x="636" y="402"/>
                  </a:lnTo>
                  <a:lnTo>
                    <a:pt x="608" y="402"/>
                  </a:lnTo>
                  <a:lnTo>
                    <a:pt x="580" y="402"/>
                  </a:lnTo>
                  <a:lnTo>
                    <a:pt x="551" y="402"/>
                  </a:lnTo>
                  <a:lnTo>
                    <a:pt x="525" y="399"/>
                  </a:lnTo>
                  <a:lnTo>
                    <a:pt x="500" y="396"/>
                  </a:lnTo>
                  <a:lnTo>
                    <a:pt x="478" y="391"/>
                  </a:lnTo>
                  <a:lnTo>
                    <a:pt x="510" y="391"/>
                  </a:lnTo>
                  <a:lnTo>
                    <a:pt x="539" y="389"/>
                  </a:lnTo>
                  <a:lnTo>
                    <a:pt x="570" y="384"/>
                  </a:lnTo>
                  <a:lnTo>
                    <a:pt x="598" y="378"/>
                  </a:lnTo>
                  <a:lnTo>
                    <a:pt x="623" y="369"/>
                  </a:lnTo>
                  <a:lnTo>
                    <a:pt x="646" y="361"/>
                  </a:lnTo>
                  <a:lnTo>
                    <a:pt x="668" y="350"/>
                  </a:lnTo>
                  <a:lnTo>
                    <a:pt x="686" y="340"/>
                  </a:lnTo>
                  <a:lnTo>
                    <a:pt x="646" y="346"/>
                  </a:lnTo>
                  <a:lnTo>
                    <a:pt x="613" y="349"/>
                  </a:lnTo>
                  <a:lnTo>
                    <a:pt x="583" y="349"/>
                  </a:lnTo>
                  <a:lnTo>
                    <a:pt x="557" y="346"/>
                  </a:lnTo>
                  <a:lnTo>
                    <a:pt x="533" y="343"/>
                  </a:lnTo>
                  <a:lnTo>
                    <a:pt x="513" y="340"/>
                  </a:lnTo>
                  <a:lnTo>
                    <a:pt x="492" y="336"/>
                  </a:lnTo>
                  <a:lnTo>
                    <a:pt x="473" y="331"/>
                  </a:lnTo>
                  <a:lnTo>
                    <a:pt x="494" y="331"/>
                  </a:lnTo>
                  <a:lnTo>
                    <a:pt x="519" y="330"/>
                  </a:lnTo>
                  <a:lnTo>
                    <a:pt x="544" y="327"/>
                  </a:lnTo>
                  <a:lnTo>
                    <a:pt x="571" y="324"/>
                  </a:lnTo>
                  <a:lnTo>
                    <a:pt x="601" y="320"/>
                  </a:lnTo>
                  <a:lnTo>
                    <a:pt x="630" y="312"/>
                  </a:lnTo>
                  <a:lnTo>
                    <a:pt x="658" y="302"/>
                  </a:lnTo>
                  <a:lnTo>
                    <a:pt x="686" y="290"/>
                  </a:lnTo>
                  <a:lnTo>
                    <a:pt x="673" y="293"/>
                  </a:lnTo>
                  <a:lnTo>
                    <a:pt x="659" y="295"/>
                  </a:lnTo>
                  <a:lnTo>
                    <a:pt x="643" y="296"/>
                  </a:lnTo>
                  <a:lnTo>
                    <a:pt x="629" y="298"/>
                  </a:lnTo>
                  <a:lnTo>
                    <a:pt x="611" y="299"/>
                  </a:lnTo>
                  <a:lnTo>
                    <a:pt x="595" y="299"/>
                  </a:lnTo>
                  <a:lnTo>
                    <a:pt x="579" y="299"/>
                  </a:lnTo>
                  <a:lnTo>
                    <a:pt x="561" y="299"/>
                  </a:lnTo>
                  <a:lnTo>
                    <a:pt x="545" y="298"/>
                  </a:lnTo>
                  <a:lnTo>
                    <a:pt x="528" y="296"/>
                  </a:lnTo>
                  <a:lnTo>
                    <a:pt x="511" y="295"/>
                  </a:lnTo>
                  <a:lnTo>
                    <a:pt x="497" y="293"/>
                  </a:lnTo>
                  <a:lnTo>
                    <a:pt x="482" y="290"/>
                  </a:lnTo>
                  <a:lnTo>
                    <a:pt x="469" y="287"/>
                  </a:lnTo>
                  <a:lnTo>
                    <a:pt x="456" y="284"/>
                  </a:lnTo>
                  <a:lnTo>
                    <a:pt x="446" y="280"/>
                  </a:lnTo>
                  <a:lnTo>
                    <a:pt x="462" y="281"/>
                  </a:lnTo>
                  <a:lnTo>
                    <a:pt x="478" y="281"/>
                  </a:lnTo>
                  <a:lnTo>
                    <a:pt x="495" y="281"/>
                  </a:lnTo>
                  <a:lnTo>
                    <a:pt x="513" y="279"/>
                  </a:lnTo>
                  <a:lnTo>
                    <a:pt x="532" y="277"/>
                  </a:lnTo>
                  <a:lnTo>
                    <a:pt x="551" y="274"/>
                  </a:lnTo>
                  <a:lnTo>
                    <a:pt x="570" y="270"/>
                  </a:lnTo>
                  <a:lnTo>
                    <a:pt x="588" y="265"/>
                  </a:lnTo>
                  <a:lnTo>
                    <a:pt x="605" y="261"/>
                  </a:lnTo>
                  <a:lnTo>
                    <a:pt x="623" y="255"/>
                  </a:lnTo>
                  <a:lnTo>
                    <a:pt x="637" y="251"/>
                  </a:lnTo>
                  <a:lnTo>
                    <a:pt x="652" y="245"/>
                  </a:lnTo>
                  <a:lnTo>
                    <a:pt x="665" y="239"/>
                  </a:lnTo>
                  <a:lnTo>
                    <a:pt x="677" y="235"/>
                  </a:lnTo>
                  <a:lnTo>
                    <a:pt x="686" y="229"/>
                  </a:lnTo>
                  <a:lnTo>
                    <a:pt x="692" y="224"/>
                  </a:lnTo>
                  <a:lnTo>
                    <a:pt x="683" y="227"/>
                  </a:lnTo>
                  <a:lnTo>
                    <a:pt x="673" y="230"/>
                  </a:lnTo>
                  <a:lnTo>
                    <a:pt x="661" y="233"/>
                  </a:lnTo>
                  <a:lnTo>
                    <a:pt x="646" y="236"/>
                  </a:lnTo>
                  <a:lnTo>
                    <a:pt x="632" y="239"/>
                  </a:lnTo>
                  <a:lnTo>
                    <a:pt x="615" y="240"/>
                  </a:lnTo>
                  <a:lnTo>
                    <a:pt x="598" y="242"/>
                  </a:lnTo>
                  <a:lnTo>
                    <a:pt x="582" y="243"/>
                  </a:lnTo>
                  <a:lnTo>
                    <a:pt x="563" y="245"/>
                  </a:lnTo>
                  <a:lnTo>
                    <a:pt x="545" y="245"/>
                  </a:lnTo>
                  <a:lnTo>
                    <a:pt x="528" y="246"/>
                  </a:lnTo>
                  <a:lnTo>
                    <a:pt x="510" y="246"/>
                  </a:lnTo>
                  <a:lnTo>
                    <a:pt x="492" y="246"/>
                  </a:lnTo>
                  <a:lnTo>
                    <a:pt x="478" y="245"/>
                  </a:lnTo>
                  <a:lnTo>
                    <a:pt x="462" y="243"/>
                  </a:lnTo>
                  <a:lnTo>
                    <a:pt x="448" y="242"/>
                  </a:lnTo>
                  <a:lnTo>
                    <a:pt x="440" y="240"/>
                  </a:lnTo>
                  <a:lnTo>
                    <a:pt x="431" y="239"/>
                  </a:lnTo>
                  <a:lnTo>
                    <a:pt x="424" y="236"/>
                  </a:lnTo>
                  <a:lnTo>
                    <a:pt x="418" y="233"/>
                  </a:lnTo>
                  <a:lnTo>
                    <a:pt x="437" y="235"/>
                  </a:lnTo>
                  <a:lnTo>
                    <a:pt x="457" y="235"/>
                  </a:lnTo>
                  <a:lnTo>
                    <a:pt x="478" y="233"/>
                  </a:lnTo>
                  <a:lnTo>
                    <a:pt x="498" y="232"/>
                  </a:lnTo>
                  <a:lnTo>
                    <a:pt x="519" y="229"/>
                  </a:lnTo>
                  <a:lnTo>
                    <a:pt x="539" y="226"/>
                  </a:lnTo>
                  <a:lnTo>
                    <a:pt x="560" y="223"/>
                  </a:lnTo>
                  <a:lnTo>
                    <a:pt x="580" y="218"/>
                  </a:lnTo>
                  <a:lnTo>
                    <a:pt x="599" y="214"/>
                  </a:lnTo>
                  <a:lnTo>
                    <a:pt x="617" y="210"/>
                  </a:lnTo>
                  <a:lnTo>
                    <a:pt x="634" y="205"/>
                  </a:lnTo>
                  <a:lnTo>
                    <a:pt x="649" y="199"/>
                  </a:lnTo>
                  <a:lnTo>
                    <a:pt x="662" y="195"/>
                  </a:lnTo>
                  <a:lnTo>
                    <a:pt x="674" y="191"/>
                  </a:lnTo>
                  <a:lnTo>
                    <a:pt x="684" y="185"/>
                  </a:lnTo>
                  <a:lnTo>
                    <a:pt x="692" y="180"/>
                  </a:lnTo>
                  <a:lnTo>
                    <a:pt x="680" y="183"/>
                  </a:lnTo>
                  <a:lnTo>
                    <a:pt x="665" y="186"/>
                  </a:lnTo>
                  <a:lnTo>
                    <a:pt x="648" y="189"/>
                  </a:lnTo>
                  <a:lnTo>
                    <a:pt x="629" y="191"/>
                  </a:lnTo>
                  <a:lnTo>
                    <a:pt x="607" y="192"/>
                  </a:lnTo>
                  <a:lnTo>
                    <a:pt x="583" y="193"/>
                  </a:lnTo>
                  <a:lnTo>
                    <a:pt x="558" y="195"/>
                  </a:lnTo>
                  <a:lnTo>
                    <a:pt x="533" y="195"/>
                  </a:lnTo>
                  <a:lnTo>
                    <a:pt x="508" y="195"/>
                  </a:lnTo>
                  <a:lnTo>
                    <a:pt x="485" y="195"/>
                  </a:lnTo>
                  <a:lnTo>
                    <a:pt x="462" y="193"/>
                  </a:lnTo>
                  <a:lnTo>
                    <a:pt x="440" y="192"/>
                  </a:lnTo>
                  <a:lnTo>
                    <a:pt x="421" y="191"/>
                  </a:lnTo>
                  <a:lnTo>
                    <a:pt x="403" y="188"/>
                  </a:lnTo>
                  <a:lnTo>
                    <a:pt x="388" y="185"/>
                  </a:lnTo>
                  <a:lnTo>
                    <a:pt x="378" y="180"/>
                  </a:lnTo>
                  <a:lnTo>
                    <a:pt x="391" y="182"/>
                  </a:lnTo>
                  <a:lnTo>
                    <a:pt x="407" y="182"/>
                  </a:lnTo>
                  <a:lnTo>
                    <a:pt x="428" y="182"/>
                  </a:lnTo>
                  <a:lnTo>
                    <a:pt x="450" y="182"/>
                  </a:lnTo>
                  <a:lnTo>
                    <a:pt x="473" y="180"/>
                  </a:lnTo>
                  <a:lnTo>
                    <a:pt x="498" y="180"/>
                  </a:lnTo>
                  <a:lnTo>
                    <a:pt x="525" y="179"/>
                  </a:lnTo>
                  <a:lnTo>
                    <a:pt x="551" y="176"/>
                  </a:lnTo>
                  <a:lnTo>
                    <a:pt x="576" y="174"/>
                  </a:lnTo>
                  <a:lnTo>
                    <a:pt x="601" y="171"/>
                  </a:lnTo>
                  <a:lnTo>
                    <a:pt x="623" y="167"/>
                  </a:lnTo>
                  <a:lnTo>
                    <a:pt x="645" y="164"/>
                  </a:lnTo>
                  <a:lnTo>
                    <a:pt x="662" y="160"/>
                  </a:lnTo>
                  <a:lnTo>
                    <a:pt x="677" y="155"/>
                  </a:lnTo>
                  <a:lnTo>
                    <a:pt x="687" y="149"/>
                  </a:lnTo>
                  <a:lnTo>
                    <a:pt x="693" y="144"/>
                  </a:lnTo>
                  <a:lnTo>
                    <a:pt x="680" y="147"/>
                  </a:lnTo>
                  <a:lnTo>
                    <a:pt x="659" y="148"/>
                  </a:lnTo>
                  <a:lnTo>
                    <a:pt x="633" y="151"/>
                  </a:lnTo>
                  <a:lnTo>
                    <a:pt x="602" y="152"/>
                  </a:lnTo>
                  <a:lnTo>
                    <a:pt x="567" y="154"/>
                  </a:lnTo>
                  <a:lnTo>
                    <a:pt x="530" y="154"/>
                  </a:lnTo>
                  <a:lnTo>
                    <a:pt x="491" y="154"/>
                  </a:lnTo>
                  <a:lnTo>
                    <a:pt x="450" y="154"/>
                  </a:lnTo>
                  <a:lnTo>
                    <a:pt x="409" y="152"/>
                  </a:lnTo>
                  <a:lnTo>
                    <a:pt x="369" y="151"/>
                  </a:lnTo>
                  <a:lnTo>
                    <a:pt x="333" y="148"/>
                  </a:lnTo>
                  <a:lnTo>
                    <a:pt x="299" y="145"/>
                  </a:lnTo>
                  <a:lnTo>
                    <a:pt x="268" y="141"/>
                  </a:lnTo>
                  <a:lnTo>
                    <a:pt x="243" y="136"/>
                  </a:lnTo>
                  <a:lnTo>
                    <a:pt x="223" y="130"/>
                  </a:lnTo>
                  <a:lnTo>
                    <a:pt x="211" y="123"/>
                  </a:lnTo>
                  <a:lnTo>
                    <a:pt x="261" y="124"/>
                  </a:lnTo>
                  <a:lnTo>
                    <a:pt x="311" y="126"/>
                  </a:lnTo>
                  <a:lnTo>
                    <a:pt x="356" y="126"/>
                  </a:lnTo>
                  <a:lnTo>
                    <a:pt x="402" y="126"/>
                  </a:lnTo>
                  <a:lnTo>
                    <a:pt x="443" y="123"/>
                  </a:lnTo>
                  <a:lnTo>
                    <a:pt x="482" y="122"/>
                  </a:lnTo>
                  <a:lnTo>
                    <a:pt x="519" y="119"/>
                  </a:lnTo>
                  <a:lnTo>
                    <a:pt x="551" y="114"/>
                  </a:lnTo>
                  <a:lnTo>
                    <a:pt x="582" y="110"/>
                  </a:lnTo>
                  <a:lnTo>
                    <a:pt x="608" y="104"/>
                  </a:lnTo>
                  <a:lnTo>
                    <a:pt x="632" y="100"/>
                  </a:lnTo>
                  <a:lnTo>
                    <a:pt x="651" y="94"/>
                  </a:lnTo>
                  <a:lnTo>
                    <a:pt x="665" y="88"/>
                  </a:lnTo>
                  <a:lnTo>
                    <a:pt x="675" y="82"/>
                  </a:lnTo>
                  <a:lnTo>
                    <a:pt x="683" y="75"/>
                  </a:lnTo>
                  <a:lnTo>
                    <a:pt x="684" y="69"/>
                  </a:lnTo>
                  <a:lnTo>
                    <a:pt x="678" y="53"/>
                  </a:lnTo>
                  <a:lnTo>
                    <a:pt x="670" y="39"/>
                  </a:lnTo>
                  <a:lnTo>
                    <a:pt x="659" y="28"/>
                  </a:lnTo>
                  <a:lnTo>
                    <a:pt x="646" y="17"/>
                  </a:lnTo>
                  <a:lnTo>
                    <a:pt x="630" y="10"/>
                  </a:lnTo>
                  <a:lnTo>
                    <a:pt x="613" y="4"/>
                  </a:lnTo>
                  <a:lnTo>
                    <a:pt x="591" y="1"/>
                  </a:lnTo>
                  <a:lnTo>
                    <a:pt x="566" y="0"/>
                  </a:lnTo>
                  <a:lnTo>
                    <a:pt x="554" y="4"/>
                  </a:lnTo>
                  <a:lnTo>
                    <a:pt x="538" y="7"/>
                  </a:lnTo>
                  <a:lnTo>
                    <a:pt x="522" y="12"/>
                  </a:lnTo>
                  <a:lnTo>
                    <a:pt x="503" y="14"/>
                  </a:lnTo>
                  <a:lnTo>
                    <a:pt x="481" y="17"/>
                  </a:lnTo>
                  <a:lnTo>
                    <a:pt x="457" y="20"/>
                  </a:lnTo>
                  <a:lnTo>
                    <a:pt x="432" y="23"/>
                  </a:lnTo>
                  <a:lnTo>
                    <a:pt x="404" y="25"/>
                  </a:lnTo>
                  <a:lnTo>
                    <a:pt x="375" y="26"/>
                  </a:lnTo>
                  <a:lnTo>
                    <a:pt x="343" y="26"/>
                  </a:lnTo>
                  <a:lnTo>
                    <a:pt x="309" y="25"/>
                  </a:lnTo>
                  <a:lnTo>
                    <a:pt x="274" y="23"/>
                  </a:lnTo>
                  <a:lnTo>
                    <a:pt x="237" y="19"/>
                  </a:lnTo>
                  <a:lnTo>
                    <a:pt x="199" y="14"/>
                  </a:lnTo>
                  <a:lnTo>
                    <a:pt x="160" y="9"/>
                  </a:lnTo>
                  <a:lnTo>
                    <a:pt x="117" y="0"/>
                  </a:lnTo>
                  <a:lnTo>
                    <a:pt x="103" y="6"/>
                  </a:lnTo>
                  <a:lnTo>
                    <a:pt x="87" y="12"/>
                  </a:lnTo>
                  <a:lnTo>
                    <a:pt x="70" y="20"/>
                  </a:lnTo>
                  <a:lnTo>
                    <a:pt x="53" y="31"/>
                  </a:lnTo>
                  <a:lnTo>
                    <a:pt x="38" y="42"/>
                  </a:lnTo>
                  <a:lnTo>
                    <a:pt x="24" y="57"/>
                  </a:lnTo>
                  <a:lnTo>
                    <a:pt x="15" y="73"/>
                  </a:lnTo>
                  <a:lnTo>
                    <a:pt x="9" y="92"/>
                  </a:lnTo>
                  <a:lnTo>
                    <a:pt x="7" y="108"/>
                  </a:lnTo>
                  <a:lnTo>
                    <a:pt x="7" y="136"/>
                  </a:lnTo>
                  <a:lnTo>
                    <a:pt x="6" y="177"/>
                  </a:lnTo>
                  <a:lnTo>
                    <a:pt x="5" y="226"/>
                  </a:lnTo>
                  <a:close/>
                </a:path>
              </a:pathLst>
            </a:custGeom>
            <a:solidFill>
              <a:srgbClr val="D8E5E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457200"/>
              <a:endParaRPr lang="en-US">
                <a:solidFill>
                  <a:srgbClr val="001C3D"/>
                </a:solidFill>
                <a:latin typeface="Calibri"/>
              </a:endParaRPr>
            </a:p>
          </p:txBody>
        </p:sp>
        <p:sp>
          <p:nvSpPr>
            <p:cNvPr id="40" name="Freeform 44">
              <a:extLst>
                <a:ext uri="{FF2B5EF4-FFF2-40B4-BE49-F238E27FC236}">
                  <a16:creationId xmlns:a16="http://schemas.microsoft.com/office/drawing/2014/main" id="{1D01A7D8-D641-3F07-9047-D6B032B4B303}"/>
                </a:ext>
              </a:extLst>
            </p:cNvPr>
            <p:cNvSpPr>
              <a:spLocks/>
            </p:cNvSpPr>
            <p:nvPr/>
          </p:nvSpPr>
          <p:spPr bwMode="auto">
            <a:xfrm>
              <a:off x="4249" y="2415"/>
              <a:ext cx="72" cy="908"/>
            </a:xfrm>
            <a:custGeom>
              <a:avLst/>
              <a:gdLst>
                <a:gd name="T0" fmla="*/ 72 w 72"/>
                <a:gd name="T1" fmla="*/ 0 h 908"/>
                <a:gd name="T2" fmla="*/ 60 w 72"/>
                <a:gd name="T3" fmla="*/ 1 h 908"/>
                <a:gd name="T4" fmla="*/ 49 w 72"/>
                <a:gd name="T5" fmla="*/ 5 h 908"/>
                <a:gd name="T6" fmla="*/ 38 w 72"/>
                <a:gd name="T7" fmla="*/ 13 h 908"/>
                <a:gd name="T8" fmla="*/ 28 w 72"/>
                <a:gd name="T9" fmla="*/ 22 h 908"/>
                <a:gd name="T10" fmla="*/ 19 w 72"/>
                <a:gd name="T11" fmla="*/ 35 h 908"/>
                <a:gd name="T12" fmla="*/ 13 w 72"/>
                <a:gd name="T13" fmla="*/ 54 h 908"/>
                <a:gd name="T14" fmla="*/ 9 w 72"/>
                <a:gd name="T15" fmla="*/ 76 h 908"/>
                <a:gd name="T16" fmla="*/ 8 w 72"/>
                <a:gd name="T17" fmla="*/ 104 h 908"/>
                <a:gd name="T18" fmla="*/ 6 w 72"/>
                <a:gd name="T19" fmla="*/ 262 h 908"/>
                <a:gd name="T20" fmla="*/ 5 w 72"/>
                <a:gd name="T21" fmla="*/ 529 h 908"/>
                <a:gd name="T22" fmla="*/ 2 w 72"/>
                <a:gd name="T23" fmla="*/ 782 h 908"/>
                <a:gd name="T24" fmla="*/ 0 w 72"/>
                <a:gd name="T25" fmla="*/ 893 h 908"/>
                <a:gd name="T26" fmla="*/ 34 w 72"/>
                <a:gd name="T27" fmla="*/ 908 h 908"/>
                <a:gd name="T28" fmla="*/ 35 w 72"/>
                <a:gd name="T29" fmla="*/ 786 h 908"/>
                <a:gd name="T30" fmla="*/ 38 w 72"/>
                <a:gd name="T31" fmla="*/ 516 h 908"/>
                <a:gd name="T32" fmla="*/ 41 w 72"/>
                <a:gd name="T33" fmla="*/ 240 h 908"/>
                <a:gd name="T34" fmla="*/ 46 w 72"/>
                <a:gd name="T35" fmla="*/ 101 h 908"/>
                <a:gd name="T36" fmla="*/ 47 w 72"/>
                <a:gd name="T37" fmla="*/ 73 h 908"/>
                <a:gd name="T38" fmla="*/ 50 w 72"/>
                <a:gd name="T39" fmla="*/ 45 h 908"/>
                <a:gd name="T40" fmla="*/ 57 w 72"/>
                <a:gd name="T41" fmla="*/ 19 h 908"/>
                <a:gd name="T42" fmla="*/ 72 w 72"/>
                <a:gd name="T43" fmla="*/ 0 h 908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w 72"/>
                <a:gd name="T67" fmla="*/ 0 h 908"/>
                <a:gd name="T68" fmla="*/ 72 w 72"/>
                <a:gd name="T69" fmla="*/ 908 h 908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T66" t="T67" r="T68" b="T69"/>
              <a:pathLst>
                <a:path w="72" h="908">
                  <a:moveTo>
                    <a:pt x="72" y="0"/>
                  </a:moveTo>
                  <a:lnTo>
                    <a:pt x="60" y="1"/>
                  </a:lnTo>
                  <a:lnTo>
                    <a:pt x="49" y="5"/>
                  </a:lnTo>
                  <a:lnTo>
                    <a:pt x="38" y="13"/>
                  </a:lnTo>
                  <a:lnTo>
                    <a:pt x="28" y="22"/>
                  </a:lnTo>
                  <a:lnTo>
                    <a:pt x="19" y="35"/>
                  </a:lnTo>
                  <a:lnTo>
                    <a:pt x="13" y="54"/>
                  </a:lnTo>
                  <a:lnTo>
                    <a:pt x="9" y="76"/>
                  </a:lnTo>
                  <a:lnTo>
                    <a:pt x="8" y="104"/>
                  </a:lnTo>
                  <a:lnTo>
                    <a:pt x="6" y="262"/>
                  </a:lnTo>
                  <a:lnTo>
                    <a:pt x="5" y="529"/>
                  </a:lnTo>
                  <a:lnTo>
                    <a:pt x="2" y="782"/>
                  </a:lnTo>
                  <a:lnTo>
                    <a:pt x="0" y="893"/>
                  </a:lnTo>
                  <a:lnTo>
                    <a:pt x="34" y="908"/>
                  </a:lnTo>
                  <a:lnTo>
                    <a:pt x="35" y="786"/>
                  </a:lnTo>
                  <a:lnTo>
                    <a:pt x="38" y="516"/>
                  </a:lnTo>
                  <a:lnTo>
                    <a:pt x="41" y="240"/>
                  </a:lnTo>
                  <a:lnTo>
                    <a:pt x="46" y="101"/>
                  </a:lnTo>
                  <a:lnTo>
                    <a:pt x="47" y="73"/>
                  </a:lnTo>
                  <a:lnTo>
                    <a:pt x="50" y="45"/>
                  </a:lnTo>
                  <a:lnTo>
                    <a:pt x="57" y="19"/>
                  </a:lnTo>
                  <a:lnTo>
                    <a:pt x="7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defTabSz="457200"/>
              <a:endParaRPr lang="en-US">
                <a:solidFill>
                  <a:srgbClr val="001C3D"/>
                </a:solidFill>
                <a:latin typeface="Calibri"/>
              </a:endParaRPr>
            </a:p>
          </p:txBody>
        </p:sp>
        <p:sp>
          <p:nvSpPr>
            <p:cNvPr id="41" name="Text Box 45">
              <a:extLst>
                <a:ext uri="{FF2B5EF4-FFF2-40B4-BE49-F238E27FC236}">
                  <a16:creationId xmlns:a16="http://schemas.microsoft.com/office/drawing/2014/main" id="{B38C7534-0AF1-693E-9A2A-C8CD036934C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0" y="3552"/>
              <a:ext cx="473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charset="0"/>
                  <a:ea typeface="ＭＳ Ｐゴシック" charset="0"/>
                  <a:cs typeface="ＭＳ Ｐゴシック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charset="0"/>
                  <a:ea typeface="ＭＳ Ｐゴシック" charset="0"/>
                </a:defRPr>
              </a:lvl9pPr>
            </a:lstStyle>
            <a:p>
              <a:pPr defTabSz="457200" eaLnBrk="1" hangingPunct="1"/>
              <a:r>
                <a:rPr lang="en-US" sz="1800">
                  <a:solidFill>
                    <a:srgbClr val="001C3D"/>
                  </a:solidFill>
                </a:rPr>
                <a:t>10 ml</a:t>
              </a:r>
            </a:p>
          </p:txBody>
        </p:sp>
      </p:grpSp>
      <p:sp>
        <p:nvSpPr>
          <p:cNvPr id="42" name="Line 46">
            <a:extLst>
              <a:ext uri="{FF2B5EF4-FFF2-40B4-BE49-F238E27FC236}">
                <a16:creationId xmlns:a16="http://schemas.microsoft.com/office/drawing/2014/main" id="{4B0CA5E3-B74D-A4EE-33BC-5792A60973CC}"/>
              </a:ext>
            </a:extLst>
          </p:cNvPr>
          <p:cNvSpPr>
            <a:spLocks noChangeShapeType="1"/>
          </p:cNvSpPr>
          <p:nvPr/>
        </p:nvSpPr>
        <p:spPr bwMode="auto">
          <a:xfrm>
            <a:off x="6940548" y="2126550"/>
            <a:ext cx="0" cy="2819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defTabSz="457200"/>
            <a:endParaRPr lang="en-US">
              <a:solidFill>
                <a:srgbClr val="001C3D"/>
              </a:solidFill>
              <a:latin typeface="Calibri"/>
            </a:endParaRPr>
          </a:p>
        </p:txBody>
      </p:sp>
      <p:sp>
        <p:nvSpPr>
          <p:cNvPr id="43" name="Text Box 48">
            <a:extLst>
              <a:ext uri="{FF2B5EF4-FFF2-40B4-BE49-F238E27FC236}">
                <a16:creationId xmlns:a16="http://schemas.microsoft.com/office/drawing/2014/main" id="{0541EEBC-95F9-2E3E-4B14-497D1BA80C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69348" y="2583750"/>
            <a:ext cx="1384300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defTabSz="457200" eaLnBrk="1" hangingPunct="1"/>
            <a:r>
              <a:rPr lang="en-US">
                <a:solidFill>
                  <a:srgbClr val="001C3D"/>
                </a:solidFill>
              </a:rPr>
              <a:t>Solution:</a:t>
            </a:r>
          </a:p>
          <a:p>
            <a:pPr defTabSz="457200" eaLnBrk="1" hangingPunct="1">
              <a:buFontTx/>
              <a:buChar char="•"/>
            </a:pPr>
            <a:r>
              <a:rPr lang="en-US" sz="2000">
                <a:solidFill>
                  <a:srgbClr val="001C3D"/>
                </a:solidFill>
              </a:rPr>
              <a:t> 1 ml of 5</a:t>
            </a:r>
          </a:p>
          <a:p>
            <a:pPr defTabSz="457200" eaLnBrk="1" hangingPunct="1">
              <a:buFontTx/>
              <a:buChar char="•"/>
            </a:pPr>
            <a:r>
              <a:rPr lang="en-US" sz="2000">
                <a:solidFill>
                  <a:srgbClr val="001C3D"/>
                </a:solidFill>
              </a:rPr>
              <a:t> 2 ml of 3</a:t>
            </a:r>
          </a:p>
          <a:p>
            <a:pPr defTabSz="457200" eaLnBrk="1" hangingPunct="1">
              <a:buFontTx/>
              <a:buChar char="•"/>
            </a:pPr>
            <a:r>
              <a:rPr lang="en-US" sz="2000">
                <a:solidFill>
                  <a:srgbClr val="001C3D"/>
                </a:solidFill>
              </a:rPr>
              <a:t> 6 ml of 4</a:t>
            </a:r>
          </a:p>
          <a:p>
            <a:pPr defTabSz="457200" eaLnBrk="1" hangingPunct="1">
              <a:buFontTx/>
              <a:buChar char="•"/>
            </a:pPr>
            <a:r>
              <a:rPr lang="en-US" sz="2000">
                <a:solidFill>
                  <a:srgbClr val="001C3D"/>
                </a:solidFill>
              </a:rPr>
              <a:t> 1 ml of 2</a:t>
            </a:r>
          </a:p>
        </p:txBody>
      </p:sp>
      <p:sp>
        <p:nvSpPr>
          <p:cNvPr id="44" name="Text Box 49">
            <a:extLst>
              <a:ext uri="{FF2B5EF4-FFF2-40B4-BE49-F238E27FC236}">
                <a16:creationId xmlns:a16="http://schemas.microsoft.com/office/drawing/2014/main" id="{C97FA400-F81F-2CDA-0944-3F70F3DCD0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40749" y="1897951"/>
            <a:ext cx="174599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charset="0"/>
                <a:ea typeface="ＭＳ Ｐゴシック" charset="0"/>
              </a:defRPr>
            </a:lvl9pPr>
          </a:lstStyle>
          <a:p>
            <a:pPr defTabSz="457200" eaLnBrk="1" hangingPunct="1"/>
            <a:r>
              <a:rPr lang="ja-JP" altLang="en-US">
                <a:solidFill>
                  <a:srgbClr val="001C3D"/>
                </a:solidFill>
              </a:rPr>
              <a:t>“</a:t>
            </a:r>
            <a:r>
              <a:rPr lang="en-US" altLang="ja-JP">
                <a:solidFill>
                  <a:srgbClr val="001C3D"/>
                </a:solidFill>
              </a:rPr>
              <a:t>knapsack</a:t>
            </a:r>
            <a:r>
              <a:rPr lang="ja-JP" altLang="en-US">
                <a:solidFill>
                  <a:srgbClr val="001C3D"/>
                </a:solidFill>
              </a:rPr>
              <a:t>”</a:t>
            </a:r>
            <a:endParaRPr lang="en-US">
              <a:solidFill>
                <a:srgbClr val="001C3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83168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 build="p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6630DB0-61A7-7311-A29F-C16AE01B57E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640080"/>
                <a:ext cx="10515600" cy="5360670"/>
              </a:xfrm>
            </p:spPr>
            <p:txBody>
              <a:bodyPr>
                <a:normAutofit fontScale="92500"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3200" dirty="0"/>
                  <a:t>Suppose there is a better </a:t>
                </a:r>
                <a:r>
                  <a:rPr lang="en-US" sz="3200" i="1" dirty="0"/>
                  <a:t>non-greedy</a:t>
                </a:r>
                <a:r>
                  <a:rPr lang="en-US" sz="3200" dirty="0"/>
                  <a:t> solution</a:t>
                </a:r>
              </a:p>
              <a:p>
                <a:pPr lvl="1">
                  <a:lnSpc>
                    <a:spcPct val="150000"/>
                  </a:lnSpc>
                </a:pPr>
                <a:endParaRPr lang="en-US" sz="2800" dirty="0"/>
              </a:p>
              <a:p>
                <a:pPr lvl="1">
                  <a:lnSpc>
                    <a:spcPct val="150000"/>
                  </a:lnSpc>
                </a:pPr>
                <a:r>
                  <a:rPr lang="en-US" sz="2800" dirty="0"/>
                  <a:t>There must be two items </a:t>
                </a:r>
                <a14:m>
                  <m:oMath xmlns:m="http://schemas.openxmlformats.org/officeDocument/2006/math">
                    <m:r>
                      <a:rPr lang="en-US" sz="2800" i="1" dirty="0">
                        <a:latin typeface="Cambria Math" charset="0"/>
                      </a:rPr>
                      <m:t>𝑖</m:t>
                    </m:r>
                  </m:oMath>
                </a14:m>
                <a:r>
                  <a:rPr lang="en-US" sz="2800" dirty="0"/>
                  <a:t> and </a:t>
                </a:r>
                <a14:m>
                  <m:oMath xmlns:m="http://schemas.openxmlformats.org/officeDocument/2006/math">
                    <m:r>
                      <a:rPr lang="en-US" sz="2800" i="1" dirty="0">
                        <a:latin typeface="Cambria Math" charset="0"/>
                      </a:rPr>
                      <m:t>𝑗</m:t>
                    </m:r>
                  </m:oMath>
                </a14:m>
                <a:r>
                  <a:rPr lang="en-US" sz="2800" dirty="0"/>
                  <a:t> s</a:t>
                </a:r>
                <a:r>
                  <a:rPr lang="en-NL" sz="2800" dirty="0"/>
                  <a:t>.t.</a:t>
                </a:r>
                <a:r>
                  <a:rPr lang="en-US" sz="2800" dirty="0"/>
                  <a:t>:</a:t>
                </a:r>
                <a:br>
                  <a:rPr lang="en-US" sz="2800" dirty="0"/>
                </a:br>
                <a:r>
                  <a:rPr lang="en-NL" sz="2800" dirty="0"/>
                  <a:t>	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 dirty="0">
                            <a:latin typeface="Cambria Math" charset="0"/>
                          </a:rPr>
                          <m:t>𝑥</m:t>
                        </m:r>
                      </m:e>
                      <m:sub>
                        <m:r>
                          <a:rPr lang="en-US" sz="2800" i="1" dirty="0">
                            <a:latin typeface="Cambria Math" charset="0"/>
                          </a:rPr>
                          <m:t>𝑖</m:t>
                        </m:r>
                      </m:sub>
                    </m:sSub>
                    <m:r>
                      <a:rPr lang="en-US" sz="2800" i="1" dirty="0">
                        <a:latin typeface="Cambria Math" charset="0"/>
                      </a:rPr>
                      <m:t>&lt;</m:t>
                    </m:r>
                    <m:sSub>
                      <m:sSubPr>
                        <m:ctrlPr>
                          <a:rPr lang="en-US" sz="28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 dirty="0">
                            <a:latin typeface="Cambria Math" charset="0"/>
                          </a:rPr>
                          <m:t>𝑤</m:t>
                        </m:r>
                      </m:e>
                      <m:sub>
                        <m:r>
                          <a:rPr lang="en-US" sz="2800" i="1" dirty="0">
                            <a:latin typeface="Cambria Math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NL" sz="2800" i="1" dirty="0">
                    <a:latin typeface="Cambria Math" charset="0"/>
                  </a:rPr>
                  <a:t>			</a:t>
                </a:r>
                <a:r>
                  <a:rPr lang="en-GB" sz="1600" i="1" dirty="0">
                    <a:latin typeface="+mn-lt"/>
                  </a:rPr>
                  <a:t>(we didn’t take the full amount of i)</a:t>
                </a:r>
                <a:br>
                  <a:rPr lang="en-GB" sz="1800" i="1" dirty="0">
                    <a:latin typeface="+mn-lt"/>
                  </a:rPr>
                </a:br>
                <a:r>
                  <a:rPr lang="en-NL" sz="2800" i="1" dirty="0">
                    <a:latin typeface="Cambria Math" charset="0"/>
                  </a:rPr>
                  <a:t>	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 dirty="0">
                            <a:latin typeface="Cambria Math" charset="0"/>
                          </a:rPr>
                          <m:t>𝑥</m:t>
                        </m:r>
                      </m:e>
                      <m:sub>
                        <m:r>
                          <a:rPr lang="en-US" sz="2800" i="1" dirty="0">
                            <a:latin typeface="Cambria Math" charset="0"/>
                          </a:rPr>
                          <m:t>𝑗</m:t>
                        </m:r>
                      </m:sub>
                    </m:sSub>
                    <m:r>
                      <a:rPr lang="en-US" sz="2800" i="1" dirty="0">
                        <a:latin typeface="Cambria Math" charset="0"/>
                      </a:rPr>
                      <m:t>&gt;0 </m:t>
                    </m:r>
                  </m:oMath>
                </a14:m>
                <a:r>
                  <a:rPr lang="en-US" sz="2800" dirty="0"/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 dirty="0">
                            <a:latin typeface="Cambria Math" charset="0"/>
                          </a:rPr>
                          <m:t>𝑣</m:t>
                        </m:r>
                      </m:e>
                      <m:sub>
                        <m:r>
                          <a:rPr lang="en-US" sz="2800" i="1" dirty="0">
                            <a:latin typeface="Cambria Math" charset="0"/>
                          </a:rPr>
                          <m:t>𝑖</m:t>
                        </m:r>
                      </m:sub>
                    </m:sSub>
                    <m:r>
                      <a:rPr lang="en-US" sz="2800" i="1" dirty="0">
                        <a:latin typeface="Cambria Math" charset="0"/>
                      </a:rPr>
                      <m:t>&gt;</m:t>
                    </m:r>
                    <m:sSub>
                      <m:sSubPr>
                        <m:ctrlPr>
                          <a:rPr lang="en-US" sz="28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 dirty="0">
                            <a:latin typeface="Cambria Math" charset="0"/>
                          </a:rPr>
                          <m:t>𝑣</m:t>
                        </m:r>
                      </m:e>
                      <m:sub>
                        <m:r>
                          <a:rPr lang="en-US" sz="2800" i="1" dirty="0">
                            <a:latin typeface="Cambria Math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NL" sz="2800" dirty="0"/>
                  <a:t> 		</a:t>
                </a:r>
                <a:r>
                  <a:rPr lang="en-NL" sz="1500" i="1" dirty="0"/>
                  <a:t>(we took some of j but i is more valuable than j)</a:t>
                </a:r>
                <a:endParaRPr lang="en-US" sz="3000" i="1" dirty="0"/>
              </a:p>
              <a:p>
                <a:pPr lvl="1">
                  <a:lnSpc>
                    <a:spcPct val="150000"/>
                  </a:lnSpc>
                </a:pPr>
                <a:endParaRPr lang="en-US" sz="2800" dirty="0"/>
              </a:p>
              <a:p>
                <a:pPr lvl="1">
                  <a:lnSpc>
                    <a:spcPct val="150000"/>
                  </a:lnSpc>
                </a:pPr>
                <a:r>
                  <a:rPr lang="en-US" sz="2800" dirty="0"/>
                  <a:t>If we substitute some </a:t>
                </a:r>
                <a14:m>
                  <m:oMath xmlns:m="http://schemas.openxmlformats.org/officeDocument/2006/math">
                    <m:r>
                      <a:rPr lang="en-US" sz="2800" i="1" dirty="0">
                        <a:latin typeface="Cambria Math" charset="0"/>
                      </a:rPr>
                      <m:t>𝑖</m:t>
                    </m:r>
                  </m:oMath>
                </a14:m>
                <a:r>
                  <a:rPr lang="en-US" sz="2800" dirty="0"/>
                  <a:t> with </a:t>
                </a:r>
                <a14:m>
                  <m:oMath xmlns:m="http://schemas.openxmlformats.org/officeDocument/2006/math">
                    <m:r>
                      <a:rPr lang="en-US" sz="2800" i="1" dirty="0">
                        <a:latin typeface="Cambria Math" charset="0"/>
                      </a:rPr>
                      <m:t>𝑗</m:t>
                    </m:r>
                    <m:r>
                      <a:rPr lang="en-US" sz="2800" i="1" dirty="0">
                        <a:latin typeface="Cambria Math" charset="0"/>
                      </a:rPr>
                      <m:t>,</m:t>
                    </m:r>
                  </m:oMath>
                </a14:m>
                <a:r>
                  <a:rPr lang="en-US" sz="2800" dirty="0"/>
                  <a:t> we get c</a:t>
                </a:r>
                <a:r>
                  <a:rPr lang="en-NL" sz="2800" dirty="0" err="1"/>
                  <a:t>ould</a:t>
                </a:r>
                <a:r>
                  <a:rPr lang="en-NL" sz="2800" dirty="0"/>
                  <a:t> improve our solution by:</a:t>
                </a:r>
              </a:p>
              <a:p>
                <a:pPr marL="358775" lvl="1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dirty="0">
                          <a:latin typeface="Cambria Math" charset="0"/>
                        </a:rPr>
                        <m:t>y</m:t>
                      </m:r>
                      <m:r>
                        <a:rPr lang="en-US" sz="2800" dirty="0">
                          <a:latin typeface="Cambria Math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800" i="1" dirty="0">
                          <a:latin typeface="Cambria Math" charset="0"/>
                        </a:rPr>
                        <m:t>min</m:t>
                      </m:r>
                      <m:r>
                        <a:rPr lang="en-US" sz="2800" i="1" dirty="0">
                          <a:latin typeface="Cambria Math" charset="0"/>
                        </a:rPr>
                        <m:t>⁡(</m:t>
                      </m:r>
                      <m:sSub>
                        <m:sSub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 dirty="0">
                              <a:latin typeface="Cambria Math" charset="0"/>
                            </a:rPr>
                            <m:t>𝑤</m:t>
                          </m:r>
                        </m:e>
                        <m:sub>
                          <m:r>
                            <a:rPr lang="en-US" sz="2800" i="1" dirty="0">
                              <a:latin typeface="Cambria Math" charset="0"/>
                            </a:rPr>
                            <m:t>𝑖</m:t>
                          </m:r>
                        </m:sub>
                      </m:sSub>
                      <m:r>
                        <a:rPr lang="en-US" sz="2800" i="1" dirty="0">
                          <a:latin typeface="Cambria Math" charset="0"/>
                        </a:rPr>
                        <m:t>−</m:t>
                      </m:r>
                      <m:sSub>
                        <m:sSub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 dirty="0">
                              <a:latin typeface="Cambria Math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i="1" dirty="0">
                              <a:latin typeface="Cambria Math" charset="0"/>
                            </a:rPr>
                            <m:t>𝑖</m:t>
                          </m:r>
                        </m:sub>
                      </m:sSub>
                      <m:r>
                        <a:rPr lang="en-US" sz="2800" i="1" dirty="0">
                          <a:latin typeface="Cambria Math" charset="0"/>
                        </a:rPr>
                        <m:t>, </m:t>
                      </m:r>
                      <m:sSub>
                        <m:sSub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 dirty="0">
                              <a:latin typeface="Cambria Math" charset="0"/>
                            </a:rPr>
                            <m:t>𝑥</m:t>
                          </m:r>
                        </m:e>
                        <m:sub>
                          <m:r>
                            <a:rPr lang="en-US" sz="2800" i="1" dirty="0">
                              <a:latin typeface="Cambria Math" charset="0"/>
                            </a:rPr>
                            <m:t>𝑗</m:t>
                          </m:r>
                        </m:sub>
                      </m:sSub>
                      <m:r>
                        <a:rPr lang="en-US" sz="2800" i="1" dirty="0">
                          <a:latin typeface="Cambria Math" charset="0"/>
                        </a:rPr>
                        <m:t>)</m:t>
                      </m:r>
                    </m:oMath>
                  </m:oMathPara>
                </a14:m>
                <a:endParaRPr lang="en-US" sz="2800" dirty="0"/>
              </a:p>
              <a:p>
                <a:pPr>
                  <a:lnSpc>
                    <a:spcPct val="150000"/>
                  </a:lnSpc>
                </a:pPr>
                <a:endParaRPr lang="en-NL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6630DB0-61A7-7311-A29F-C16AE01B57E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640080"/>
                <a:ext cx="10515600" cy="5360670"/>
              </a:xfrm>
              <a:blipFill>
                <a:blip r:embed="rId2"/>
                <a:stretch>
                  <a:fillRect l="-1206"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3476719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C3AC9A-7EE3-D798-DAAB-53E3587762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L" dirty="0"/>
              <a:t>Egyptian Fractions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6EBE95-A806-5135-31D8-5C305CA9CB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660380" cy="4351338"/>
          </a:xfrm>
        </p:spPr>
        <p:txBody>
          <a:bodyPr>
            <a:normAutofit/>
          </a:bodyPr>
          <a:lstStyle/>
          <a:p>
            <a:r>
              <a:rPr lang="en-GB" dirty="0"/>
              <a:t>Egyptian fractions are a form of fraction notation which date back to Ancient Egypt, where every fraction is represented as a sum of unique fractions with </a:t>
            </a:r>
            <a:r>
              <a:rPr lang="en-GB" b="1" dirty="0"/>
              <a:t>numerator 1</a:t>
            </a:r>
            <a:r>
              <a:rPr lang="en-GB" dirty="0"/>
              <a:t>. </a:t>
            </a:r>
          </a:p>
          <a:p>
            <a:r>
              <a:rPr lang="en-GB" dirty="0"/>
              <a:t>Unlike the fractions we commonly use today, Egyptian fractions do not allow the numerator to be greater than 1.</a:t>
            </a:r>
          </a:p>
          <a:p>
            <a:r>
              <a:rPr lang="en-GB" dirty="0"/>
              <a:t>Given any ordinary fraction, convert it into an Egyptian fraction.</a:t>
            </a:r>
            <a:endParaRPr lang="en-NL" dirty="0"/>
          </a:p>
        </p:txBody>
      </p:sp>
      <p:pic>
        <p:nvPicPr>
          <p:cNvPr id="7172" name="Picture 4" descr="EGYPTIAN FRACTIONS – REPRESENTATIONS AS SUMS OF UNIT FRACTIONS">
            <a:extLst>
              <a:ext uri="{FF2B5EF4-FFF2-40B4-BE49-F238E27FC236}">
                <a16:creationId xmlns:a16="http://schemas.microsoft.com/office/drawing/2014/main" id="{885E55DD-81E0-6765-1C48-7B2F71D8CE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2000" y="5045075"/>
            <a:ext cx="5588000" cy="1447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7162582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7B39FB-5939-28C1-667D-A361A59E99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L" dirty="0"/>
              <a:t>Egyptian Fractions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619909-07E8-1077-5F17-45CA78CF77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 dirty="0"/>
              <a:t>Input</a:t>
            </a:r>
            <a:r>
              <a:rPr lang="en-GB" dirty="0"/>
              <a:t>: A fraction represented as two integers, </a:t>
            </a:r>
            <a:r>
              <a:rPr lang="en-GB" b="1" dirty="0">
                <a:latin typeface="Consolas" panose="020B0609020204030204" pitchFamily="49" charset="0"/>
                <a:cs typeface="Consolas" panose="020B0609020204030204" pitchFamily="49" charset="0"/>
              </a:rPr>
              <a:t>numerator</a:t>
            </a:r>
            <a:r>
              <a:rPr lang="en-GB" dirty="0"/>
              <a:t> and </a:t>
            </a:r>
            <a:r>
              <a:rPr lang="en-GB" b="1" dirty="0">
                <a:latin typeface="Consolas" panose="020B0609020204030204" pitchFamily="49" charset="0"/>
                <a:cs typeface="Consolas" panose="020B0609020204030204" pitchFamily="49" charset="0"/>
              </a:rPr>
              <a:t>denominator</a:t>
            </a:r>
            <a:r>
              <a:rPr lang="en-GB" dirty="0"/>
              <a:t>.</a:t>
            </a:r>
          </a:p>
          <a:p>
            <a:pPr marL="0" indent="0">
              <a:buNone/>
            </a:pPr>
            <a:r>
              <a:rPr lang="en-GB" b="1" dirty="0"/>
              <a:t>while</a:t>
            </a:r>
            <a:r>
              <a:rPr lang="en-GB" dirty="0"/>
              <a:t> </a:t>
            </a:r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numerator</a:t>
            </a:r>
            <a:r>
              <a:rPr lang="en-GB" dirty="0"/>
              <a:t> &gt; 0:</a:t>
            </a:r>
          </a:p>
          <a:p>
            <a:pPr lvl="1"/>
            <a:r>
              <a:rPr lang="en-GB" dirty="0"/>
              <a:t>Calculate the ceil of the division </a:t>
            </a:r>
            <a:r>
              <a:rPr lang="en-GB" b="1" dirty="0">
                <a:latin typeface="Consolas" panose="020B0609020204030204" pitchFamily="49" charset="0"/>
                <a:cs typeface="Consolas" panose="020B0609020204030204" pitchFamily="49" charset="0"/>
              </a:rPr>
              <a:t>denominator</a:t>
            </a:r>
            <a:r>
              <a:rPr lang="en-GB" dirty="0"/>
              <a:t> / </a:t>
            </a:r>
            <a:r>
              <a:rPr lang="en-GB" b="1" dirty="0">
                <a:latin typeface="Consolas" panose="020B0609020204030204" pitchFamily="49" charset="0"/>
                <a:cs typeface="Consolas" panose="020B0609020204030204" pitchFamily="49" charset="0"/>
              </a:rPr>
              <a:t>numerator</a:t>
            </a:r>
            <a:r>
              <a:rPr lang="en-GB" dirty="0"/>
              <a:t>, let this be </a:t>
            </a:r>
            <a:r>
              <a:rPr lang="en-GB" b="1" dirty="0">
                <a:latin typeface="Consolas" panose="020B0609020204030204" pitchFamily="49" charset="0"/>
                <a:cs typeface="Consolas" panose="020B0609020204030204" pitchFamily="49" charset="0"/>
              </a:rPr>
              <a:t>x</a:t>
            </a:r>
            <a:endParaRPr lang="en-GB" dirty="0"/>
          </a:p>
          <a:p>
            <a:pPr lvl="1"/>
            <a:r>
              <a:rPr lang="en-GB" dirty="0"/>
              <a:t>Set </a:t>
            </a:r>
            <a:r>
              <a:rPr lang="en-GB" b="1" dirty="0">
                <a:latin typeface="Consolas" panose="020B0609020204030204" pitchFamily="49" charset="0"/>
                <a:cs typeface="Consolas" panose="020B0609020204030204" pitchFamily="49" charset="0"/>
              </a:rPr>
              <a:t>1/x</a:t>
            </a:r>
            <a:r>
              <a:rPr lang="en-GB" b="1" dirty="0"/>
              <a:t> </a:t>
            </a:r>
            <a:r>
              <a:rPr lang="en-GB" dirty="0"/>
              <a:t>as part of the Egyptian fraction representation.</a:t>
            </a:r>
          </a:p>
          <a:p>
            <a:pPr lvl="1"/>
            <a:r>
              <a:rPr lang="en-GB" dirty="0"/>
              <a:t>Update numerator to </a:t>
            </a:r>
            <a:r>
              <a:rPr lang="en-GB" b="1" dirty="0">
                <a:latin typeface="Consolas" panose="020B0609020204030204" pitchFamily="49" charset="0"/>
                <a:cs typeface="Consolas" panose="020B0609020204030204" pitchFamily="49" charset="0"/>
              </a:rPr>
              <a:t>numerator * x - denominator</a:t>
            </a:r>
            <a:r>
              <a:rPr lang="en-GB" dirty="0"/>
              <a:t>.</a:t>
            </a:r>
          </a:p>
          <a:p>
            <a:pPr lvl="1"/>
            <a:r>
              <a:rPr lang="en-GB" dirty="0"/>
              <a:t>Update denominator to </a:t>
            </a:r>
            <a:r>
              <a:rPr lang="en-GB" b="1" dirty="0">
                <a:latin typeface="Consolas" panose="020B0609020204030204" pitchFamily="49" charset="0"/>
                <a:cs typeface="Consolas" panose="020B0609020204030204" pitchFamily="49" charset="0"/>
              </a:rPr>
              <a:t>denominator * x</a:t>
            </a:r>
            <a:r>
              <a:rPr lang="en-GB" dirty="0"/>
              <a:t>.</a:t>
            </a:r>
          </a:p>
          <a:p>
            <a:pPr lvl="1"/>
            <a:r>
              <a:rPr lang="en-GB" dirty="0"/>
              <a:t>Reduce </a:t>
            </a:r>
            <a:r>
              <a:rPr lang="en-GB" b="1" dirty="0">
                <a:latin typeface="Consolas" panose="020B0609020204030204" pitchFamily="49" charset="0"/>
                <a:cs typeface="Consolas" panose="020B0609020204030204" pitchFamily="49" charset="0"/>
              </a:rPr>
              <a:t>numerator</a:t>
            </a:r>
            <a:r>
              <a:rPr lang="en-GB" dirty="0"/>
              <a:t> and </a:t>
            </a:r>
            <a:r>
              <a:rPr lang="en-GB" b="1" dirty="0">
                <a:latin typeface="Consolas" panose="020B0609020204030204" pitchFamily="49" charset="0"/>
                <a:cs typeface="Consolas" panose="020B0609020204030204" pitchFamily="49" charset="0"/>
              </a:rPr>
              <a:t>denominator</a:t>
            </a:r>
            <a:r>
              <a:rPr lang="en-GB" dirty="0"/>
              <a:t> to their simplest form.</a:t>
            </a:r>
            <a:endParaRPr lang="en-NL" dirty="0"/>
          </a:p>
        </p:txBody>
      </p:sp>
      <p:pic>
        <p:nvPicPr>
          <p:cNvPr id="4" name="Picture 4" descr="EGYPTIAN FRACTIONS – REPRESENTATIONS AS SUMS OF UNIT FRACTIONS">
            <a:extLst>
              <a:ext uri="{FF2B5EF4-FFF2-40B4-BE49-F238E27FC236}">
                <a16:creationId xmlns:a16="http://schemas.microsoft.com/office/drawing/2014/main" id="{B528FBBD-3A5A-7920-62E6-2D558BC777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0540" y="5273675"/>
            <a:ext cx="5588000" cy="1447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8938474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A79907-4788-C7B4-8C1D-ED14A722D8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60070"/>
            <a:ext cx="10515600" cy="6035040"/>
          </a:xfrm>
        </p:spPr>
        <p:txBody>
          <a:bodyPr>
            <a:normAutofit fontScale="92500" lnSpcReduction="10000"/>
          </a:bodyPr>
          <a:lstStyle/>
          <a:p>
            <a:pPr marL="0" indent="0" algn="l">
              <a:buNone/>
            </a:pPr>
            <a:r>
              <a:rPr lang="en-GB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</a:rPr>
              <a:t>Example: 3/7</a:t>
            </a:r>
          </a:p>
          <a:p>
            <a:pPr marL="0" indent="0" algn="l">
              <a:buNone/>
            </a:pPr>
            <a:endParaRPr lang="en-GB" b="1" i="0" dirty="0">
              <a:solidFill>
                <a:srgbClr val="0D0D0D"/>
              </a:solidFill>
              <a:effectLst/>
              <a:highlight>
                <a:srgbClr val="FFFFFF"/>
              </a:highlight>
            </a:endParaRPr>
          </a:p>
          <a:p>
            <a:pPr marL="742950" lvl="1" indent="-285750" algn="l">
              <a:buFont typeface="+mj-lt"/>
              <a:buAutoNum type="arabicPeriod"/>
            </a:pPr>
            <a:r>
              <a:rPr lang="en-GB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</a:rPr>
              <a:t>Calculate ceiling of </a:t>
            </a:r>
            <a:r>
              <a:rPr lang="en-GB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denominator/numerator </a:t>
            </a:r>
            <a:r>
              <a:rPr lang="en-GB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</a:rPr>
              <a:t>= ceil(7/3) = 3.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GB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</a:rPr>
              <a:t>The first unit fraction is </a:t>
            </a:r>
            <a:r>
              <a:rPr lang="en-GB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</a:rPr>
              <a:t>1/3</a:t>
            </a:r>
            <a:r>
              <a:rPr lang="en-GB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</a:rPr>
              <a:t>.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GB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</a:rPr>
              <a:t>Update numerator: </a:t>
            </a:r>
            <a:r>
              <a:rPr lang="en-GB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</a:rPr>
              <a:t>numerator = 3 * 3 - 7 = 2</a:t>
            </a:r>
            <a:r>
              <a:rPr lang="en-GB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</a:rPr>
              <a:t>.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GB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</a:rPr>
              <a:t>Update denominator: </a:t>
            </a:r>
            <a:r>
              <a:rPr lang="en-GB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</a:rPr>
              <a:t>denominator = 7 * 3 = 21</a:t>
            </a:r>
            <a:r>
              <a:rPr lang="en-GB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</a:rPr>
              <a:t>.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GB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</a:rPr>
              <a:t>The fraction is now </a:t>
            </a:r>
            <a:r>
              <a:rPr lang="en-GB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</a:rPr>
              <a:t>2/21</a:t>
            </a:r>
            <a:r>
              <a:rPr lang="en-GB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</a:rPr>
              <a:t>.</a:t>
            </a:r>
          </a:p>
          <a:p>
            <a:pPr algn="l">
              <a:buFont typeface="+mj-lt"/>
              <a:buAutoNum type="arabicPeriod"/>
            </a:pPr>
            <a:endParaRPr lang="en-GB" b="1" i="0" dirty="0">
              <a:solidFill>
                <a:srgbClr val="0D0D0D"/>
              </a:solidFill>
              <a:effectLst/>
              <a:highlight>
                <a:srgbClr val="FFFFFF"/>
              </a:highlight>
            </a:endParaRPr>
          </a:p>
          <a:p>
            <a:pPr marL="742950" lvl="1" indent="-285750" algn="l">
              <a:buFont typeface="+mj-lt"/>
              <a:buAutoNum type="arabicPeriod"/>
            </a:pPr>
            <a:r>
              <a:rPr lang="en-GB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</a:rPr>
              <a:t>Calculate ceiling of </a:t>
            </a:r>
            <a:r>
              <a:rPr lang="en-GB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</a:rPr>
              <a:t>denominator / numerator </a:t>
            </a:r>
            <a:r>
              <a:rPr lang="en-GB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</a:rPr>
              <a:t>= ceil(21/2) = 11.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GB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</a:rPr>
              <a:t>The second unit fraction is </a:t>
            </a:r>
            <a:r>
              <a:rPr lang="en-GB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</a:rPr>
              <a:t>1/11</a:t>
            </a:r>
            <a:r>
              <a:rPr lang="en-GB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</a:rPr>
              <a:t>.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GB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</a:rPr>
              <a:t>Update numerator: </a:t>
            </a:r>
            <a:r>
              <a:rPr lang="en-GB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</a:rPr>
              <a:t>numerator = 2 * 11 - 21 = 1</a:t>
            </a:r>
            <a:r>
              <a:rPr lang="en-GB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</a:rPr>
              <a:t>.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GB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</a:rPr>
              <a:t>Update denominator: </a:t>
            </a:r>
            <a:r>
              <a:rPr lang="en-GB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</a:rPr>
              <a:t>denominator = 21 * 11 = 231</a:t>
            </a:r>
            <a:r>
              <a:rPr lang="en-GB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</a:rPr>
              <a:t>.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GB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</a:rPr>
              <a:t>The fraction is now </a:t>
            </a:r>
            <a:r>
              <a:rPr lang="en-GB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</a:rPr>
              <a:t>1/231</a:t>
            </a:r>
            <a:r>
              <a:rPr lang="en-GB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</a:rPr>
              <a:t>.</a:t>
            </a:r>
          </a:p>
          <a:p>
            <a:pPr marL="0" indent="0" algn="l">
              <a:buNone/>
            </a:pPr>
            <a:endParaRPr lang="en-GB" b="0" i="0" dirty="0">
              <a:solidFill>
                <a:srgbClr val="0D0D0D"/>
              </a:solidFill>
              <a:effectLst/>
              <a:highlight>
                <a:srgbClr val="FFFFFF"/>
              </a:highlight>
            </a:endParaRPr>
          </a:p>
          <a:p>
            <a:pPr marL="0" indent="0" algn="l">
              <a:buNone/>
            </a:pPr>
            <a:r>
              <a:rPr lang="en-GB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</a:rPr>
              <a:t>The original fraction 3/7 can be represented as the sum of </a:t>
            </a:r>
          </a:p>
          <a:p>
            <a:pPr marL="0" indent="0" algn="l">
              <a:buNone/>
            </a:pPr>
            <a:r>
              <a:rPr lang="en-GB" dirty="0">
                <a:solidFill>
                  <a:srgbClr val="0D0D0D"/>
                </a:solidFill>
                <a:highlight>
                  <a:srgbClr val="FFFFFF"/>
                </a:highlight>
              </a:rPr>
              <a:t>		</a:t>
            </a:r>
            <a:r>
              <a:rPr lang="en-GB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</a:rPr>
              <a:t>1/3 + 1/11 + 1/231.</a:t>
            </a:r>
          </a:p>
          <a:p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3792079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>
            <a:extLst>
              <a:ext uri="{FF2B5EF4-FFF2-40B4-BE49-F238E27FC236}">
                <a16:creationId xmlns:a16="http://schemas.microsoft.com/office/drawing/2014/main" id="{E54BABEF-29F7-AFF9-A984-50E25EBD23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857250"/>
            <a:ext cx="9144000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7237704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479A6585-C4C5-0BDE-DD1D-A39C8C4841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L" dirty="0"/>
              <a:t>Trie Complexity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511FE24-2532-DF2E-0192-82442B04311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64852057"/>
              </p:ext>
            </p:extLst>
          </p:nvPr>
        </p:nvGraphicFramePr>
        <p:xfrm>
          <a:off x="838200" y="1825625"/>
          <a:ext cx="10515600" cy="4535269"/>
        </p:xfrm>
        <a:graphic>
          <a:graphicData uri="http://schemas.openxmlformats.org/drawingml/2006/table">
            <a:tbl>
              <a:tblPr/>
              <a:tblGrid>
                <a:gridCol w="1813559">
                  <a:extLst>
                    <a:ext uri="{9D8B030D-6E8A-4147-A177-3AD203B41FA5}">
                      <a16:colId xmlns:a16="http://schemas.microsoft.com/office/drawing/2014/main" val="1268297909"/>
                    </a:ext>
                  </a:extLst>
                </a:gridCol>
                <a:gridCol w="2114550">
                  <a:extLst>
                    <a:ext uri="{9D8B030D-6E8A-4147-A177-3AD203B41FA5}">
                      <a16:colId xmlns:a16="http://schemas.microsoft.com/office/drawing/2014/main" val="947905397"/>
                    </a:ext>
                  </a:extLst>
                </a:gridCol>
                <a:gridCol w="6587491">
                  <a:extLst>
                    <a:ext uri="{9D8B030D-6E8A-4147-A177-3AD203B41FA5}">
                      <a16:colId xmlns:a16="http://schemas.microsoft.com/office/drawing/2014/main" val="1277435915"/>
                    </a:ext>
                  </a:extLst>
                </a:gridCol>
              </a:tblGrid>
              <a:tr h="161161">
                <a:tc>
                  <a:txBody>
                    <a:bodyPr/>
                    <a:lstStyle/>
                    <a:p>
                      <a:pPr fontAlgn="b"/>
                      <a:r>
                        <a:rPr lang="en-GB" sz="2000" b="1" dirty="0">
                          <a:effectLst/>
                          <a:latin typeface="+mn-lt"/>
                        </a:rPr>
                        <a:t>Operation</a:t>
                      </a:r>
                    </a:p>
                  </a:txBody>
                  <a:tcPr marL="40290" marR="40290" marT="20145" marB="20145" anchor="b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"/>
                      <a:r>
                        <a:rPr lang="en-GB" sz="2000" b="1" dirty="0">
                          <a:effectLst/>
                          <a:latin typeface="+mn-lt"/>
                        </a:rPr>
                        <a:t>Complexity</a:t>
                      </a:r>
                    </a:p>
                  </a:txBody>
                  <a:tcPr marL="40290" marR="40290" marT="20145" marB="20145" anchor="b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"/>
                      <a:r>
                        <a:rPr lang="en-GB" sz="2000" b="1">
                          <a:effectLst/>
                          <a:latin typeface="+mn-lt"/>
                        </a:rPr>
                        <a:t>Notes</a:t>
                      </a:r>
                    </a:p>
                  </a:txBody>
                  <a:tcPr marL="40290" marR="40290" marT="20145" marB="20145" anchor="b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2623317"/>
                  </a:ext>
                </a:extLst>
              </a:tr>
              <a:tr h="644643">
                <a:tc>
                  <a:txBody>
                    <a:bodyPr/>
                    <a:lstStyle/>
                    <a:p>
                      <a:pPr fontAlgn="base"/>
                      <a:r>
                        <a:rPr lang="en-GB" sz="2000" dirty="0">
                          <a:effectLst/>
                          <a:latin typeface="+mn-lt"/>
                        </a:rPr>
                        <a:t>Insertion</a:t>
                      </a:r>
                    </a:p>
                  </a:txBody>
                  <a:tcPr marL="40290" marR="40290" marT="20145" marB="20145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GB" sz="2000" i="1" dirty="0">
                          <a:effectLst/>
                          <a:latin typeface="+mn-lt"/>
                        </a:rPr>
                        <a:t>O</a:t>
                      </a:r>
                      <a:r>
                        <a:rPr lang="en-GB" sz="2000" dirty="0">
                          <a:effectLst/>
                          <a:latin typeface="+mn-lt"/>
                        </a:rPr>
                        <a:t>(</a:t>
                      </a:r>
                      <a:r>
                        <a:rPr lang="en-GB" sz="2000" i="1" dirty="0">
                          <a:effectLst/>
                          <a:latin typeface="+mn-lt"/>
                        </a:rPr>
                        <a:t>K</a:t>
                      </a:r>
                      <a:r>
                        <a:rPr lang="en-GB" sz="2000" dirty="0">
                          <a:effectLst/>
                          <a:latin typeface="+mn-lt"/>
                        </a:rPr>
                        <a:t>)</a:t>
                      </a:r>
                    </a:p>
                  </a:txBody>
                  <a:tcPr marL="40290" marR="40290" marT="20145" marB="20145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GB" sz="1800" dirty="0">
                          <a:effectLst/>
                          <a:latin typeface="+mn-lt"/>
                        </a:rPr>
                        <a:t>Independent of the alphabet size </a:t>
                      </a:r>
                      <a:r>
                        <a:rPr lang="en-GB" sz="1800" i="1" dirty="0">
                          <a:effectLst/>
                          <a:latin typeface="+mn-lt"/>
                        </a:rPr>
                        <a:t>S</a:t>
                      </a:r>
                      <a:r>
                        <a:rPr lang="en-GB" sz="1800" dirty="0">
                          <a:effectLst/>
                          <a:latin typeface="+mn-lt"/>
                        </a:rPr>
                        <a:t> as each level of the </a:t>
                      </a:r>
                      <a:r>
                        <a:rPr lang="en-GB" sz="1800" dirty="0" err="1">
                          <a:effectLst/>
                          <a:latin typeface="+mn-lt"/>
                        </a:rPr>
                        <a:t>trie</a:t>
                      </a:r>
                      <a:r>
                        <a:rPr lang="en-GB" sz="1800" dirty="0">
                          <a:effectLst/>
                          <a:latin typeface="+mn-lt"/>
                        </a:rPr>
                        <a:t> represents a character in the key.</a:t>
                      </a:r>
                    </a:p>
                  </a:txBody>
                  <a:tcPr marL="40290" marR="40290" marT="20145" marB="20145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8791735"/>
                  </a:ext>
                </a:extLst>
              </a:tr>
              <a:tr h="402902">
                <a:tc>
                  <a:txBody>
                    <a:bodyPr/>
                    <a:lstStyle/>
                    <a:p>
                      <a:pPr fontAlgn="base"/>
                      <a:r>
                        <a:rPr lang="en-GB" sz="2000">
                          <a:effectLst/>
                          <a:latin typeface="+mn-lt"/>
                        </a:rPr>
                        <a:t>Search</a:t>
                      </a:r>
                    </a:p>
                  </a:txBody>
                  <a:tcPr marL="40290" marR="40290" marT="20145" marB="20145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GB" sz="2000" i="1" dirty="0">
                          <a:effectLst/>
                          <a:latin typeface="+mn-lt"/>
                        </a:rPr>
                        <a:t>O</a:t>
                      </a:r>
                      <a:r>
                        <a:rPr lang="en-GB" sz="2000" dirty="0">
                          <a:effectLst/>
                          <a:latin typeface="+mn-lt"/>
                        </a:rPr>
                        <a:t>(</a:t>
                      </a:r>
                      <a:r>
                        <a:rPr lang="en-GB" sz="2000" i="1" dirty="0">
                          <a:effectLst/>
                          <a:latin typeface="+mn-lt"/>
                        </a:rPr>
                        <a:t>K</a:t>
                      </a:r>
                      <a:r>
                        <a:rPr lang="en-GB" sz="2000" dirty="0">
                          <a:effectLst/>
                          <a:latin typeface="+mn-lt"/>
                        </a:rPr>
                        <a:t>)</a:t>
                      </a:r>
                    </a:p>
                  </a:txBody>
                  <a:tcPr marL="40290" marR="40290" marT="20145" marB="20145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GB" sz="1800" dirty="0">
                          <a:effectLst/>
                          <a:latin typeface="+mn-lt"/>
                        </a:rPr>
                        <a:t>Like insertion, depends on the length of the key.</a:t>
                      </a:r>
                    </a:p>
                  </a:txBody>
                  <a:tcPr marL="40290" marR="40290" marT="20145" marB="20145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7903060"/>
                  </a:ext>
                </a:extLst>
              </a:tr>
              <a:tr h="402902">
                <a:tc>
                  <a:txBody>
                    <a:bodyPr/>
                    <a:lstStyle/>
                    <a:p>
                      <a:pPr fontAlgn="base"/>
                      <a:r>
                        <a:rPr lang="en-GB" sz="2000" dirty="0">
                          <a:effectLst/>
                          <a:latin typeface="+mn-lt"/>
                        </a:rPr>
                        <a:t>Deletion</a:t>
                      </a:r>
                    </a:p>
                  </a:txBody>
                  <a:tcPr marL="40290" marR="40290" marT="20145" marB="20145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GB" sz="2000" i="1" dirty="0">
                          <a:effectLst/>
                          <a:latin typeface="+mn-lt"/>
                        </a:rPr>
                        <a:t>O</a:t>
                      </a:r>
                      <a:r>
                        <a:rPr lang="en-GB" sz="2000" dirty="0">
                          <a:effectLst/>
                          <a:latin typeface="+mn-lt"/>
                        </a:rPr>
                        <a:t>(</a:t>
                      </a:r>
                      <a:r>
                        <a:rPr lang="en-GB" sz="2000" i="1" dirty="0">
                          <a:effectLst/>
                          <a:latin typeface="+mn-lt"/>
                        </a:rPr>
                        <a:t>K</a:t>
                      </a:r>
                      <a:r>
                        <a:rPr lang="en-GB" sz="2000" dirty="0">
                          <a:effectLst/>
                          <a:latin typeface="+mn-lt"/>
                        </a:rPr>
                        <a:t>)</a:t>
                      </a:r>
                    </a:p>
                  </a:txBody>
                  <a:tcPr marL="40290" marR="40290" marT="20145" marB="20145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GB" sz="1800" dirty="0">
                          <a:effectLst/>
                          <a:latin typeface="+mn-lt"/>
                        </a:rPr>
                        <a:t>Requires traversing the key and possibly deleting nodes.</a:t>
                      </a:r>
                    </a:p>
                  </a:txBody>
                  <a:tcPr marL="40290" marR="40290" marT="20145" marB="20145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5980792"/>
                  </a:ext>
                </a:extLst>
              </a:tr>
              <a:tr h="1369866">
                <a:tc>
                  <a:txBody>
                    <a:bodyPr/>
                    <a:lstStyle/>
                    <a:p>
                      <a:pPr fontAlgn="base"/>
                      <a:r>
                        <a:rPr lang="en-GB" sz="2000">
                          <a:effectLst/>
                          <a:latin typeface="+mn-lt"/>
                        </a:rPr>
                        <a:t>Prefix Search</a:t>
                      </a:r>
                    </a:p>
                  </a:txBody>
                  <a:tcPr marL="40290" marR="40290" marT="20145" marB="20145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GB" sz="2000" i="1" dirty="0">
                          <a:effectLst/>
                          <a:latin typeface="+mn-lt"/>
                        </a:rPr>
                        <a:t>O</a:t>
                      </a:r>
                      <a:r>
                        <a:rPr lang="en-GB" sz="2000" dirty="0">
                          <a:effectLst/>
                          <a:latin typeface="+mn-lt"/>
                        </a:rPr>
                        <a:t>(</a:t>
                      </a:r>
                      <a:r>
                        <a:rPr lang="en-GB" sz="2000" i="1" dirty="0">
                          <a:effectLst/>
                          <a:latin typeface="+mn-lt"/>
                        </a:rPr>
                        <a:t>K</a:t>
                      </a:r>
                      <a:r>
                        <a:rPr lang="en-GB" sz="2000" dirty="0">
                          <a:effectLst/>
                          <a:latin typeface="+mn-lt"/>
                        </a:rPr>
                        <a:t>+</a:t>
                      </a:r>
                      <a:r>
                        <a:rPr lang="en-GB" sz="2000" i="1" dirty="0">
                          <a:effectLst/>
                          <a:latin typeface="+mn-lt"/>
                        </a:rPr>
                        <a:t>M</a:t>
                      </a:r>
                      <a:r>
                        <a:rPr lang="en-GB" sz="2000" dirty="0">
                          <a:effectLst/>
                          <a:latin typeface="+mn-lt"/>
                        </a:rPr>
                        <a:t>)</a:t>
                      </a:r>
                    </a:p>
                  </a:txBody>
                  <a:tcPr marL="40290" marR="40290" marT="20145" marB="20145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GB" sz="1800" i="1" dirty="0">
                          <a:effectLst/>
                          <a:latin typeface="+mn-lt"/>
                        </a:rPr>
                        <a:t>M</a:t>
                      </a:r>
                      <a:r>
                        <a:rPr lang="en-GB" sz="1800" dirty="0">
                          <a:effectLst/>
                          <a:latin typeface="+mn-lt"/>
                        </a:rPr>
                        <a:t> is the total number of characters in the output. This includes the time to find the prefix (</a:t>
                      </a:r>
                      <a:r>
                        <a:rPr lang="en-GB" sz="1800" i="1" dirty="0">
                          <a:effectLst/>
                          <a:latin typeface="+mn-lt"/>
                        </a:rPr>
                        <a:t>O</a:t>
                      </a:r>
                      <a:r>
                        <a:rPr lang="en-GB" sz="1800" dirty="0">
                          <a:effectLst/>
                          <a:latin typeface="+mn-lt"/>
                        </a:rPr>
                        <a:t>(</a:t>
                      </a:r>
                      <a:r>
                        <a:rPr lang="en-GB" sz="1800" i="1" dirty="0">
                          <a:effectLst/>
                          <a:latin typeface="+mn-lt"/>
                        </a:rPr>
                        <a:t>K</a:t>
                      </a:r>
                      <a:r>
                        <a:rPr lang="en-GB" sz="1800" dirty="0">
                          <a:effectLst/>
                          <a:latin typeface="+mn-lt"/>
                        </a:rPr>
                        <a:t>)) and then to traverse the subtree rooted at the prefix node to gather all keys (</a:t>
                      </a:r>
                      <a:r>
                        <a:rPr lang="en-GB" sz="1800" i="1" dirty="0">
                          <a:effectLst/>
                          <a:latin typeface="+mn-lt"/>
                        </a:rPr>
                        <a:t>M</a:t>
                      </a:r>
                      <a:r>
                        <a:rPr lang="en-GB" sz="1800" dirty="0">
                          <a:effectLst/>
                          <a:latin typeface="+mn-lt"/>
                        </a:rPr>
                        <a:t>).</a:t>
                      </a:r>
                    </a:p>
                  </a:txBody>
                  <a:tcPr marL="40290" marR="40290" marT="20145" marB="20145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8309163"/>
                  </a:ext>
                </a:extLst>
              </a:tr>
              <a:tr h="1369866">
                <a:tc>
                  <a:txBody>
                    <a:bodyPr/>
                    <a:lstStyle/>
                    <a:p>
                      <a:pPr fontAlgn="base"/>
                      <a:r>
                        <a:rPr lang="en-GB" sz="2000" dirty="0">
                          <a:effectLst/>
                          <a:latin typeface="+mn-lt"/>
                        </a:rPr>
                        <a:t>Space Complexity</a:t>
                      </a:r>
                    </a:p>
                  </a:txBody>
                  <a:tcPr marL="40290" marR="40290" marT="20145" marB="20145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GB" sz="2000" i="1" dirty="0">
                          <a:effectLst/>
                          <a:latin typeface="+mn-lt"/>
                        </a:rPr>
                        <a:t>O</a:t>
                      </a:r>
                      <a:r>
                        <a:rPr lang="en-GB" sz="2000" dirty="0">
                          <a:effectLst/>
                          <a:latin typeface="+mn-lt"/>
                        </a:rPr>
                        <a:t>(</a:t>
                      </a:r>
                      <a:r>
                        <a:rPr lang="en-GB" sz="2000" i="1" dirty="0">
                          <a:effectLst/>
                          <a:latin typeface="+mn-lt"/>
                        </a:rPr>
                        <a:t>S</a:t>
                      </a:r>
                      <a:r>
                        <a:rPr lang="en-GB" sz="2000" dirty="0">
                          <a:effectLst/>
                          <a:latin typeface="+mn-lt"/>
                        </a:rPr>
                        <a:t>⋅</a:t>
                      </a:r>
                      <a:r>
                        <a:rPr lang="en-GB" sz="2000" i="1" dirty="0">
                          <a:effectLst/>
                          <a:latin typeface="+mn-lt"/>
                        </a:rPr>
                        <a:t>N</a:t>
                      </a:r>
                      <a:r>
                        <a:rPr lang="en-GB" sz="2000" dirty="0">
                          <a:effectLst/>
                          <a:latin typeface="+mn-lt"/>
                        </a:rPr>
                        <a:t>)</a:t>
                      </a:r>
                    </a:p>
                  </a:txBody>
                  <a:tcPr marL="40290" marR="40290" marT="20145" marB="20145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ase"/>
                      <a:r>
                        <a:rPr lang="en-GB" sz="1800" dirty="0">
                          <a:effectLst/>
                          <a:latin typeface="+mn-lt"/>
                        </a:rPr>
                        <a:t>In the worst case, each node could have pointers to </a:t>
                      </a:r>
                      <a:r>
                        <a:rPr lang="en-GB" sz="1800" i="1" dirty="0">
                          <a:effectLst/>
                          <a:latin typeface="+mn-lt"/>
                        </a:rPr>
                        <a:t>S</a:t>
                      </a:r>
                      <a:r>
                        <a:rPr lang="en-GB" sz="1800" dirty="0">
                          <a:effectLst/>
                          <a:latin typeface="+mn-lt"/>
                        </a:rPr>
                        <a:t> other nodes, leading to a space complexity proportional to the product of the size of the alphabet and the number of nodes.</a:t>
                      </a:r>
                    </a:p>
                  </a:txBody>
                  <a:tcPr marL="40290" marR="40290" marT="20145" marB="20145" anchor="ctr">
                    <a:lnL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3044237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FEC0492D-D2D6-5210-B556-3FF856E3C49F}"/>
              </a:ext>
            </a:extLst>
          </p:cNvPr>
          <p:cNvSpPr txBox="1"/>
          <p:nvPr/>
        </p:nvSpPr>
        <p:spPr>
          <a:xfrm>
            <a:off x="6203633" y="767358"/>
            <a:ext cx="609790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0" i="1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KaTeX_Math"/>
              </a:rPr>
              <a:t>K</a:t>
            </a:r>
            <a:r>
              <a:rPr lang="en-GB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is the key length, </a:t>
            </a:r>
            <a:endParaRPr lang="en-GB" dirty="0">
              <a:solidFill>
                <a:srgbClr val="0D0D0D"/>
              </a:solidFill>
              <a:highlight>
                <a:srgbClr val="FFFFFF"/>
              </a:highlight>
              <a:latin typeface="KaTeX_Main"/>
            </a:endParaRPr>
          </a:p>
          <a:p>
            <a:r>
              <a:rPr lang="en-GB" b="0" i="1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KaTeX_Math"/>
              </a:rPr>
              <a:t>S</a:t>
            </a:r>
            <a:r>
              <a:rPr lang="en-GB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is the size of the alphabet, </a:t>
            </a:r>
            <a:endParaRPr lang="en-GB" dirty="0">
              <a:solidFill>
                <a:srgbClr val="0D0D0D"/>
              </a:solidFill>
              <a:highlight>
                <a:srgbClr val="FFFFFF"/>
              </a:highlight>
              <a:latin typeface="KaTeX_Main"/>
            </a:endParaRPr>
          </a:p>
          <a:p>
            <a:r>
              <a:rPr lang="en-GB" b="0" i="1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KaTeX_Math"/>
              </a:rPr>
              <a:t>N</a:t>
            </a:r>
            <a:r>
              <a:rPr lang="en-GB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is the size of the </a:t>
            </a:r>
            <a:r>
              <a:rPr lang="en-GB" b="0" i="0" dirty="0" err="1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trie</a:t>
            </a:r>
            <a:r>
              <a:rPr lang="en-GB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(total number of nodes).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282247638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>
            <a:extLst>
              <a:ext uri="{FF2B5EF4-FFF2-40B4-BE49-F238E27FC236}">
                <a16:creationId xmlns:a16="http://schemas.microsoft.com/office/drawing/2014/main" id="{6DAE871F-C442-CC13-7DE8-84D31701BA6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7511" y="500553"/>
            <a:ext cx="5916294" cy="58568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7343883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0514A2-1A1A-53BA-4E39-9E0CF1B29D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L" dirty="0"/>
              <a:t>Pattern Matching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E3D34D0-ABAC-A815-08B1-589B95B0847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0873"/>
          <a:stretch/>
        </p:blipFill>
        <p:spPr>
          <a:xfrm>
            <a:off x="2159000" y="1958702"/>
            <a:ext cx="7874000" cy="4074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659257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7D7888-A696-8064-48C7-FC27ED791E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L" dirty="0"/>
              <a:t>Boyer-Moore Heuristics</a:t>
            </a:r>
          </a:p>
        </p:txBody>
      </p:sp>
      <p:graphicFrame>
        <p:nvGraphicFramePr>
          <p:cNvPr id="4" name="Object 4">
            <a:extLst>
              <a:ext uri="{FF2B5EF4-FFF2-40B4-BE49-F238E27FC236}">
                <a16:creationId xmlns:a16="http://schemas.microsoft.com/office/drawing/2014/main" id="{3545E090-C39C-315C-0D66-B1A09B425E7C}"/>
              </a:ext>
            </a:extLst>
          </p:cNvPr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64561251"/>
              </p:ext>
            </p:extLst>
          </p:nvPr>
        </p:nvGraphicFramePr>
        <p:xfrm>
          <a:off x="990337" y="2377440"/>
          <a:ext cx="10211326" cy="291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6451600" imgH="1841500" progId="Visio.Drawing.6">
                  <p:embed/>
                </p:oleObj>
              </mc:Choice>
              <mc:Fallback>
                <p:oleObj name="VISIO" r:id="rId2" imgW="6451600" imgH="1841500" progId="Visio.Drawing.6">
                  <p:embed/>
                  <p:pic>
                    <p:nvPicPr>
                      <p:cNvPr id="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337" y="2377440"/>
                        <a:ext cx="10211326" cy="2914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9791337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DC84E1-2879-48F6-AF7A-799064CBA2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L" dirty="0"/>
              <a:t>KMP</a:t>
            </a:r>
          </a:p>
        </p:txBody>
      </p:sp>
      <p:graphicFrame>
        <p:nvGraphicFramePr>
          <p:cNvPr id="4" name="Group 1028">
            <a:extLst>
              <a:ext uri="{FF2B5EF4-FFF2-40B4-BE49-F238E27FC236}">
                <a16:creationId xmlns:a16="http://schemas.microsoft.com/office/drawing/2014/main" id="{539C8647-4BF8-3A76-D0BD-9567869C9C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9854958"/>
              </p:ext>
            </p:extLst>
          </p:nvPr>
        </p:nvGraphicFramePr>
        <p:xfrm>
          <a:off x="1609679" y="2956757"/>
          <a:ext cx="3505200" cy="1371474"/>
        </p:xfrm>
        <a:graphic>
          <a:graphicData uri="http://schemas.openxmlformats.org/drawingml/2006/table">
            <a:tbl>
              <a:tblPr/>
              <a:tblGrid>
                <a:gridCol w="6991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04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94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94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94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783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794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9617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j</a:t>
                      </a:r>
                    </a:p>
                  </a:txBody>
                  <a:tcPr marT="45699" marB="4569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T="45699" marB="4569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T="45699" marB="456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T="45699" marB="456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</a:t>
                      </a:r>
                    </a:p>
                  </a:txBody>
                  <a:tcPr marT="45699" marB="456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4</a:t>
                      </a:r>
                    </a:p>
                  </a:txBody>
                  <a:tcPr marT="45699" marB="456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5</a:t>
                      </a:r>
                    </a:p>
                  </a:txBody>
                  <a:tcPr marT="45699" marB="456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17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P</a:t>
                      </a: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[</a:t>
                      </a:r>
                      <a:r>
                        <a:rPr kumimoji="0" 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j</a:t>
                      </a: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]</a:t>
                      </a:r>
                    </a:p>
                  </a:txBody>
                  <a:tcPr marT="45699" marB="4569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</a:t>
                      </a:r>
                    </a:p>
                  </a:txBody>
                  <a:tcPr marT="45699" marB="4569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b</a:t>
                      </a:r>
                    </a:p>
                  </a:txBody>
                  <a:tcPr marT="45699" marB="456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</a:t>
                      </a:r>
                    </a:p>
                  </a:txBody>
                  <a:tcPr marT="45699" marB="456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</a:t>
                      </a:r>
                    </a:p>
                  </a:txBody>
                  <a:tcPr marT="45699" marB="456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b</a:t>
                      </a:r>
                    </a:p>
                  </a:txBody>
                  <a:tcPr marT="45699" marB="456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</a:t>
                      </a:r>
                    </a:p>
                  </a:txBody>
                  <a:tcPr marT="45699" marB="456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68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F</a:t>
                      </a: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(</a:t>
                      </a:r>
                      <a:r>
                        <a:rPr kumimoji="0" lang="en-US" sz="24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j</a:t>
                      </a: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)</a:t>
                      </a:r>
                    </a:p>
                  </a:txBody>
                  <a:tcPr marT="45699" marB="4569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T="45699" marB="4569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T="45699" marB="456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T="45699" marB="456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T="45699" marB="456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marT="45699" marB="456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</a:t>
                      </a:r>
                    </a:p>
                  </a:txBody>
                  <a:tcPr marT="45699" marB="4569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5" name="Object 1062">
            <a:extLst>
              <a:ext uri="{FF2B5EF4-FFF2-40B4-BE49-F238E27FC236}">
                <a16:creationId xmlns:a16="http://schemas.microsoft.com/office/drawing/2014/main" id="{485D2021-FE86-52C2-BCB1-317C4290631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98804590"/>
              </p:ext>
            </p:extLst>
          </p:nvPr>
        </p:nvGraphicFramePr>
        <p:xfrm>
          <a:off x="5440680" y="2194560"/>
          <a:ext cx="4648200" cy="351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3111500" imgH="2362200" progId="Visio.Drawing.6">
                  <p:embed/>
                </p:oleObj>
              </mc:Choice>
              <mc:Fallback>
                <p:oleObj name="VISIO" r:id="rId2" imgW="3111500" imgH="2362200" progId="Visio.Drawing.6">
                  <p:embed/>
                  <p:pic>
                    <p:nvPicPr>
                      <p:cNvPr id="5" name="Object 106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40680" y="2194560"/>
                        <a:ext cx="4648200" cy="3517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481265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1081</TotalTime>
  <Words>1358</Words>
  <Application>Microsoft Macintosh PowerPoint</Application>
  <PresentationFormat>Widescreen</PresentationFormat>
  <Paragraphs>194</Paragraphs>
  <Slides>31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44" baseType="lpstr">
      <vt:lpstr>Aptos</vt:lpstr>
      <vt:lpstr>Aptos Display</vt:lpstr>
      <vt:lpstr>Arial</vt:lpstr>
      <vt:lpstr>Calibri</vt:lpstr>
      <vt:lpstr>Cambria Math</vt:lpstr>
      <vt:lpstr>Consolas</vt:lpstr>
      <vt:lpstr>KaTeX_Main</vt:lpstr>
      <vt:lpstr>KaTeX_Math</vt:lpstr>
      <vt:lpstr>Söhne</vt:lpstr>
      <vt:lpstr>Times New Roman</vt:lpstr>
      <vt:lpstr>Wingdings</vt:lpstr>
      <vt:lpstr>Office Theme</vt:lpstr>
      <vt:lpstr>VISIO</vt:lpstr>
      <vt:lpstr>PowerPoint Presentation</vt:lpstr>
      <vt:lpstr>Algorithmic Methods</vt:lpstr>
      <vt:lpstr>What is a subproblem?</vt:lpstr>
      <vt:lpstr>PowerPoint Presentation</vt:lpstr>
      <vt:lpstr>PowerPoint Presentation</vt:lpstr>
      <vt:lpstr>Dynamic Programming</vt:lpstr>
      <vt:lpstr>Dynamic Programming</vt:lpstr>
      <vt:lpstr>Fibonacci</vt:lpstr>
      <vt:lpstr>Fibonacci</vt:lpstr>
      <vt:lpstr>Gold Mine</vt:lpstr>
      <vt:lpstr>Skipping Problem</vt:lpstr>
      <vt:lpstr>PowerPoint Presentation</vt:lpstr>
      <vt:lpstr>PowerPoint Presentation</vt:lpstr>
      <vt:lpstr>Greedy Algorithms</vt:lpstr>
      <vt:lpstr>Greedy Algorithms</vt:lpstr>
      <vt:lpstr>PowerPoint Presentation</vt:lpstr>
      <vt:lpstr>0/1 Knapsack Problem</vt:lpstr>
      <vt:lpstr>0/1 Knapsack Problem</vt:lpstr>
      <vt:lpstr>Fractional Knapsack Problem</vt:lpstr>
      <vt:lpstr>Fractional Knapsack Problem</vt:lpstr>
      <vt:lpstr>Fractional Knapsack</vt:lpstr>
      <vt:lpstr>PowerPoint Presentation</vt:lpstr>
      <vt:lpstr>Egyptian Fractions</vt:lpstr>
      <vt:lpstr>Egyptian Fractions</vt:lpstr>
      <vt:lpstr>PowerPoint Presentation</vt:lpstr>
      <vt:lpstr>PowerPoint Presentation</vt:lpstr>
      <vt:lpstr>Trie Complexity</vt:lpstr>
      <vt:lpstr>PowerPoint Presentation</vt:lpstr>
      <vt:lpstr>Pattern Matching</vt:lpstr>
      <vt:lpstr>Boyer-Moore Heuristics</vt:lpstr>
      <vt:lpstr>KMP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Algorithmic Methods</dc:title>
  <dc:creator>Pepels, Tom (DACS)</dc:creator>
  <cp:lastModifiedBy>Pepels, Tom (DACS)</cp:lastModifiedBy>
  <cp:revision>66</cp:revision>
  <dcterms:created xsi:type="dcterms:W3CDTF">2024-03-26T09:11:39Z</dcterms:created>
  <dcterms:modified xsi:type="dcterms:W3CDTF">2024-03-27T12:42:53Z</dcterms:modified>
</cp:coreProperties>
</file>